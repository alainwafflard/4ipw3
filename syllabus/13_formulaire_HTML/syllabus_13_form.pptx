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6" r:id="rId1"/>
  </p:sldMasterIdLst>
  <p:notesMasterIdLst>
    <p:notesMasterId r:id="rId30"/>
  </p:notesMasterIdLst>
  <p:sldIdLst>
    <p:sldId id="416" r:id="rId2"/>
    <p:sldId id="417" r:id="rId3"/>
    <p:sldId id="352" r:id="rId4"/>
    <p:sldId id="606" r:id="rId5"/>
    <p:sldId id="647" r:id="rId6"/>
    <p:sldId id="646" r:id="rId7"/>
    <p:sldId id="353" r:id="rId8"/>
    <p:sldId id="354" r:id="rId9"/>
    <p:sldId id="355" r:id="rId10"/>
    <p:sldId id="356" r:id="rId11"/>
    <p:sldId id="605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644" r:id="rId20"/>
    <p:sldId id="364" r:id="rId21"/>
    <p:sldId id="643" r:id="rId22"/>
    <p:sldId id="365" r:id="rId23"/>
    <p:sldId id="366" r:id="rId24"/>
    <p:sldId id="367" r:id="rId25"/>
    <p:sldId id="517" r:id="rId26"/>
    <p:sldId id="638" r:id="rId27"/>
    <p:sldId id="448" r:id="rId28"/>
    <p:sldId id="645" r:id="rId29"/>
  </p:sldIdLst>
  <p:sldSz cx="12192000" cy="6858000"/>
  <p:notesSz cx="6858000" cy="9144000"/>
  <p:custShowLst>
    <p:custShow name="cefora powerpoint base" id="0">
      <p:sldLst/>
    </p:custShow>
  </p:custShow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3. HTML Form" id="{08DFCFE3-79D6-440F-BB58-C288840FDF0A}">
          <p14:sldIdLst>
            <p14:sldId id="416"/>
            <p14:sldId id="417"/>
            <p14:sldId id="352"/>
            <p14:sldId id="606"/>
            <p14:sldId id="647"/>
            <p14:sldId id="646"/>
            <p14:sldId id="353"/>
            <p14:sldId id="354"/>
            <p14:sldId id="355"/>
            <p14:sldId id="356"/>
            <p14:sldId id="605"/>
            <p14:sldId id="357"/>
            <p14:sldId id="358"/>
            <p14:sldId id="359"/>
            <p14:sldId id="360"/>
            <p14:sldId id="361"/>
            <p14:sldId id="362"/>
            <p14:sldId id="363"/>
            <p14:sldId id="644"/>
            <p14:sldId id="364"/>
            <p14:sldId id="643"/>
            <p14:sldId id="365"/>
            <p14:sldId id="366"/>
            <p14:sldId id="367"/>
            <p14:sldId id="517"/>
            <p14:sldId id="638"/>
            <p14:sldId id="448"/>
            <p14:sldId id="6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ain Wafflard" initials="AW" lastIdx="1" clrIdx="0">
    <p:extLst>
      <p:ext uri="{19B8F6BF-5375-455C-9EA6-DF929625EA0E}">
        <p15:presenceInfo xmlns:p15="http://schemas.microsoft.com/office/powerpoint/2012/main" userId="76bb5ce92a207b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FF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4" autoAdjust="0"/>
    <p:restoredTop sz="86419" autoAdjust="0"/>
  </p:normalViewPr>
  <p:slideViewPr>
    <p:cSldViewPr snapToGrid="0">
      <p:cViewPr varScale="1">
        <p:scale>
          <a:sx n="86" d="100"/>
          <a:sy n="86" d="100"/>
        </p:scale>
        <p:origin x="1482" y="3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742F-4DAE-47F5-9244-6ACC3985DD6B}" type="datetimeFigureOut">
              <a:rPr lang="fr-BE" smtClean="0"/>
              <a:t>24-11-25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842A0-1A3F-4998-8237-CE5EEE5DFDF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60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5268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ae4b1ffd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ae4b1ffd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0299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ae4b1ffd_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ae4b1ffd_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1530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ae4b1ffd_0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ae4b1ffd_0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2198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af1ccaf6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af1ccaf6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6851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ae4b1ffd_0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ae4b1ffd_0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4894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ae4b1ffd_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ae4b1ffd_0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6761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ae4b1ffd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ae4b1ffd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4590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ae4b1ffd_0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ae4b1ffd_0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38031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af1ccaf6_0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af1ccaf6_0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0451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ae4b1ffd_0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ae4b1ffd_0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11652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b4200d84_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b4200d84_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0067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b4200d84_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b4200d84_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69916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7b4200d84_0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7b4200d84_0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16445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af1ccaf6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af1ccaf6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38781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af1ccaf6_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af1ccaf6_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43681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7b4200d84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7b4200d84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60077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28d8db6e_0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28d8db6e_0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1471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24-11-25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4191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24-11-25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85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24-11-25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91803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24-11-25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6178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24-11-25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2784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24-11-25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29700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24-11-25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70867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14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24-11-25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9974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7641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574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7118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515" y="5719725"/>
            <a:ext cx="1046571" cy="914479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24-11-25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1F1469A2-7ED3-9A0C-A999-D137C58477D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515" y="5719725"/>
            <a:ext cx="1046571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7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53" r:id="rId10"/>
    <p:sldLayoutId id="2147483852" r:id="rId11"/>
    <p:sldLayoutId id="2147483866" r:id="rId12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i.i.com.com/cnwk.1d/i/tim/2011/01/18/HTML5_Logo_550px_270x270.p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.i.com.com/cnwk.1d/i/tim/2011/01/18/HTML5_Logo_550px_270x270.png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ddit.com/r/learnprogramming/comments/12ikg84/mpa_vs_spa_are_we_overcomplicating_web_development/?tl=fr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.i.com.com/cnwk.1d/i/tim/2011/01/18/HTML5_Logo_550px_270x270.png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.i.com.com/cnwk.1d/i/tim/2011/01/18/HTML5_Logo_550px_270x270.png" TargetMode="Externa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105275" y="2501107"/>
            <a:ext cx="3709587" cy="3684588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>
                <a:solidFill>
                  <a:schemeClr val="accent2"/>
                </a:solidFill>
              </a:rPr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indent="0">
              <a:buNone/>
            </a:pPr>
            <a:r>
              <a:rPr lang="fr-BE" sz="2400"/>
              <a:t>27. Requête asynchrone</a:t>
            </a:r>
          </a:p>
          <a:p>
            <a:pPr marL="114300" indent="0">
              <a:buNone/>
            </a:pPr>
            <a:endParaRPr lang="fr-BE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13. Formulaires HTML</a:t>
            </a:r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/>
        <p:txBody>
          <a:bodyPr numCol="3">
            <a:normAutofit/>
          </a:bodyPr>
          <a:lstStyle/>
          <a:p>
            <a:r>
              <a:rPr lang="fr-BE">
                <a:sym typeface="Calibri"/>
              </a:rPr>
              <a:t>Objectif</a:t>
            </a:r>
          </a:p>
          <a:p>
            <a:r>
              <a:rPr lang="fr-BE">
                <a:sym typeface="Calibri"/>
              </a:rPr>
              <a:t>Transit des données</a:t>
            </a:r>
          </a:p>
          <a:p>
            <a:r>
              <a:rPr lang="fr-BE">
                <a:sym typeface="Calibri"/>
              </a:rPr>
              <a:t>La balise FORM</a:t>
            </a:r>
          </a:p>
          <a:p>
            <a:r>
              <a:rPr lang="fr-BE">
                <a:sym typeface="Calibri"/>
              </a:rPr>
              <a:t>La balise INPUT</a:t>
            </a:r>
          </a:p>
          <a:p>
            <a:r>
              <a:rPr lang="fr-BE">
                <a:sym typeface="Calibri"/>
              </a:rPr>
              <a:t>La balise BUTTON</a:t>
            </a:r>
          </a:p>
          <a:p>
            <a:r>
              <a:rPr lang="fr-BE">
                <a:sym typeface="Calibri"/>
              </a:rPr>
              <a:t>Les autres balises</a:t>
            </a:r>
          </a:p>
        </p:txBody>
      </p:sp>
      <p:pic>
        <p:nvPicPr>
          <p:cNvPr id="6" name="Google Shape;39;p8">
            <a:hlinkClick r:id="rId3"/>
            <a:extLst>
              <a:ext uri="{FF2B5EF4-FFF2-40B4-BE49-F238E27FC236}">
                <a16:creationId xmlns:a16="http://schemas.microsoft.com/office/drawing/2014/main" id="{5AC1D731-CC06-4BCD-912B-7D8C2F6874F7}"/>
              </a:ext>
            </a:extLst>
          </p:cNvPr>
          <p:cNvPicPr preferRelativeResize="0">
            <a:picLocks noGrp="1"/>
          </p:cNvPicPr>
          <p:nvPr>
            <p:ph type="pic" sz="quarter" idx="4294967295"/>
          </p:nvPr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>
            <a:fillRect/>
          </a:stretch>
        </p:blipFill>
        <p:spPr>
          <a:xfrm>
            <a:off x="10031413" y="720725"/>
            <a:ext cx="2160587" cy="2159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8764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BC2345B-F403-44E5-97C3-F5BDF024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Transit des données</a:t>
            </a:r>
            <a:endParaRPr lang="fr-BE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239EF36-E324-CDA2-D6FB-169A237EB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6" name="Google Shape;39;p8">
            <a:hlinkClick r:id="rId2"/>
            <a:extLst>
              <a:ext uri="{FF2B5EF4-FFF2-40B4-BE49-F238E27FC236}">
                <a16:creationId xmlns:a16="http://schemas.microsoft.com/office/drawing/2014/main" id="{F73F5139-A5C5-497C-AE5C-231EBB7AE61F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54A5A39-B674-EF53-040B-C0C074F19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Single Page App. vs Multiple Page App.</a:t>
            </a:r>
          </a:p>
        </p:txBody>
      </p:sp>
      <p:pic>
        <p:nvPicPr>
          <p:cNvPr id="1026" name="Picture 2" descr="SPA vs MPA user experience comparison - SPA is only updating the relevant parts of the page">
            <a:extLst>
              <a:ext uri="{FF2B5EF4-FFF2-40B4-BE49-F238E27FC236}">
                <a16:creationId xmlns:a16="http://schemas.microsoft.com/office/drawing/2014/main" id="{8E2AACD6-13DF-EC45-3257-A94F0D9BEA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clrChange>
              <a:clrFrom>
                <a:srgbClr val="DFF0F0"/>
              </a:clrFrom>
              <a:clrTo>
                <a:srgbClr val="DF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4593" y="1690688"/>
            <a:ext cx="6345509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63729AB-B542-54F9-0CA0-C38CE94C7DEA}"/>
              </a:ext>
            </a:extLst>
          </p:cNvPr>
          <p:cNvSpPr txBox="1"/>
          <p:nvPr/>
        </p:nvSpPr>
        <p:spPr>
          <a:xfrm>
            <a:off x="9565858" y="2235175"/>
            <a:ext cx="1622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&lt;form&gt;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CD49B6-9686-BA3C-E252-B090D501E3ED}"/>
              </a:ext>
            </a:extLst>
          </p:cNvPr>
          <p:cNvSpPr txBox="1"/>
          <p:nvPr/>
        </p:nvSpPr>
        <p:spPr>
          <a:xfrm>
            <a:off x="431988" y="3710805"/>
            <a:ext cx="19376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strike="sngStrik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$.ajax()</a:t>
            </a:r>
            <a:b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fetch()</a:t>
            </a:r>
          </a:p>
          <a:p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760C94B-9822-6519-593A-334C3BAA6F05}"/>
              </a:ext>
            </a:extLst>
          </p:cNvPr>
          <p:cNvSpPr txBox="1"/>
          <p:nvPr/>
        </p:nvSpPr>
        <p:spPr>
          <a:xfrm>
            <a:off x="256478" y="4661212"/>
            <a:ext cx="42263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>
                <a:solidFill>
                  <a:schemeClr val="accent2"/>
                </a:solidFill>
              </a:rPr>
              <a:t>SPA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une seule page HTML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seules les parties pertinentes sont modifiées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F449FF9-E953-FDDA-36C8-90AF0FF5ED65}"/>
              </a:ext>
            </a:extLst>
          </p:cNvPr>
          <p:cNvSpPr txBox="1"/>
          <p:nvPr/>
        </p:nvSpPr>
        <p:spPr>
          <a:xfrm>
            <a:off x="8688893" y="2771520"/>
            <a:ext cx="33767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>
                <a:solidFill>
                  <a:schemeClr val="accent2"/>
                </a:solidFill>
              </a:rPr>
              <a:t>MPA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plusieurs pages HTML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page entièrement rechargée</a:t>
            </a:r>
          </a:p>
        </p:txBody>
      </p:sp>
    </p:spTree>
    <p:extLst>
      <p:ext uri="{BB962C8B-B14F-4D97-AF65-F5344CB8AC3E}">
        <p14:creationId xmlns:p14="http://schemas.microsoft.com/office/powerpoint/2010/main" val="64263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60567DB5-40A3-D689-2A49-2F35E1661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MPA vs SPA, use cases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37A0327-C066-39FA-3EB7-0985D48AF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BE" sz="3200">
                <a:solidFill>
                  <a:schemeClr val="accent2"/>
                </a:solidFill>
              </a:rPr>
              <a:t>MPA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A1F8FF8-6C56-04E4-42D5-78D0BA8E41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BE"/>
              <a:t>app statique</a:t>
            </a:r>
          </a:p>
          <a:p>
            <a:r>
              <a:rPr lang="fr-BE"/>
              <a:t>services B2B</a:t>
            </a:r>
          </a:p>
          <a:p>
            <a:r>
              <a:rPr lang="fr-BE"/>
              <a:t>e-commerce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C14CB71-9959-51E0-732D-43C5077BED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fr-BE" sz="3200">
                <a:solidFill>
                  <a:schemeClr val="accent2"/>
                </a:solidFill>
              </a:rPr>
              <a:t>SPA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EB175BB3-32CE-C415-3536-9E3113A203F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fr-BE"/>
              <a:t>app dynamique</a:t>
            </a:r>
          </a:p>
          <a:p>
            <a:r>
              <a:rPr lang="fr-BE"/>
              <a:t>social networks</a:t>
            </a:r>
          </a:p>
          <a:p>
            <a:r>
              <a:rPr lang="fr-BE"/>
              <a:t>streaming services</a:t>
            </a:r>
          </a:p>
          <a:p>
            <a:r>
              <a:rPr lang="fr-BE"/>
              <a:t>real-time location services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2506C64-A250-8371-EEAC-00B2AADD7EEE}"/>
              </a:ext>
            </a:extLst>
          </p:cNvPr>
          <p:cNvSpPr txBox="1"/>
          <p:nvPr/>
        </p:nvSpPr>
        <p:spPr>
          <a:xfrm>
            <a:off x="4626692" y="5666443"/>
            <a:ext cx="3802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>
                <a:hlinkClick r:id="rId2"/>
              </a:rPr>
              <a:t>discussion sur Reddit </a:t>
            </a:r>
            <a:endParaRPr lang="fr-BE" sz="2800"/>
          </a:p>
        </p:txBody>
      </p:sp>
    </p:spTree>
    <p:extLst>
      <p:ext uri="{BB962C8B-B14F-4D97-AF65-F5344CB8AC3E}">
        <p14:creationId xmlns:p14="http://schemas.microsoft.com/office/powerpoint/2010/main" val="2145867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Objectifs des formulaires</a:t>
            </a:r>
          </a:p>
        </p:txBody>
      </p:sp>
      <p:sp>
        <p:nvSpPr>
          <p:cNvPr id="45" name="Google Shape;45;p9"/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>
                <a:sym typeface="Courier New"/>
              </a:rPr>
              <a:t>Approche MPA </a:t>
            </a:r>
          </a:p>
          <a:p>
            <a:pPr lvl="1"/>
            <a:r>
              <a:rPr lang="fr-BE">
                <a:sym typeface="Calibri"/>
              </a:rPr>
              <a:t>création d'un formulaire via la balise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&lt;form&gt;</a:t>
            </a:r>
          </a:p>
          <a:p>
            <a:r>
              <a:rPr lang="fr-BE">
                <a:sym typeface="Courier New"/>
              </a:rPr>
              <a:t>Approche SPA</a:t>
            </a:r>
          </a:p>
          <a:p>
            <a:pPr lvl="1"/>
            <a:r>
              <a:rPr lang="fr-BE">
                <a:sym typeface="Calibri"/>
              </a:rPr>
              <a:t>création d'un formulaire muni de requêtes AJAX</a:t>
            </a:r>
            <a:endParaRPr lang="fr-BE">
              <a:sym typeface="Courier New"/>
            </a:endParaRPr>
          </a:p>
          <a:p>
            <a:r>
              <a:rPr lang="fr-BE">
                <a:sym typeface="Calibri"/>
              </a:rPr>
              <a:t>Les formulaires sont utilisés pour récolter des informations des utilisateurs.</a:t>
            </a:r>
          </a:p>
          <a:p>
            <a:r>
              <a:rPr lang="fr-BE">
                <a:sym typeface="Calibri"/>
              </a:rPr>
              <a:t>Deux problèmes:</a:t>
            </a:r>
          </a:p>
          <a:p>
            <a:pPr lvl="1"/>
            <a:r>
              <a:rPr lang="fr-BE">
                <a:sym typeface="Calibri"/>
              </a:rPr>
              <a:t>Comment envoyer les données au serveur ?</a:t>
            </a:r>
          </a:p>
          <a:p>
            <a:pPr lvl="1"/>
            <a:r>
              <a:rPr lang="fr-BE">
                <a:sym typeface="Calibri"/>
              </a:rPr>
              <a:t>Comment le serveur traite-t-il les données reçues?</a:t>
            </a:r>
          </a:p>
        </p:txBody>
      </p:sp>
    </p:spTree>
    <p:extLst>
      <p:ext uri="{BB962C8B-B14F-4D97-AF65-F5344CB8AC3E}">
        <p14:creationId xmlns:p14="http://schemas.microsoft.com/office/powerpoint/2010/main" val="281717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Comment faire transiter les données?</a:t>
            </a:r>
          </a:p>
        </p:txBody>
      </p:sp>
      <p:sp>
        <p:nvSpPr>
          <p:cNvPr id="51" name="Google Shape;51;p10"/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>
                <a:sym typeface="Calibri"/>
              </a:rPr>
              <a:t>Deux méthodes :</a:t>
            </a:r>
          </a:p>
          <a:p>
            <a:pPr lvl="1"/>
            <a:r>
              <a:rPr lang="fr-BE">
                <a:solidFill>
                  <a:schemeClr val="accent2"/>
                </a:solidFill>
                <a:sym typeface="Calibri"/>
              </a:rPr>
              <a:t>GET</a:t>
            </a:r>
            <a:r>
              <a:rPr lang="fr-BE">
                <a:sym typeface="Calibri"/>
              </a:rPr>
              <a:t>: envoie les données dans l'URL de la page</a:t>
            </a:r>
          </a:p>
          <a:p>
            <a:pPr lvl="2"/>
            <a:r>
              <a:rPr lang="fr-BE">
                <a:sym typeface="Courier New"/>
              </a:rPr>
              <a:t>https://www.google.com/search ? </a:t>
            </a:r>
            <a:r>
              <a:rPr lang="fr-BE">
                <a:solidFill>
                  <a:schemeClr val="accent2"/>
                </a:solidFill>
                <a:sym typeface="Courier New"/>
              </a:rPr>
              <a:t>q=</a:t>
            </a:r>
            <a:r>
              <a:rPr lang="fr-BE" err="1">
                <a:solidFill>
                  <a:schemeClr val="accent2"/>
                </a:solidFill>
                <a:sym typeface="Courier New"/>
              </a:rPr>
              <a:t>developpement+photo</a:t>
            </a:r>
            <a:endParaRPr lang="fr-BE">
              <a:solidFill>
                <a:schemeClr val="accent2"/>
              </a:solidFill>
              <a:sym typeface="Courier New"/>
            </a:endParaRPr>
          </a:p>
          <a:p>
            <a:pPr lvl="2"/>
            <a:r>
              <a:rPr lang="fr-BE">
                <a:sym typeface="Calibri"/>
              </a:rPr>
              <a:t>Limité à 255 caractères</a:t>
            </a:r>
          </a:p>
          <a:p>
            <a:pPr lvl="2"/>
            <a:r>
              <a:rPr lang="fr-BE">
                <a:sym typeface="Calibri"/>
              </a:rPr>
              <a:t>Paramètres visibles</a:t>
            </a:r>
          </a:p>
          <a:p>
            <a:pPr lvl="1"/>
            <a:r>
              <a:rPr lang="fr-BE">
                <a:solidFill>
                  <a:schemeClr val="accent2"/>
                </a:solidFill>
                <a:sym typeface="Calibri"/>
              </a:rPr>
              <a:t>POST</a:t>
            </a:r>
            <a:r>
              <a:rPr lang="fr-BE">
                <a:sym typeface="Calibri"/>
              </a:rPr>
              <a:t>: envoie les données via la requête HTTP</a:t>
            </a:r>
          </a:p>
          <a:p>
            <a:pPr lvl="2"/>
            <a:r>
              <a:rPr lang="fr-BE">
                <a:sym typeface="Calibri"/>
              </a:rPr>
              <a:t>Permet de faire transiter un plus gros nombre de caractères</a:t>
            </a:r>
          </a:p>
          <a:p>
            <a:pPr lvl="2"/>
            <a:r>
              <a:rPr lang="fr-BE">
                <a:sym typeface="Calibri"/>
              </a:rPr>
              <a:t>Paramètres invisibles</a:t>
            </a:r>
          </a:p>
          <a:p>
            <a:r>
              <a:rPr lang="fr-BE">
                <a:sym typeface="Calibri"/>
              </a:rPr>
              <a:t>Défini avec l'attribut "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method</a:t>
            </a:r>
            <a:r>
              <a:rPr lang="fr-BE">
                <a:sym typeface="Courier New"/>
              </a:rPr>
              <a:t>"</a:t>
            </a:r>
            <a:r>
              <a:rPr lang="fr-BE">
                <a:sym typeface="Calibri"/>
              </a:rPr>
              <a:t> de la balise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&lt;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form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&gt;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&lt;</a:t>
            </a:r>
            <a:r>
              <a:rPr lang="fr-BE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form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fr-BE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method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="</a:t>
            </a:r>
            <a:r>
              <a:rPr lang="fr-BE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get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" …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&lt;</a:t>
            </a:r>
            <a:r>
              <a:rPr lang="fr-BE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form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 </a:t>
            </a:r>
            <a:r>
              <a:rPr lang="fr-BE" sz="2800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method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="post" …</a:t>
            </a:r>
          </a:p>
        </p:txBody>
      </p:sp>
    </p:spTree>
    <p:extLst>
      <p:ext uri="{BB962C8B-B14F-4D97-AF65-F5344CB8AC3E}">
        <p14:creationId xmlns:p14="http://schemas.microsoft.com/office/powerpoint/2010/main" val="1761849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Comment traiter les données?</a:t>
            </a:r>
          </a:p>
        </p:txBody>
      </p:sp>
      <p:sp>
        <p:nvSpPr>
          <p:cNvPr id="57" name="Google Shape;57;p11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Il faut envoyer la requête contenant les données du formulaire (via GET ou POST) à un </a:t>
            </a:r>
            <a:r>
              <a:rPr lang="fr-BE">
                <a:solidFill>
                  <a:schemeClr val="accent2"/>
                </a:solidFill>
                <a:sym typeface="Calibri"/>
              </a:rPr>
              <a:t>script</a:t>
            </a:r>
            <a:r>
              <a:rPr lang="fr-BE">
                <a:sym typeface="Calibri"/>
              </a:rPr>
              <a:t> qui pourra les traiter (ex. page contenant du PHP)</a:t>
            </a:r>
          </a:p>
          <a:p>
            <a:r>
              <a:rPr lang="fr-BE">
                <a:sym typeface="Calibri"/>
              </a:rPr>
              <a:t>Défini avec l'attribut </a:t>
            </a:r>
            <a:r>
              <a:rPr lang="fr-BE">
                <a:sym typeface="Courier New"/>
              </a:rPr>
              <a:t>action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alibri"/>
              </a:rPr>
              <a:t>&lt;form 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method="get" action="./register.php" …</a:t>
            </a:r>
          </a:p>
        </p:txBody>
      </p:sp>
    </p:spTree>
    <p:extLst>
      <p:ext uri="{BB962C8B-B14F-4D97-AF65-F5344CB8AC3E}">
        <p14:creationId xmlns:p14="http://schemas.microsoft.com/office/powerpoint/2010/main" val="165481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Exemple de formulaire</a:t>
            </a:r>
          </a:p>
        </p:txBody>
      </p:sp>
      <p:sp>
        <p:nvSpPr>
          <p:cNvPr id="63" name="Google Shape;63;p12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Déclaration d'un formulaire</a:t>
            </a:r>
          </a:p>
          <a:p>
            <a:endParaRPr lang="fr-BE">
              <a:sym typeface="Courier New"/>
            </a:endParaRPr>
          </a:p>
          <a:p>
            <a:pPr marL="0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&lt;form method="get" action="./register.php"&gt;</a:t>
            </a:r>
          </a:p>
          <a:p>
            <a:pPr marL="0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	...</a:t>
            </a:r>
          </a:p>
          <a:p>
            <a:pPr marL="0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&lt;/form&gt;</a:t>
            </a:r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7361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BC2345B-F403-44E5-97C3-F5BDF024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Balises HTML</a:t>
            </a:r>
            <a:endParaRPr lang="fr-BE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76AB62D-B7ED-86E3-C02B-C78234778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6" name="Google Shape;39;p8">
            <a:hlinkClick r:id="rId2"/>
            <a:extLst>
              <a:ext uri="{FF2B5EF4-FFF2-40B4-BE49-F238E27FC236}">
                <a16:creationId xmlns:a16="http://schemas.microsoft.com/office/drawing/2014/main" id="{F73F5139-A5C5-497C-AE5C-231EBB7AE61F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540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La balise &lt;input&gt;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>
                <a:sym typeface="Calibri"/>
              </a:rPr>
              <a:t>L'élément le plus populaire d'un formulaire est la balise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&lt;input&gt;</a:t>
            </a:r>
            <a:r>
              <a:rPr lang="fr-BE">
                <a:sym typeface="Courier New"/>
              </a:rPr>
              <a:t>.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&lt;input&gt;</a:t>
            </a:r>
            <a:r>
              <a:rPr lang="fr-BE">
                <a:sym typeface="Calibri"/>
              </a:rPr>
              <a:t> est utilisé pour recueillir l'information de l'utilisateur.</a:t>
            </a:r>
          </a:p>
          <a:p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&lt;input&gt;</a:t>
            </a:r>
            <a:r>
              <a:rPr lang="fr-BE">
                <a:sym typeface="Calibri"/>
              </a:rPr>
              <a:t> peut être utilisé de nombreuses manières différentes en fonction de la valeur de son attribut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type</a:t>
            </a:r>
            <a:r>
              <a:rPr lang="fr-BE">
                <a:sym typeface="Courier New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1433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La balise &lt;input&gt;</a:t>
            </a:r>
          </a:p>
        </p:txBody>
      </p:sp>
      <p:sp>
        <p:nvSpPr>
          <p:cNvPr id="75" name="Google Shape;75;p14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1353800" cy="4351339"/>
          </a:xfrm>
        </p:spPr>
        <p:txBody>
          <a:bodyPr>
            <a:normAutofit/>
          </a:bodyPr>
          <a:lstStyle/>
          <a:p>
            <a:r>
              <a:rPr lang="fr-BE">
                <a:sym typeface="Calibri"/>
              </a:rPr>
              <a:t>Champs de texte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 type="text" name="prenom"&gt;</a:t>
            </a:r>
          </a:p>
          <a:p>
            <a:r>
              <a:rPr lang="fr-BE">
                <a:sym typeface="Calibri"/>
              </a:rPr>
              <a:t>Mot de passe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 type="password" name="pwd"&gt;</a:t>
            </a:r>
          </a:p>
          <a:p>
            <a:r>
              <a:rPr lang="fr-BE">
                <a:sym typeface="Calibri"/>
              </a:rPr>
              <a:t>Bouton radio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 type="radio"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name="sexe" 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value="m"&gt;Homme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 type="radio"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name="sexe" 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value="f"&gt;Femme</a:t>
            </a:r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7613" y="1605677"/>
            <a:ext cx="5225811" cy="643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0280" y="5489612"/>
            <a:ext cx="1621475" cy="9073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5912676" y="5477144"/>
            <a:ext cx="5734378" cy="907299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ln w="0"/>
                <a:solidFill>
                  <a:schemeClr val="accent2"/>
                </a:solidFill>
                <a:effectLst/>
              </a:rPr>
              <a:t>ATTENTION : La valeur de "name" doit être la même pour tous les boutons.</a:t>
            </a:r>
            <a:endParaRPr>
              <a:ln w="0"/>
              <a:solidFill>
                <a:schemeClr val="accent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0615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La balise &lt;input&gt;</a:t>
            </a:r>
          </a:p>
        </p:txBody>
      </p:sp>
      <p:sp>
        <p:nvSpPr>
          <p:cNvPr id="84" name="Google Shape;84;p15"/>
          <p:cNvSpPr txBox="1">
            <a:spLocks noGrp="1"/>
          </p:cNvSpPr>
          <p:nvPr>
            <p:ph idx="1"/>
          </p:nvPr>
        </p:nvSpPr>
        <p:spPr>
          <a:xfrm>
            <a:off x="838199" y="1825625"/>
            <a:ext cx="11279909" cy="4351339"/>
          </a:xfrm>
        </p:spPr>
        <p:txBody>
          <a:bodyPr>
            <a:normAutofit/>
          </a:bodyPr>
          <a:lstStyle/>
          <a:p>
            <a:r>
              <a:rPr lang="fr-BE">
                <a:sym typeface="Calibri"/>
              </a:rPr>
              <a:t>Checkbox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type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="checkbox" 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name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="type_musique[]" 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="pop"&gt;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			Pop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 type="checkbox" 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name="type_musique[]"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value="rock"&gt;</a:t>
            </a:r>
            <a:b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			Rock</a:t>
            </a:r>
          </a:p>
          <a:p>
            <a:endParaRPr lang="fr-BE">
              <a:sym typeface="Courier New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2894" y="3010637"/>
            <a:ext cx="1624211" cy="1143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6067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5919" y="4762616"/>
            <a:ext cx="2903609" cy="180548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La balise &lt;select&gt;</a:t>
            </a:r>
          </a:p>
        </p:txBody>
      </p:sp>
      <p:sp>
        <p:nvSpPr>
          <p:cNvPr id="92" name="Google Shape;92;p16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1353800" cy="4351339"/>
          </a:xfrm>
        </p:spPr>
        <p:txBody>
          <a:bodyPr/>
          <a:lstStyle/>
          <a:p>
            <a:r>
              <a:rPr lang="fr-BE">
                <a:sym typeface="Calibri"/>
              </a:rPr>
              <a:t>Select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&lt;select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name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="voiture"&gt;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&lt;option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=""&gt;&lt;/option&gt;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&lt;option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="c"&gt;Chocolate&lt;/option&gt;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&lt;option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="s"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selected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&gt;Strawberry&lt;/option&gt;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&lt;option </a:t>
            </a:r>
            <a:r>
              <a:rPr lang="fr-BE" sz="2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</a:t>
            </a: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="v"&gt;Vanilla&lt;/option&gt;</a:t>
            </a:r>
          </a:p>
          <a:p>
            <a:pPr marL="457189" lvl="1" indent="0">
              <a:buNone/>
            </a:pPr>
            <a:r>
              <a:rPr lang="fr-BE" sz="28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&lt;/select&gt;</a:t>
            </a:r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5157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L'attribut “value” de la balise &lt;input&gt;</a:t>
            </a:r>
          </a:p>
        </p:txBody>
      </p:sp>
      <p:sp>
        <p:nvSpPr>
          <p:cNvPr id="98" name="Google Shape;98;p17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Lorsque le formulaire est envoyé, ce sont les valeurs des attributs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</a:t>
            </a:r>
            <a:r>
              <a:rPr lang="fr-BE">
                <a:sym typeface="Courier New"/>
              </a:rPr>
              <a:t> </a:t>
            </a:r>
            <a:r>
              <a:rPr lang="fr-BE"/>
              <a:t>qui sont envoyés au serveur, liées au nom de l'input (attribut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name</a:t>
            </a:r>
            <a:r>
              <a:rPr lang="fr-BE"/>
              <a:t>).</a:t>
            </a:r>
          </a:p>
          <a:p>
            <a:r>
              <a:rPr lang="fr-BE"/>
              <a:t>Ecrire dans un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input</a:t>
            </a:r>
            <a:r>
              <a:rPr lang="fr-BE">
                <a:sym typeface="Courier New"/>
              </a:rPr>
              <a:t> </a:t>
            </a:r>
            <a:r>
              <a:rPr lang="fr-BE"/>
              <a:t>de type texte modifie son attribut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value.</a:t>
            </a:r>
          </a:p>
        </p:txBody>
      </p:sp>
    </p:spTree>
    <p:extLst>
      <p:ext uri="{BB962C8B-B14F-4D97-AF65-F5344CB8AC3E}">
        <p14:creationId xmlns:p14="http://schemas.microsoft.com/office/powerpoint/2010/main" val="397746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La balise &lt;textarea&gt;</a:t>
            </a:r>
          </a:p>
        </p:txBody>
      </p:sp>
      <p:sp>
        <p:nvSpPr>
          <p:cNvPr id="104" name="Google Shape;104;p18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Zone de texte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</a:t>
            </a: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textarea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rows="10" cols="30"&gt;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	Ceci est un texte déjà inscrit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dans la zone de texte.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&lt;/textarea&gt;</a:t>
            </a:r>
          </a:p>
          <a:p>
            <a:endParaRPr lang="fr-B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51013"/>
          <a:stretch/>
        </p:blipFill>
        <p:spPr>
          <a:xfrm>
            <a:off x="2591623" y="4759741"/>
            <a:ext cx="6157696" cy="15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9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 balise &lt;label&gt;, 1</a:t>
            </a:r>
            <a:r>
              <a:rPr lang="fr-BE" baseline="30000"/>
              <a:t>ère</a:t>
            </a:r>
            <a:r>
              <a:rPr lang="fr-BE"/>
              <a:t> manière</a:t>
            </a:r>
          </a:p>
        </p:txBody>
      </p:sp>
      <p:sp>
        <p:nvSpPr>
          <p:cNvPr id="111" name="Google Shape;111;p19"/>
          <p:cNvSpPr txBox="1"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fontScale="92500" lnSpcReduction="20000"/>
          </a:bodyPr>
          <a:lstStyle/>
          <a:p>
            <a:r>
              <a:rPr lang="fr-BE">
                <a:sym typeface="Calibri"/>
              </a:rPr>
              <a:t>Cherchez son utilité ! 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&lt;label&gt;</a:t>
            </a:r>
            <a:b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Male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&lt;</a:t>
            </a:r>
            <a:r>
              <a:rPr lang="fr-BE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input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type="radio" 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 name="sex" 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 value="male" 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&lt;/label&gt;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&lt;label&gt;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Female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&lt;input type="radio" 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 name="sex"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 value="female"&gt;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&lt;/label&gt;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419" y="3335281"/>
            <a:ext cx="1986059" cy="112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92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 balise &lt;label&gt;, 2</a:t>
            </a:r>
            <a:r>
              <a:rPr lang="fr-BE" baseline="30000"/>
              <a:t>ème</a:t>
            </a:r>
            <a:r>
              <a:rPr lang="fr-BE"/>
              <a:t> manière</a:t>
            </a:r>
          </a:p>
        </p:txBody>
      </p:sp>
      <p:sp>
        <p:nvSpPr>
          <p:cNvPr id="111" name="Google Shape;111;p19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>
                <a:sym typeface="Calibri"/>
              </a:rPr>
              <a:t>Cherchez son utilité ! 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</a:t>
            </a: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label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for="male"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&gt;Male&lt;/label&gt;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</a:t>
            </a:r>
            <a:r>
              <a:rPr lang="fr-BE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input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type="radio" 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name="sex" 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</a:t>
            </a: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id="male"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value="male" 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&lt;label for="female"&gt;Female&lt;/label&gt;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 type="radio" name="sex"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     id="female" value="female"&gt;</a:t>
            </a:r>
          </a:p>
          <a:p>
            <a:endParaRPr lang="fr-BE">
              <a:sym typeface="Courier New"/>
            </a:endParaRPr>
          </a:p>
          <a:p>
            <a:endParaRPr lang="fr-BE">
              <a:sym typeface="Courier New"/>
            </a:endParaRPr>
          </a:p>
          <a:p>
            <a:endParaRPr lang="fr-BE">
              <a:sym typeface="Courier New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1659" y="3091441"/>
            <a:ext cx="1986059" cy="112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19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La balise &lt;datalist&gt;</a:t>
            </a:r>
          </a:p>
        </p:txBody>
      </p:sp>
      <p:sp>
        <p:nvSpPr>
          <p:cNvPr id="117" name="Google Shape;117;p20"/>
          <p:cNvSpPr txBox="1"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>
                <a:sym typeface="Calibri"/>
              </a:rPr>
              <a:t>Cherchez son utilité ! 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 </a:t>
            </a: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list="browsers"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</a:t>
            </a: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datalist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id="browsers"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&lt;option value="Internet Explorer"&gt;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&lt;option value="Firefox"&gt;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&lt;option value="Chrome"&gt;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&lt;option value="Opera"&gt;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 &lt;option value="Safari"&gt;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&lt;/datalist&gt;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247" y="3929639"/>
            <a:ext cx="3178251" cy="27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1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BC2345B-F403-44E5-97C3-F5BDF024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Balises HTML 5</a:t>
            </a:r>
            <a:endParaRPr lang="fr-BE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76AB62D-B7ED-86E3-C02B-C78234778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6" name="Google Shape;39;p8">
            <a:hlinkClick r:id="rId2"/>
            <a:extLst>
              <a:ext uri="{FF2B5EF4-FFF2-40B4-BE49-F238E27FC236}">
                <a16:creationId xmlns:a16="http://schemas.microsoft.com/office/drawing/2014/main" id="{F73F5139-A5C5-497C-AE5C-231EBB7AE61F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004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Input Types introduits en HTML5</a:t>
            </a:r>
          </a:p>
        </p:txBody>
      </p:sp>
      <p:sp>
        <p:nvSpPr>
          <p:cNvPr id="123" name="Google Shape;123;p21"/>
          <p:cNvSpPr txBox="1">
            <a:spLocks noGrp="1"/>
          </p:cNvSpPr>
          <p:nvPr>
            <p:ph sz="half" idx="1"/>
          </p:nvPr>
        </p:nvSpPr>
        <p:spPr/>
        <p:txBody>
          <a:bodyPr numCol="2">
            <a:normAutofit lnSpcReduction="10000"/>
          </a:bodyPr>
          <a:lstStyle/>
          <a:p>
            <a:r>
              <a:rPr lang="en-US"/>
              <a:t>color</a:t>
            </a:r>
          </a:p>
          <a:p>
            <a:r>
              <a:rPr lang="en-US"/>
              <a:t>date</a:t>
            </a:r>
          </a:p>
          <a:p>
            <a:r>
              <a:rPr lang="en-US"/>
              <a:t>datetime</a:t>
            </a:r>
          </a:p>
          <a:p>
            <a:r>
              <a:rPr lang="en-US"/>
              <a:t>datetime-local</a:t>
            </a:r>
          </a:p>
          <a:p>
            <a:r>
              <a:rPr lang="en-US"/>
              <a:t>email</a:t>
            </a:r>
          </a:p>
          <a:p>
            <a:r>
              <a:rPr lang="en-US"/>
              <a:t>month</a:t>
            </a:r>
          </a:p>
          <a:p>
            <a:r>
              <a:rPr lang="en-US"/>
              <a:t>number</a:t>
            </a:r>
          </a:p>
          <a:p>
            <a:r>
              <a:rPr lang="en-US"/>
              <a:t>range</a:t>
            </a:r>
          </a:p>
          <a:p>
            <a:r>
              <a:rPr lang="en-US"/>
              <a:t>search</a:t>
            </a:r>
          </a:p>
          <a:p>
            <a:r>
              <a:rPr lang="en-US"/>
              <a:t>tel (mobile)</a:t>
            </a:r>
          </a:p>
          <a:p>
            <a:r>
              <a:rPr lang="en-US"/>
              <a:t>time</a:t>
            </a:r>
          </a:p>
          <a:p>
            <a:r>
              <a:rPr lang="en-US"/>
              <a:t>url</a:t>
            </a:r>
          </a:p>
          <a:p>
            <a:r>
              <a:rPr lang="en-US"/>
              <a:t>week</a:t>
            </a:r>
            <a:endParaRPr lang="en-US">
              <a:sym typeface="Verdana"/>
            </a:endParaRPr>
          </a:p>
          <a:p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071250"/>
            <a:ext cx="5181600" cy="37251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02042" y="1533237"/>
            <a:ext cx="51219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&lt;input type="</a:t>
            </a:r>
            <a:r>
              <a:rPr lang="fr-BE" sz="32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</p:txBody>
      </p:sp>
    </p:spTree>
    <p:extLst>
      <p:ext uri="{BB962C8B-B14F-4D97-AF65-F5344CB8AC3E}">
        <p14:creationId xmlns:p14="http://schemas.microsoft.com/office/powerpoint/2010/main" val="262318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Attributs - HTML(5)</a:t>
            </a:r>
          </a:p>
        </p:txBody>
      </p:sp>
      <p:sp>
        <p:nvSpPr>
          <p:cNvPr id="129" name="Google Shape;129;p22"/>
          <p:cNvSpPr txBox="1"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fr-BE"/>
              <a:t>Quelques attributs utiles pour </a:t>
            </a:r>
            <a:r>
              <a:rPr lang="fr-BE" sz="32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&lt;input&gt; </a:t>
            </a:r>
            <a:r>
              <a:rPr lang="fr-BE"/>
              <a:t>:</a:t>
            </a:r>
            <a:endParaRPr lang="fr-BE" sz="3200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checked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/>
              <a:t>(</a:t>
            </a:r>
            <a:r>
              <a:rPr lang="fr-BE" err="1"/>
              <a:t>checkbox</a:t>
            </a:r>
            <a:r>
              <a:rPr lang="fr-BE"/>
              <a:t>, radio)</a:t>
            </a:r>
          </a:p>
          <a:p>
            <a:pPr lvl="1"/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disabled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lvl="1"/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height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/>
              <a:t>et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width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lvl="1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min </a:t>
            </a:r>
            <a:r>
              <a:rPr lang="fr-BE"/>
              <a:t>et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max </a:t>
            </a:r>
            <a:r>
              <a:rPr lang="fr-BE"/>
              <a:t>(nombre, date)</a:t>
            </a:r>
          </a:p>
          <a:p>
            <a:pPr lvl="1"/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maxlength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/>
              <a:t>(nombre caractère max.)</a:t>
            </a:r>
            <a:endParaRPr lang="fr-BE">
              <a:sym typeface="Courier New"/>
            </a:endParaRPr>
          </a:p>
          <a:p>
            <a:pPr lvl="1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multiple </a:t>
            </a:r>
            <a:r>
              <a:rPr lang="fr-BE"/>
              <a:t>(email, file)</a:t>
            </a:r>
          </a:p>
          <a:p>
            <a:pPr lvl="1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pattern </a:t>
            </a:r>
            <a:r>
              <a:rPr lang="fr-BE"/>
              <a:t>(</a:t>
            </a:r>
            <a:r>
              <a:rPr lang="fr-BE" err="1"/>
              <a:t>regexp</a:t>
            </a:r>
            <a:r>
              <a:rPr lang="fr-BE"/>
              <a:t>)</a:t>
            </a:r>
          </a:p>
          <a:p>
            <a:pPr lvl="1"/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placeholder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</a:t>
            </a:r>
            <a:r>
              <a:rPr lang="fr-BE"/>
              <a:t>(exemple d'input de l'élément)</a:t>
            </a:r>
          </a:p>
          <a:p>
            <a:pPr lvl="1"/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required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lvl="1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284133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Soumettre un formulaire </a:t>
            </a:r>
          </a:p>
        </p:txBody>
      </p:sp>
      <p:sp>
        <p:nvSpPr>
          <p:cNvPr id="135" name="Google Shape;135;p23"/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>
                <a:sym typeface="Calibri"/>
              </a:rPr>
              <a:t>Une fois rempli, le formulaire est "soumis au serveur", càd que les données y sont envoyées.</a:t>
            </a:r>
          </a:p>
          <a:p>
            <a:r>
              <a:rPr lang="fr-BE">
                <a:sym typeface="Calibri"/>
              </a:rPr>
              <a:t>Bouton de type “</a:t>
            </a:r>
            <a:r>
              <a:rPr lang="fr-BE" err="1">
                <a:solidFill>
                  <a:schemeClr val="accent2"/>
                </a:solidFill>
                <a:sym typeface="Calibri"/>
              </a:rPr>
              <a:t>submit</a:t>
            </a:r>
            <a:r>
              <a:rPr lang="fr-BE">
                <a:sym typeface="Calibri"/>
              </a:rPr>
              <a:t>” </a:t>
            </a:r>
          </a:p>
          <a:p>
            <a:pPr marL="457189" lvl="1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button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 type="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submit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"&gt;S'inscrire&lt;/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button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&gt;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pPr lvl="1"/>
            <a:r>
              <a:rPr lang="fr-BE">
                <a:sym typeface="Calibri"/>
              </a:rPr>
              <a:t>remarque : il </a:t>
            </a:r>
            <a:r>
              <a:rPr lang="fr-BE" err="1">
                <a:sym typeface="Calibri"/>
              </a:rPr>
              <a:t>exite</a:t>
            </a:r>
            <a:r>
              <a:rPr lang="fr-BE">
                <a:sym typeface="Calibri"/>
              </a:rPr>
              <a:t> un codage ancien</a:t>
            </a:r>
            <a:br>
              <a:rPr lang="fr-BE">
                <a:sym typeface="Calibri"/>
              </a:rPr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&lt;input type="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submit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" value="S'inscrire"&gt;</a:t>
            </a:r>
          </a:p>
          <a:p>
            <a:r>
              <a:rPr lang="fr-BE">
                <a:sym typeface="Calibri"/>
              </a:rPr>
              <a:t>Bouton de type “</a:t>
            </a:r>
            <a:r>
              <a:rPr lang="fr-BE" err="1">
                <a:solidFill>
                  <a:schemeClr val="accent2"/>
                </a:solidFill>
                <a:sym typeface="Calibri"/>
              </a:rPr>
              <a:t>button</a:t>
            </a:r>
            <a:r>
              <a:rPr lang="fr-BE">
                <a:sym typeface="Calibri"/>
              </a:rPr>
              <a:t>”</a:t>
            </a:r>
          </a:p>
          <a:p>
            <a:pPr lvl="1"/>
            <a:r>
              <a:rPr lang="fr-BE">
                <a:sym typeface="Calibri"/>
              </a:rPr>
              <a:t>appel d'un code JavaScript = programmation !</a:t>
            </a:r>
          </a:p>
          <a:p>
            <a:pPr lvl="1"/>
            <a:r>
              <a:rPr lang="fr-BE">
                <a:sym typeface="Calibri"/>
              </a:rPr>
              <a:t>formulaire non envoyé automatiquement au serveur</a:t>
            </a:r>
          </a:p>
          <a:p>
            <a:pPr lvl="1"/>
            <a:r>
              <a:rPr lang="fr-BE">
                <a:sym typeface="Calibri"/>
              </a:rPr>
              <a:t>exemple : un tel bouton peut valider les input, envoyer le </a:t>
            </a:r>
            <a:r>
              <a:rPr lang="fr-BE" err="1">
                <a:sym typeface="Calibri"/>
              </a:rPr>
              <a:t>form</a:t>
            </a:r>
            <a:r>
              <a:rPr lang="fr-BE">
                <a:sym typeface="Calibri"/>
              </a:rPr>
              <a:t> au serveur et afficher "veuillez patienter".</a:t>
            </a: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3171" y="632668"/>
            <a:ext cx="2196375" cy="921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33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0BBCCE-1F42-461F-8A23-86524CC68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01 : Sample "Atomic" Form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5875B2-75BB-4B16-80B8-D47D82AD7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2181224"/>
          </a:xfrm>
        </p:spPr>
        <p:txBody>
          <a:bodyPr numCol="1">
            <a:normAutofit/>
          </a:bodyPr>
          <a:lstStyle/>
          <a:p>
            <a:r>
              <a:rPr lang="fr-BE"/>
              <a:t>Télécharger et placer dans le WAMP</a:t>
            </a:r>
          </a:p>
          <a:p>
            <a:pPr lvl="1"/>
            <a:r>
              <a:rPr lang="en-US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exo06-01_sample_atomic_form.html</a:t>
            </a:r>
            <a:endParaRPr lang="fr-BE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BE"/>
              <a:t>Exemple de 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2F5B0D2-F4F6-4962-92C4-9372257CD4C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3425825"/>
            <a:ext cx="10766425" cy="2747963"/>
          </a:xfrm>
        </p:spPr>
        <p:txBody>
          <a:bodyPr numCol="2">
            <a:normAutofit/>
          </a:bodyPr>
          <a:lstStyle/>
          <a:p>
            <a:pPr lvl="1"/>
            <a:r>
              <a:rPr lang="fr-BE"/>
              <a:t>Input type </a:t>
            </a:r>
            <a:r>
              <a:rPr lang="fr-BE" err="1"/>
              <a:t>text</a:t>
            </a:r>
            <a:endParaRPr lang="fr-BE"/>
          </a:p>
          <a:p>
            <a:pPr lvl="1"/>
            <a:r>
              <a:rPr lang="fr-BE"/>
              <a:t>Input type </a:t>
            </a:r>
            <a:r>
              <a:rPr lang="fr-BE" err="1"/>
              <a:t>password</a:t>
            </a:r>
            <a:endParaRPr lang="fr-BE"/>
          </a:p>
          <a:p>
            <a:pPr lvl="1"/>
            <a:r>
              <a:rPr lang="fr-BE"/>
              <a:t>Input type radio </a:t>
            </a:r>
          </a:p>
          <a:p>
            <a:pPr lvl="1"/>
            <a:r>
              <a:rPr lang="fr-BE"/>
              <a:t>Input type </a:t>
            </a:r>
            <a:r>
              <a:rPr lang="fr-BE" err="1"/>
              <a:t>checkbox</a:t>
            </a:r>
            <a:endParaRPr lang="fr-BE"/>
          </a:p>
          <a:p>
            <a:pPr lvl="1"/>
            <a:r>
              <a:rPr lang="fr-BE"/>
              <a:t>Select option</a:t>
            </a:r>
          </a:p>
          <a:p>
            <a:pPr lvl="1"/>
            <a:r>
              <a:rPr lang="fr-BE"/>
              <a:t>Input + Datalist</a:t>
            </a:r>
          </a:p>
          <a:p>
            <a:pPr lvl="1"/>
            <a:r>
              <a:rPr lang="fr-BE"/>
              <a:t>Input type color</a:t>
            </a:r>
          </a:p>
          <a:p>
            <a:pPr lvl="1"/>
            <a:r>
              <a:rPr lang="fr-BE"/>
              <a:t>Input type range</a:t>
            </a:r>
          </a:p>
          <a:p>
            <a:pPr lvl="1"/>
            <a:r>
              <a:rPr lang="fr-BE"/>
              <a:t>Button type </a:t>
            </a:r>
            <a:r>
              <a:rPr lang="fr-BE" err="1"/>
              <a:t>submit</a:t>
            </a:r>
            <a:endParaRPr lang="fr-BE"/>
          </a:p>
          <a:p>
            <a:pPr lvl="1"/>
            <a:r>
              <a:rPr lang="fr-BE"/>
              <a:t>Button type button</a:t>
            </a:r>
          </a:p>
        </p:txBody>
      </p:sp>
    </p:spTree>
    <p:extLst>
      <p:ext uri="{BB962C8B-B14F-4D97-AF65-F5344CB8AC3E}">
        <p14:creationId xmlns:p14="http://schemas.microsoft.com/office/powerpoint/2010/main" val="103318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0BBCCE-1F42-461F-8A23-86524CC68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03 : Sample "Molecular" Form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5875B2-75BB-4B16-80B8-D47D82AD7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802186"/>
          </a:xfrm>
        </p:spPr>
        <p:txBody>
          <a:bodyPr numCol="1">
            <a:normAutofit/>
          </a:bodyPr>
          <a:lstStyle/>
          <a:p>
            <a:r>
              <a:rPr lang="fr-BE"/>
              <a:t>Télécharger et placer dans le WAMP les deux fichiers </a:t>
            </a:r>
          </a:p>
          <a:p>
            <a:pPr lvl="1"/>
            <a:r>
              <a:rPr lang="en-US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exo06-03_sample_atomic_form.html</a:t>
            </a:r>
            <a:endParaRPr lang="fr-BE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BE"/>
              <a:t>Exemple de</a:t>
            </a:r>
          </a:p>
          <a:p>
            <a:pPr lvl="1"/>
            <a:r>
              <a:rPr lang="fr-BE"/>
              <a:t>Image Upload</a:t>
            </a:r>
          </a:p>
          <a:p>
            <a:pPr lvl="1"/>
            <a:r>
              <a:rPr lang="fr-BE"/>
              <a:t>File Upload</a:t>
            </a:r>
          </a:p>
        </p:txBody>
      </p:sp>
    </p:spTree>
    <p:extLst>
      <p:ext uri="{BB962C8B-B14F-4D97-AF65-F5344CB8AC3E}">
        <p14:creationId xmlns:p14="http://schemas.microsoft.com/office/powerpoint/2010/main" val="141926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Exo 05 : Catalogue + </a:t>
            </a:r>
            <a:r>
              <a:rPr lang="fr-BE" err="1"/>
              <a:t>Form</a:t>
            </a:r>
            <a:r>
              <a:rPr lang="fr-BE"/>
              <a:t> Input</a:t>
            </a:r>
          </a:p>
        </p:txBody>
      </p:sp>
      <p:sp>
        <p:nvSpPr>
          <p:cNvPr id="162" name="Google Shape;162;p27"/>
          <p:cNvSpPr txBox="1"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BE"/>
              <a:t>Créer un formulaire qui permet d’ajouter des éléments dans le tableau HTML.</a:t>
            </a:r>
          </a:p>
          <a:p>
            <a:r>
              <a:rPr lang="fr-BE"/>
              <a:t>Ci-contre un exemple de formulaire.</a:t>
            </a:r>
          </a:p>
        </p:txBody>
      </p:sp>
      <p:pic>
        <p:nvPicPr>
          <p:cNvPr id="9" name="Google Shape;163;p27"/>
          <p:cNvPicPr preferRelativeResize="0">
            <a:picLocks noGrp="1"/>
          </p:cNvPicPr>
          <p:nvPr>
            <p:ph sz="half" idx="2"/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863891"/>
            <a:ext cx="5181600" cy="21398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56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09AE7C-69AD-D134-4C09-E741F780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06 : commande de sandwich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A02B5E5-64E8-7CEF-9419-7449BB438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Créez un formulaire permettant de commander un sandwiche</a:t>
            </a:r>
          </a:p>
          <a:p>
            <a:pPr lvl="1"/>
            <a:r>
              <a:rPr lang="fr-BE"/>
              <a:t>votre nom</a:t>
            </a:r>
          </a:p>
          <a:p>
            <a:pPr lvl="1"/>
            <a:r>
              <a:rPr lang="fr-BE"/>
              <a:t>baguette : blanc ou gris</a:t>
            </a:r>
          </a:p>
          <a:p>
            <a:pPr lvl="1"/>
            <a:r>
              <a:rPr lang="fr-BE"/>
              <a:t>garniture principale : poulet curry, thon piquant, boulette</a:t>
            </a:r>
          </a:p>
          <a:p>
            <a:pPr lvl="1"/>
            <a:r>
              <a:rPr lang="fr-BE"/>
              <a:t>garniture secondaire : carotte, salade, concombre </a:t>
            </a:r>
          </a:p>
          <a:p>
            <a:pPr lvl="1"/>
            <a:r>
              <a:rPr lang="fr-BE"/>
              <a:t>avec ou sans mayonnaise</a:t>
            </a:r>
          </a:p>
        </p:txBody>
      </p:sp>
    </p:spTree>
    <p:extLst>
      <p:ext uri="{BB962C8B-B14F-4D97-AF65-F5344CB8AC3E}">
        <p14:creationId xmlns:p14="http://schemas.microsoft.com/office/powerpoint/2010/main" val="2212320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2.potm" id="{7A707283-01BA-4932-B574-4A389620091B}" vid="{093B5C4F-DD58-40B6-A0EE-0D8451AE62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burotix2022</Template>
  <TotalTime>13452</TotalTime>
  <Words>1307</Words>
  <Application>Microsoft Office PowerPoint</Application>
  <PresentationFormat>Grand écran</PresentationFormat>
  <Paragraphs>212</Paragraphs>
  <Slides>28</Slides>
  <Notes>20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  <vt:variant>
        <vt:lpstr>Diaporamas personnalisés</vt:lpstr>
      </vt:variant>
      <vt:variant>
        <vt:i4>1</vt:i4>
      </vt:variant>
    </vt:vector>
  </HeadingPairs>
  <TitlesOfParts>
    <vt:vector size="37" baseType="lpstr">
      <vt:lpstr>Arial</vt:lpstr>
      <vt:lpstr>Calibri</vt:lpstr>
      <vt:lpstr>Consolas</vt:lpstr>
      <vt:lpstr>Courier New</vt:lpstr>
      <vt:lpstr>Garamond</vt:lpstr>
      <vt:lpstr>Verdana</vt:lpstr>
      <vt:lpstr>Wingdings</vt:lpstr>
      <vt:lpstr>burotix</vt:lpstr>
      <vt:lpstr>Bachelier en Informatique de Gestion  Web : principes de base Projet de Développement Web</vt:lpstr>
      <vt:lpstr>Table des matières</vt:lpstr>
      <vt:lpstr>13. Formulaires HTML</vt:lpstr>
      <vt:lpstr>Transit des données</vt:lpstr>
      <vt:lpstr>Single Page App. vs Multiple Page App.</vt:lpstr>
      <vt:lpstr>MPA vs SPA, use cases</vt:lpstr>
      <vt:lpstr>Objectifs des formulaires</vt:lpstr>
      <vt:lpstr>Comment faire transiter les données?</vt:lpstr>
      <vt:lpstr>Comment traiter les données?</vt:lpstr>
      <vt:lpstr>Exemple de formulaire</vt:lpstr>
      <vt:lpstr>Balises HTML</vt:lpstr>
      <vt:lpstr>La balise &lt;input&gt;</vt:lpstr>
      <vt:lpstr>La balise &lt;input&gt;</vt:lpstr>
      <vt:lpstr>La balise &lt;input&gt;</vt:lpstr>
      <vt:lpstr>La balise &lt;select&gt;</vt:lpstr>
      <vt:lpstr>L'attribut “value” de la balise &lt;input&gt;</vt:lpstr>
      <vt:lpstr>La balise &lt;textarea&gt;</vt:lpstr>
      <vt:lpstr>La balise &lt;label&gt;, 1ère manière</vt:lpstr>
      <vt:lpstr>La balise &lt;label&gt;, 2ème manière</vt:lpstr>
      <vt:lpstr>La balise &lt;datalist&gt;</vt:lpstr>
      <vt:lpstr>Balises HTML 5</vt:lpstr>
      <vt:lpstr>Input Types introduits en HTML5</vt:lpstr>
      <vt:lpstr>Attributs - HTML(5)</vt:lpstr>
      <vt:lpstr>Soumettre un formulaire </vt:lpstr>
      <vt:lpstr>Exo 01 : Sample "Atomic" Form</vt:lpstr>
      <vt:lpstr>Exo 03 : Sample "Molecular" Form</vt:lpstr>
      <vt:lpstr>Exo 05 : Catalogue + Form Input</vt:lpstr>
      <vt:lpstr>Exo 06 : commande de sandwich</vt:lpstr>
      <vt:lpstr>cefora powerpoint 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Bachelier en Informatique de Gestion  Projet de Développement Web</dc:title>
  <dc:creator>Alain Wafflard</dc:creator>
  <cp:lastModifiedBy>Alain Wafflard</cp:lastModifiedBy>
  <cp:revision>130</cp:revision>
  <dcterms:created xsi:type="dcterms:W3CDTF">2020-03-25T16:55:22Z</dcterms:created>
  <dcterms:modified xsi:type="dcterms:W3CDTF">2025-11-24T16:58:23Z</dcterms:modified>
</cp:coreProperties>
</file>