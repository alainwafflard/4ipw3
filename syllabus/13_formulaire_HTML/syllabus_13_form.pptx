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56" r:id="rId1"/>
  </p:sldMasterIdLst>
  <p:notesMasterIdLst>
    <p:notesMasterId r:id="rId28"/>
  </p:notesMasterIdLst>
  <p:sldIdLst>
    <p:sldId id="416" r:id="rId2"/>
    <p:sldId id="417" r:id="rId3"/>
    <p:sldId id="352" r:id="rId4"/>
    <p:sldId id="606" r:id="rId5"/>
    <p:sldId id="647" r:id="rId6"/>
    <p:sldId id="353" r:id="rId7"/>
    <p:sldId id="354" r:id="rId8"/>
    <p:sldId id="356" r:id="rId9"/>
    <p:sldId id="605" r:id="rId10"/>
    <p:sldId id="357" r:id="rId11"/>
    <p:sldId id="358" r:id="rId12"/>
    <p:sldId id="359" r:id="rId13"/>
    <p:sldId id="360" r:id="rId14"/>
    <p:sldId id="361" r:id="rId15"/>
    <p:sldId id="362" r:id="rId16"/>
    <p:sldId id="363" r:id="rId17"/>
    <p:sldId id="644" r:id="rId18"/>
    <p:sldId id="364" r:id="rId19"/>
    <p:sldId id="643" r:id="rId20"/>
    <p:sldId id="365" r:id="rId21"/>
    <p:sldId id="366" r:id="rId22"/>
    <p:sldId id="367" r:id="rId23"/>
    <p:sldId id="517" r:id="rId24"/>
    <p:sldId id="638" r:id="rId25"/>
    <p:sldId id="448" r:id="rId26"/>
    <p:sldId id="645" r:id="rId27"/>
  </p:sldIdLst>
  <p:sldSz cx="12192000" cy="6858000"/>
  <p:notesSz cx="6858000" cy="9144000"/>
  <p:custShowLst>
    <p:custShow name="cefora powerpoint base" id="0">
      <p:sldLst/>
    </p:custShow>
  </p:custShowLst>
  <p:defaultTextStyle>
    <a:defPPr>
      <a:defRPr lang="fr-FR"/>
    </a:defPPr>
    <a:lvl1pPr marL="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3. HTML Form" id="{08DFCFE3-79D6-440F-BB58-C288840FDF0A}">
          <p14:sldIdLst>
            <p14:sldId id="416"/>
            <p14:sldId id="417"/>
            <p14:sldId id="352"/>
            <p14:sldId id="606"/>
            <p14:sldId id="647"/>
            <p14:sldId id="353"/>
            <p14:sldId id="354"/>
            <p14:sldId id="356"/>
            <p14:sldId id="605"/>
            <p14:sldId id="357"/>
            <p14:sldId id="358"/>
            <p14:sldId id="359"/>
            <p14:sldId id="360"/>
            <p14:sldId id="361"/>
            <p14:sldId id="362"/>
            <p14:sldId id="363"/>
            <p14:sldId id="644"/>
            <p14:sldId id="364"/>
            <p14:sldId id="643"/>
            <p14:sldId id="365"/>
            <p14:sldId id="366"/>
            <p14:sldId id="367"/>
            <p14:sldId id="517"/>
            <p14:sldId id="638"/>
            <p14:sldId id="448"/>
            <p14:sldId id="64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ain Wafflard" initials="AW" lastIdx="1" clrIdx="0">
    <p:extLst>
      <p:ext uri="{19B8F6BF-5375-455C-9EA6-DF929625EA0E}">
        <p15:presenceInfo xmlns:p15="http://schemas.microsoft.com/office/powerpoint/2012/main" userId="76bb5ce92a207b22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FF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CB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94" autoAdjust="0"/>
    <p:restoredTop sz="86419" autoAdjust="0"/>
  </p:normalViewPr>
  <p:slideViewPr>
    <p:cSldViewPr snapToGrid="0">
      <p:cViewPr varScale="1">
        <p:scale>
          <a:sx n="58" d="100"/>
          <a:sy n="58" d="100"/>
        </p:scale>
        <p:origin x="102" y="94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 snapToGrid="0">
      <p:cViewPr varScale="1">
        <p:scale>
          <a:sx n="100" d="100"/>
          <a:sy n="100" d="100"/>
        </p:scale>
        <p:origin x="3552" y="7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E9742F-4DAE-47F5-9244-6ACC3985DD6B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3842A0-1A3F-4998-8237-CE5EEE5DFDF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56068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" name="Google Shape;51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BE"/>
              <a:t>1</a:t>
            </a:fld>
            <a:endParaRPr/>
          </a:p>
        </p:txBody>
      </p:sp>
      <p:sp>
        <p:nvSpPr>
          <p:cNvPr id="53" name="Google Shape;53;p1:notes"/>
          <p:cNvSpPr txBox="1">
            <a:spLocks noGrp="1"/>
          </p:cNvSpPr>
          <p:nvPr>
            <p:ph type="hdr" idx="3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BE"/>
              <a:t>GESTIONNAIRE DE BASE DE DONNEES – NIVEAU ELEMENTAIRE - MS ACCESS</a:t>
            </a:r>
            <a:endParaRPr/>
          </a:p>
        </p:txBody>
      </p:sp>
      <p:sp>
        <p:nvSpPr>
          <p:cNvPr id="54" name="Google Shape;54;p1:notes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BE"/>
              <a:t>Professeur : Alain Wafflard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" name="Google Shape;3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52687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gae4b1ffd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" name="Google Shape;42;gae4b1ffd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002999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ae4b1ffd_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ae4b1ffd_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815306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af1ccaf6_0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af1ccaf6_0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268514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ae4b1ffd_0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ae4b1ffd_0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648942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ae4b1ffd_0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ae4b1ffd_0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67618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ae4b1ffd_0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ae4b1ffd_0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45904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ae4b1ffd_0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ae4b1ffd_0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238031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af1ccaf6_0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af1ccaf6_0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904517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ae4b1ffd_0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ae4b1ffd_0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11652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7b4200d84_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7b4200d84_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00673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7b4200d84_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7b4200d84_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69916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7b4200d84_0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7b4200d84_0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164456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af1ccaf6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af1ccaf6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438781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af1ccaf6_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af1ccaf6_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436817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7b4200d84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7b4200d84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4600775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128d8db6e_0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128d8db6e_0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14710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solidFill>
            <a:schemeClr val="accent3">
              <a:lumMod val="40000"/>
              <a:lumOff val="60000"/>
            </a:schemeClr>
          </a:solidFill>
        </p:spPr>
        <p:txBody>
          <a:bodyPr anchor="b">
            <a:normAutofit/>
          </a:bodyPr>
          <a:lstStyle>
            <a:lvl1pPr algn="ctr">
              <a:defRPr lang="fr-BE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8EFA58-10A1-BAA7-B65E-A754A43B7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14B8606-B65F-6EB2-899E-91B5C83E7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2FA919-3ED3-80D3-E61B-53F97BE66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141915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268EF8D-0946-4672-F93D-1040FBC997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F8A40D7-7FAD-432F-7B9F-71125A565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4A3E5DF-3F32-A840-9AC0-4B04DF13C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0857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lang="fr-BE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83B7C617-6903-4988-8F47-3C72C68028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2160000" cy="216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2D67B63-F450-35EF-442C-62311487D2F4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BC20ED6-7274-FD2F-773B-9069D53732E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B282271-26EC-908B-2E9D-6EE95CFBEB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91803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b-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4544704"/>
            <a:ext cx="10515600" cy="1628211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 dirty="0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4FDD30A2-EFB1-4B31-8365-64458F4E13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1440000" cy="144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8BD7575-5E4D-B6F7-D511-002E7EBB1A2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57AA542-0BD3-6896-CFBC-925661457ED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F1D4A95-E4A4-1574-4F11-DE8F1961354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061783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690689"/>
            <a:ext cx="5181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90689"/>
            <a:ext cx="5181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3EE368-836F-D6B7-3720-94E515B8E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40FC0D1-460C-5274-B67A-CADD30115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D5E82B2-87DB-8B8E-12FD-843E81352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0278412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605DBAD-E815-DA9F-C843-1DE122AA5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344211E-58E3-3B61-D18C-DCC7772A0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5F2F6A2-3605-D138-CBD4-299C105E1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229700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B23E5C8-1D92-E25A-D482-9866759B5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5ACAADE-10AC-A5C6-B021-C668BC206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4BD460E-C94D-0F17-7C77-D32F9CC12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270867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5142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457200"/>
            <a:ext cx="6172200" cy="54038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33BACDB-1022-3581-CB46-1F85D7025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C8F4609-0312-F825-CC91-FAC10F330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1F0E555-3A77-670E-9C69-DE1D8DE23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999740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lang="fr-BE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83B7C617-6903-4988-8F47-3C72C68028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2160000" cy="216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76411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ub-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4544704"/>
            <a:ext cx="10515600" cy="1628211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fr-BE" dirty="0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4FDD30A2-EFB1-4B31-8365-64458F4E13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1440000" cy="144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85747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ison" userDrawn="1">
  <p:cSld name="1_Comparaiso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4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4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3419999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ts val="1800"/>
              <a:buFont typeface="Garamond" panose="02020404030301010803" pitchFamily="18" charset="0"/>
              <a:buChar char="■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46"/>
          <p:cNvSpPr txBox="1">
            <a:spLocks noGrp="1"/>
          </p:cNvSpPr>
          <p:nvPr>
            <p:ph type="body" idx="3"/>
          </p:nvPr>
        </p:nvSpPr>
        <p:spPr>
          <a:xfrm>
            <a:off x="4394864" y="1677195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46"/>
          <p:cNvSpPr txBox="1">
            <a:spLocks noGrp="1"/>
          </p:cNvSpPr>
          <p:nvPr>
            <p:ph type="body" idx="4"/>
          </p:nvPr>
        </p:nvSpPr>
        <p:spPr>
          <a:xfrm>
            <a:off x="4394863" y="2501107"/>
            <a:ext cx="3419999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ts val="1800"/>
              <a:buFont typeface="Garamond" panose="02020404030301010803" pitchFamily="18" charset="0"/>
              <a:buChar char="■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" name="Google Shape;44;p146">
            <a:extLst>
              <a:ext uri="{FF2B5EF4-FFF2-40B4-BE49-F238E27FC236}">
                <a16:creationId xmlns:a16="http://schemas.microsoft.com/office/drawing/2014/main" id="{2E687717-1647-0388-990E-8851C964199E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7949940" y="1690688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" name="Google Shape;45;p146">
            <a:extLst>
              <a:ext uri="{FF2B5EF4-FFF2-40B4-BE49-F238E27FC236}">
                <a16:creationId xmlns:a16="http://schemas.microsoft.com/office/drawing/2014/main" id="{D8C59DA1-11B0-4EEA-43AC-8402AF228130}"/>
              </a:ext>
            </a:extLst>
          </p:cNvPr>
          <p:cNvSpPr txBox="1">
            <a:spLocks noGrp="1"/>
          </p:cNvSpPr>
          <p:nvPr>
            <p:ph type="body" idx="11"/>
          </p:nvPr>
        </p:nvSpPr>
        <p:spPr>
          <a:xfrm>
            <a:off x="7949937" y="2529543"/>
            <a:ext cx="3433923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ts val="1800"/>
              <a:buFont typeface="Garamond" panose="02020404030301010803" pitchFamily="18" charset="0"/>
              <a:buChar char="■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17118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515" y="5719725"/>
            <a:ext cx="1046571" cy="914479"/>
          </a:xfrm>
          <a:prstGeom prst="rect">
            <a:avLst/>
          </a:prstGeo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D73148E-CCCA-4F1F-A836-655D884BB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952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E29B381-A1A5-FC30-27CA-947A269038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BFB2116-0A00-B6AB-43FF-F23B8EB09A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BE"/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1F1469A2-7ED3-9A0C-A999-D137C58477D3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515" y="5719725"/>
            <a:ext cx="1046571" cy="914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275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7" r:id="rId1"/>
    <p:sldLayoutId id="2147483858" r:id="rId2"/>
    <p:sldLayoutId id="2147483859" r:id="rId3"/>
    <p:sldLayoutId id="2147483860" r:id="rId4"/>
    <p:sldLayoutId id="2147483861" r:id="rId5"/>
    <p:sldLayoutId id="2147483862" r:id="rId6"/>
    <p:sldLayoutId id="2147483863" r:id="rId7"/>
    <p:sldLayoutId id="2147483864" r:id="rId8"/>
    <p:sldLayoutId id="2147483865" r:id="rId9"/>
    <p:sldLayoutId id="2147483853" r:id="rId10"/>
    <p:sldLayoutId id="2147483852" r:id="rId11"/>
    <p:sldLayoutId id="2147483866" r:id="rId12"/>
  </p:sldLayoutIdLst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5"/>
          </a:solidFill>
          <a:latin typeface="+mn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i.i.com.com/cnwk.1d/i/tim/2011/01/18/HTML5_Logo_550px_270x270.png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i.i.com.com/cnwk.1d/i/tim/2011/01/18/HTML5_Logo_550px_270x270.png" TargetMode="Externa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i.i.com.com/cnwk.1d/i/tim/2011/01/18/HTML5_Logo_550px_270x270.png" TargetMode="Externa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i.i.com.com/cnwk.1d/i/tim/2011/01/18/HTML5_Logo_550px_270x270.png" TargetMode="Externa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"/>
          <p:cNvSpPr txBox="1">
            <a:spLocks noGrp="1"/>
          </p:cNvSpPr>
          <p:nvPr>
            <p:ph type="ctr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lvl="0"/>
            <a:r>
              <a:rPr lang="fr-BE" dirty="0"/>
              <a:t>Bachelier en Informatique de Gestion</a:t>
            </a:r>
            <a:br>
              <a:rPr lang="fr-BE" dirty="0"/>
            </a:br>
            <a:br>
              <a:rPr lang="fr-BE"/>
            </a:br>
            <a:r>
              <a:rPr lang="fr-BE"/>
              <a:t>Web </a:t>
            </a:r>
            <a:r>
              <a:rPr lang="fr-BE" dirty="0"/>
              <a:t>: principes </a:t>
            </a:r>
            <a:r>
              <a:rPr lang="fr-BE"/>
              <a:t>de base</a:t>
            </a:r>
            <a:br>
              <a:rPr lang="fr-BE"/>
            </a:br>
            <a:r>
              <a:rPr lang="fr-BE"/>
              <a:t>Projet de Développement Web</a:t>
            </a:r>
            <a:endParaRPr lang="fr-BE" dirty="0"/>
          </a:p>
        </p:txBody>
      </p:sp>
      <p:sp>
        <p:nvSpPr>
          <p:cNvPr id="57" name="Google Shape;57;p1"/>
          <p:cNvSpPr txBox="1">
            <a:spLocks noGrp="1"/>
          </p:cNvSpPr>
          <p:nvPr>
            <p:ph type="subTitle" idx="1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fr-BE" dirty="0"/>
              <a:t>Enseignement supérieur économique de type court</a:t>
            </a:r>
          </a:p>
          <a:p>
            <a:pPr lvl="0"/>
            <a:r>
              <a:rPr lang="fr-BE" dirty="0"/>
              <a:t>Code </a:t>
            </a:r>
            <a:r>
              <a:rPr lang="fr-BE" dirty="0" err="1"/>
              <a:t>FWB</a:t>
            </a:r>
            <a:r>
              <a:rPr lang="fr-BE"/>
              <a:t> : 7534 29 U32 D1, 7534 30 U32 D3</a:t>
            </a:r>
          </a:p>
          <a:p>
            <a:pPr lvl="0"/>
            <a:r>
              <a:rPr lang="fr-BE"/>
              <a:t>Code ISFCE : 4IWPB, 4IPW3</a:t>
            </a:r>
          </a:p>
          <a:p>
            <a:pPr lvl="0"/>
            <a:endParaRPr lang="fr-BE"/>
          </a:p>
        </p:txBody>
      </p:sp>
      <p:pic>
        <p:nvPicPr>
          <p:cNvPr id="58" name="Google Shape;5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06447" y="5094815"/>
            <a:ext cx="1674557" cy="16745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"/>
          <p:cNvSpPr txBox="1"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fr-BE"/>
              <a:t>Table des matières</a:t>
            </a:r>
          </a:p>
        </p:txBody>
      </p:sp>
      <p:sp>
        <p:nvSpPr>
          <p:cNvPr id="119" name="Google Shape;119;p5"/>
          <p:cNvSpPr txBox="1">
            <a:spLocks noGrp="1"/>
          </p:cNvSpPr>
          <p:nvPr>
            <p:ph type="body" idx="1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numCol="1" anchor="t" anchorCtr="0">
            <a:normAutofit/>
          </a:bodyPr>
          <a:lstStyle/>
          <a:p>
            <a:pPr lvl="0"/>
            <a:r>
              <a:rPr lang="fr-FR"/>
              <a:t>Généralités</a:t>
            </a: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1162652-D4A8-152D-F88F-9B8516AF8775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>
            <a:normAutofit/>
          </a:bodyPr>
          <a:lstStyle/>
          <a:p>
            <a:pPr marL="114300" indent="0">
              <a:buNone/>
            </a:pPr>
            <a:r>
              <a:rPr lang="fr-BE" sz="2400"/>
              <a:t>01. Introduction au web</a:t>
            </a:r>
          </a:p>
          <a:p>
            <a:pPr marL="114300" indent="0">
              <a:buNone/>
            </a:pPr>
            <a:r>
              <a:rPr lang="fr-BE" sz="2400"/>
              <a:t>03. Outils</a:t>
            </a:r>
          </a:p>
          <a:p>
            <a:pPr marL="114300" indent="0">
              <a:buNone/>
            </a:pPr>
            <a:r>
              <a:rPr lang="fr-BE" sz="2400"/>
              <a:t>05. Format XML</a:t>
            </a:r>
          </a:p>
          <a:p>
            <a:pPr marL="114300" indent="0">
              <a:buNone/>
            </a:pPr>
            <a:r>
              <a:rPr lang="fr-BE" sz="2400"/>
              <a:t>06. Format JSON</a:t>
            </a:r>
          </a:p>
          <a:p>
            <a:pPr marL="114300" indent="0">
              <a:buNone/>
            </a:pPr>
            <a:endParaRPr lang="fr-BE" sz="240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06D5135-B8A1-9E24-38EE-4C72679CDE7E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 anchor="t"/>
          <a:lstStyle/>
          <a:p>
            <a:pPr lvl="0"/>
            <a:r>
              <a:rPr lang="fr-FR"/>
              <a:t>Front-End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7D87172-3FAF-5725-E789-9405D66598A7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4105275" y="2501107"/>
            <a:ext cx="3709587" cy="3684588"/>
          </a:xfrm>
        </p:spPr>
        <p:txBody>
          <a:bodyPr>
            <a:normAutofit/>
          </a:bodyPr>
          <a:lstStyle/>
          <a:p>
            <a:pPr marL="114300" lvl="0" indent="0">
              <a:buNone/>
            </a:pPr>
            <a:r>
              <a:rPr lang="fr-BE" sz="2400"/>
              <a:t>12. Structure HTML </a:t>
            </a:r>
          </a:p>
          <a:p>
            <a:pPr marL="114300" indent="0">
              <a:buNone/>
            </a:pPr>
            <a:r>
              <a:rPr lang="fr-BE" sz="2400">
                <a:solidFill>
                  <a:schemeClr val="accent2"/>
                </a:solidFill>
              </a:rPr>
              <a:t>13. Formulaire HTML</a:t>
            </a:r>
          </a:p>
          <a:p>
            <a:pPr marL="114300" lvl="0" indent="0">
              <a:buNone/>
            </a:pPr>
            <a:r>
              <a:rPr lang="fr-BE" sz="2400"/>
              <a:t>14. Mise en forme CSS</a:t>
            </a:r>
          </a:p>
          <a:p>
            <a:pPr marL="114300" lvl="0" indent="0">
              <a:buNone/>
            </a:pPr>
            <a:r>
              <a:rPr lang="fr-BE" sz="2400"/>
              <a:t>15. Adaptabilité</a:t>
            </a:r>
          </a:p>
          <a:p>
            <a:pPr marL="114300" lvl="0" indent="0">
              <a:buNone/>
            </a:pPr>
            <a:r>
              <a:rPr lang="fr-BE" sz="2400"/>
              <a:t>17. Javascript</a:t>
            </a:r>
          </a:p>
          <a:p>
            <a:pPr marL="114300" lvl="0" indent="0">
              <a:buNone/>
            </a:pPr>
            <a:r>
              <a:rPr lang="fr-BE" sz="2400"/>
              <a:t>18. Bibliothèque jQuery</a:t>
            </a:r>
          </a:p>
          <a:p>
            <a:pPr marL="114300" lvl="0" indent="0">
              <a:buNone/>
            </a:pPr>
            <a:r>
              <a:rPr lang="fr-BE" sz="2400"/>
              <a:t>19. Composant Vue.js</a:t>
            </a:r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A5FC1231-1E2C-7231-4486-8114EAEE6AAF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 anchor="t"/>
          <a:lstStyle/>
          <a:p>
            <a:r>
              <a:rPr lang="fr-BE"/>
              <a:t>Back-End</a:t>
            </a:r>
          </a:p>
        </p:txBody>
      </p:sp>
      <p:sp>
        <p:nvSpPr>
          <p:cNvPr id="18" name="Espace réservé du texte 17">
            <a:extLst>
              <a:ext uri="{FF2B5EF4-FFF2-40B4-BE49-F238E27FC236}">
                <a16:creationId xmlns:a16="http://schemas.microsoft.com/office/drawing/2014/main" id="{EDB2CC52-B967-555D-C3A7-C4B10EB02D18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>
            <a:normAutofit/>
          </a:bodyPr>
          <a:lstStyle/>
          <a:p>
            <a:pPr marL="114300" lvl="0" indent="0">
              <a:buNone/>
            </a:pPr>
            <a:r>
              <a:rPr lang="fr-BE" sz="2400"/>
              <a:t>21. Middleware PHP</a:t>
            </a:r>
          </a:p>
          <a:p>
            <a:pPr marL="114300" indent="0">
              <a:buNone/>
            </a:pPr>
            <a:r>
              <a:rPr lang="fr-BE" sz="2400"/>
              <a:t>22. Traitement du formulaire</a:t>
            </a:r>
          </a:p>
          <a:p>
            <a:pPr marL="114300" lvl="0" indent="0">
              <a:buNone/>
            </a:pPr>
            <a:r>
              <a:rPr lang="fr-BE" sz="2400"/>
              <a:t>23. Architecture MVC</a:t>
            </a:r>
          </a:p>
          <a:p>
            <a:pPr marL="114300" lvl="0" indent="0">
              <a:buNone/>
            </a:pPr>
            <a:r>
              <a:rPr lang="fr-BE" sz="2400"/>
              <a:t>24. Données SQL</a:t>
            </a:r>
          </a:p>
          <a:p>
            <a:pPr marL="114300" lvl="0" indent="0">
              <a:buNone/>
            </a:pPr>
            <a:r>
              <a:rPr lang="fr-BE" sz="2400"/>
              <a:t>25. Données NoSQL</a:t>
            </a:r>
          </a:p>
          <a:p>
            <a:pPr marL="114300" indent="0">
              <a:buNone/>
            </a:pPr>
            <a:r>
              <a:rPr lang="fr-BE" sz="2400"/>
              <a:t>27. Requête asynchrone</a:t>
            </a:r>
          </a:p>
          <a:p>
            <a:pPr marL="114300" indent="0">
              <a:buNone/>
            </a:pPr>
            <a:endParaRPr lang="fr-BE" sz="24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13. Formulaires HTML</a:t>
            </a:r>
          </a:p>
        </p:txBody>
      </p:sp>
      <p:sp>
        <p:nvSpPr>
          <p:cNvPr id="38" name="Google Shape;38;p8"/>
          <p:cNvSpPr txBox="1">
            <a:spLocks noGrp="1"/>
          </p:cNvSpPr>
          <p:nvPr>
            <p:ph type="subTitle" idx="1"/>
          </p:nvPr>
        </p:nvSpPr>
        <p:spPr/>
        <p:txBody>
          <a:bodyPr numCol="3">
            <a:normAutofit/>
          </a:bodyPr>
          <a:lstStyle/>
          <a:p>
            <a:r>
              <a:rPr lang="fr-BE">
                <a:sym typeface="Calibri"/>
              </a:rPr>
              <a:t>Objectif</a:t>
            </a:r>
          </a:p>
          <a:p>
            <a:r>
              <a:rPr lang="fr-BE">
                <a:sym typeface="Calibri"/>
              </a:rPr>
              <a:t>Transit des données</a:t>
            </a:r>
          </a:p>
          <a:p>
            <a:r>
              <a:rPr lang="fr-BE">
                <a:sym typeface="Calibri"/>
              </a:rPr>
              <a:t>La balise FORM</a:t>
            </a:r>
          </a:p>
          <a:p>
            <a:r>
              <a:rPr lang="fr-BE">
                <a:sym typeface="Calibri"/>
              </a:rPr>
              <a:t>La balise INPUT</a:t>
            </a:r>
          </a:p>
          <a:p>
            <a:r>
              <a:rPr lang="fr-BE">
                <a:sym typeface="Calibri"/>
              </a:rPr>
              <a:t>La balise BUTTON</a:t>
            </a:r>
          </a:p>
          <a:p>
            <a:r>
              <a:rPr lang="fr-BE">
                <a:sym typeface="Calibri"/>
              </a:rPr>
              <a:t>Les autres balises</a:t>
            </a:r>
          </a:p>
        </p:txBody>
      </p:sp>
      <p:pic>
        <p:nvPicPr>
          <p:cNvPr id="6" name="Google Shape;39;p8">
            <a:hlinkClick r:id="rId3"/>
            <a:extLst>
              <a:ext uri="{FF2B5EF4-FFF2-40B4-BE49-F238E27FC236}">
                <a16:creationId xmlns:a16="http://schemas.microsoft.com/office/drawing/2014/main" id="{5AC1D731-CC06-4BCD-912B-7D8C2F6874F7}"/>
              </a:ext>
            </a:extLst>
          </p:cNvPr>
          <p:cNvPicPr preferRelativeResize="0">
            <a:picLocks noGrp="1"/>
          </p:cNvPicPr>
          <p:nvPr>
            <p:ph type="pic" sz="quarter" idx="4294967295"/>
          </p:nvPr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7" b="37"/>
          <a:stretch>
            <a:fillRect/>
          </a:stretch>
        </p:blipFill>
        <p:spPr>
          <a:xfrm>
            <a:off x="10031413" y="720725"/>
            <a:ext cx="2160587" cy="2159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587649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6BC2345B-F403-44E5-97C3-F5BDF024D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Transit des données</a:t>
            </a:r>
            <a:endParaRPr lang="fr-BE"/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7239EF36-E324-CDA2-D6FB-169A237EB9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pic>
        <p:nvPicPr>
          <p:cNvPr id="6" name="Google Shape;39;p8">
            <a:hlinkClick r:id="rId2"/>
            <a:extLst>
              <a:ext uri="{FF2B5EF4-FFF2-40B4-BE49-F238E27FC236}">
                <a16:creationId xmlns:a16="http://schemas.microsoft.com/office/drawing/2014/main" id="{F73F5139-A5C5-497C-AE5C-231EBB7AE61F}"/>
              </a:ext>
            </a:extLst>
          </p:cNvPr>
          <p:cNvPicPr preferRelativeResize="0">
            <a:picLocks noGrp="1"/>
          </p:cNvPicPr>
          <p:nvPr>
            <p:ph type="pic" sz="quarter" idx="10"/>
          </p:nvPr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7" b="37"/>
          <a:stretch/>
        </p:blipFill>
        <p:spPr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505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254A5A39-B674-EF53-040B-C0C074F19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Single Page App. vs Multiple Page App.</a:t>
            </a:r>
          </a:p>
        </p:txBody>
      </p:sp>
      <p:pic>
        <p:nvPicPr>
          <p:cNvPr id="1026" name="Picture 2" descr="SPA vs MPA user experience comparison - SPA is only updating the relevant parts of the page">
            <a:extLst>
              <a:ext uri="{FF2B5EF4-FFF2-40B4-BE49-F238E27FC236}">
                <a16:creationId xmlns:a16="http://schemas.microsoft.com/office/drawing/2014/main" id="{8E2AACD6-13DF-EC45-3257-A94F0D9BEA0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>
            <a:clrChange>
              <a:clrFrom>
                <a:srgbClr val="DFF0F0"/>
              </a:clrFrom>
              <a:clrTo>
                <a:srgbClr val="DFF0F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064593" y="1690688"/>
            <a:ext cx="6345509" cy="4486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A63729AB-B542-54F9-0CA0-C38CE94C7DEA}"/>
              </a:ext>
            </a:extLst>
          </p:cNvPr>
          <p:cNvSpPr txBox="1"/>
          <p:nvPr/>
        </p:nvSpPr>
        <p:spPr>
          <a:xfrm>
            <a:off x="9565858" y="2235175"/>
            <a:ext cx="16227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&lt;form&gt;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6CD49B6-9686-BA3C-E252-B090D501E3ED}"/>
              </a:ext>
            </a:extLst>
          </p:cNvPr>
          <p:cNvSpPr txBox="1"/>
          <p:nvPr/>
        </p:nvSpPr>
        <p:spPr>
          <a:xfrm>
            <a:off x="431988" y="3710805"/>
            <a:ext cx="193764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800" strike="sngStrik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$.ajax()</a:t>
            </a:r>
            <a:b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fetch()</a:t>
            </a:r>
          </a:p>
          <a:p>
            <a:endParaRPr lang="fr-BE" sz="28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760C94B-9822-6519-593A-334C3BAA6F05}"/>
              </a:ext>
            </a:extLst>
          </p:cNvPr>
          <p:cNvSpPr txBox="1"/>
          <p:nvPr/>
        </p:nvSpPr>
        <p:spPr>
          <a:xfrm>
            <a:off x="256478" y="4661212"/>
            <a:ext cx="42263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>
                <a:solidFill>
                  <a:schemeClr val="accent2"/>
                </a:solidFill>
              </a:rPr>
              <a:t>SPA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BE"/>
              <a:t>une seule page HTML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BE"/>
              <a:t>seules les parties pertinentes sont modifiées 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F449FF9-E953-FDDA-36C8-90AF0FF5ED65}"/>
              </a:ext>
            </a:extLst>
          </p:cNvPr>
          <p:cNvSpPr txBox="1"/>
          <p:nvPr/>
        </p:nvSpPr>
        <p:spPr>
          <a:xfrm>
            <a:off x="8688893" y="2771520"/>
            <a:ext cx="337672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>
                <a:solidFill>
                  <a:schemeClr val="accent2"/>
                </a:solidFill>
              </a:rPr>
              <a:t>MPA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BE"/>
              <a:t>plusieurs pages HTML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BE"/>
              <a:t>page entièrement rechargée</a:t>
            </a:r>
          </a:p>
        </p:txBody>
      </p:sp>
    </p:spTree>
    <p:extLst>
      <p:ext uri="{BB962C8B-B14F-4D97-AF65-F5344CB8AC3E}">
        <p14:creationId xmlns:p14="http://schemas.microsoft.com/office/powerpoint/2010/main" val="642635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Objectifs des formulaires</a:t>
            </a:r>
          </a:p>
        </p:txBody>
      </p:sp>
      <p:sp>
        <p:nvSpPr>
          <p:cNvPr id="45" name="Google Shape;45;p9"/>
          <p:cNvSpPr txBox="1"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>
                <a:sym typeface="Courier New"/>
              </a:rPr>
              <a:t>Approche MPA </a:t>
            </a:r>
          </a:p>
          <a:p>
            <a:pPr lvl="1"/>
            <a:r>
              <a:rPr lang="fr-BE">
                <a:sym typeface="Calibri"/>
              </a:rPr>
              <a:t>création d'un formulaire via la balise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&lt;form&gt;</a:t>
            </a:r>
          </a:p>
          <a:p>
            <a:r>
              <a:rPr lang="fr-BE">
                <a:sym typeface="Courier New"/>
              </a:rPr>
              <a:t>Approche SPA</a:t>
            </a:r>
          </a:p>
          <a:p>
            <a:pPr lvl="1"/>
            <a:r>
              <a:rPr lang="fr-BE">
                <a:sym typeface="Calibri"/>
              </a:rPr>
              <a:t>création d'un formulaire muni de requêtes AJAX/Fetch</a:t>
            </a:r>
            <a:endParaRPr lang="fr-BE">
              <a:sym typeface="Courier New"/>
            </a:endParaRPr>
          </a:p>
          <a:p>
            <a:r>
              <a:rPr lang="fr-BE">
                <a:sym typeface="Calibri"/>
              </a:rPr>
              <a:t>Les formulaires sont utilisés pour récolter des informations des utilisateurs.</a:t>
            </a:r>
          </a:p>
          <a:p>
            <a:r>
              <a:rPr lang="fr-BE">
                <a:sym typeface="Calibri"/>
              </a:rPr>
              <a:t>Deux problèmes:</a:t>
            </a:r>
          </a:p>
          <a:p>
            <a:pPr lvl="1"/>
            <a:r>
              <a:rPr lang="fr-BE">
                <a:sym typeface="Calibri"/>
              </a:rPr>
              <a:t>Comment envoyer les données au serveur ?</a:t>
            </a:r>
          </a:p>
          <a:p>
            <a:pPr lvl="1"/>
            <a:r>
              <a:rPr lang="fr-BE">
                <a:sym typeface="Calibri"/>
              </a:rPr>
              <a:t>Comment le serveur traite-t-il les données reçues?</a:t>
            </a:r>
          </a:p>
        </p:txBody>
      </p:sp>
    </p:spTree>
    <p:extLst>
      <p:ext uri="{BB962C8B-B14F-4D97-AF65-F5344CB8AC3E}">
        <p14:creationId xmlns:p14="http://schemas.microsoft.com/office/powerpoint/2010/main" val="28171793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Comment faire transiter les données?</a:t>
            </a:r>
          </a:p>
        </p:txBody>
      </p:sp>
      <p:sp>
        <p:nvSpPr>
          <p:cNvPr id="51" name="Google Shape;51;p10"/>
          <p:cNvSpPr txBox="1"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BE">
                <a:sym typeface="Calibri"/>
              </a:rPr>
              <a:t>Protocole, deux méthodes</a:t>
            </a:r>
          </a:p>
          <a:p>
            <a:pPr lvl="1"/>
            <a:r>
              <a:rPr lang="fr-BE">
                <a:solidFill>
                  <a:schemeClr val="accent2"/>
                </a:solidFill>
                <a:sym typeface="Calibri"/>
              </a:rPr>
              <a:t>GET</a:t>
            </a:r>
            <a:r>
              <a:rPr lang="fr-BE">
                <a:sym typeface="Calibri"/>
              </a:rPr>
              <a:t>: envoie les données dans l'URL de la page</a:t>
            </a:r>
          </a:p>
          <a:p>
            <a:pPr lvl="2"/>
            <a:r>
              <a:rPr lang="fr-BE">
                <a:sym typeface="Courier New"/>
              </a:rPr>
              <a:t>https://www.google.com/search ? </a:t>
            </a:r>
            <a:r>
              <a:rPr lang="fr-BE">
                <a:solidFill>
                  <a:schemeClr val="accent2"/>
                </a:solidFill>
                <a:sym typeface="Courier New"/>
              </a:rPr>
              <a:t>q=</a:t>
            </a:r>
            <a:r>
              <a:rPr lang="fr-BE" err="1">
                <a:solidFill>
                  <a:schemeClr val="accent2"/>
                </a:solidFill>
                <a:sym typeface="Courier New"/>
              </a:rPr>
              <a:t>developpement+photo</a:t>
            </a:r>
            <a:endParaRPr lang="fr-BE">
              <a:solidFill>
                <a:schemeClr val="accent2"/>
              </a:solidFill>
              <a:sym typeface="Courier New"/>
            </a:endParaRPr>
          </a:p>
          <a:p>
            <a:pPr lvl="2"/>
            <a:r>
              <a:rPr lang="fr-BE">
                <a:sym typeface="Calibri"/>
              </a:rPr>
              <a:t>Limité à 255 caractères</a:t>
            </a:r>
          </a:p>
          <a:p>
            <a:pPr lvl="2"/>
            <a:r>
              <a:rPr lang="fr-BE">
                <a:sym typeface="Calibri"/>
              </a:rPr>
              <a:t>Paramètres visibles</a:t>
            </a:r>
          </a:p>
          <a:p>
            <a:pPr lvl="1"/>
            <a:r>
              <a:rPr lang="fr-BE">
                <a:solidFill>
                  <a:schemeClr val="accent2"/>
                </a:solidFill>
                <a:sym typeface="Calibri"/>
              </a:rPr>
              <a:t>POST</a:t>
            </a:r>
            <a:r>
              <a:rPr lang="fr-BE">
                <a:sym typeface="Calibri"/>
              </a:rPr>
              <a:t>: envoie les données via la requête HTTP</a:t>
            </a:r>
          </a:p>
          <a:p>
            <a:pPr lvl="2"/>
            <a:r>
              <a:rPr lang="fr-BE">
                <a:sym typeface="Calibri"/>
              </a:rPr>
              <a:t>Permet de faire transiter un plus gros nombre de caractères</a:t>
            </a:r>
          </a:p>
          <a:p>
            <a:pPr lvl="2"/>
            <a:r>
              <a:rPr lang="fr-BE">
                <a:sym typeface="Calibri"/>
              </a:rPr>
              <a:t>Paramètres invisibles</a:t>
            </a:r>
          </a:p>
          <a:p>
            <a:r>
              <a:rPr lang="fr-BE">
                <a:sym typeface="Calibri"/>
              </a:rPr>
              <a:t>Serveur, un script</a:t>
            </a:r>
          </a:p>
          <a:p>
            <a:pPr lvl="1"/>
            <a:r>
              <a:rPr lang="fr-BE">
                <a:sym typeface="Calibri"/>
              </a:rPr>
              <a:t>Les données du formulaire sont envoyées à un </a:t>
            </a:r>
            <a:r>
              <a:rPr lang="fr-BE">
                <a:solidFill>
                  <a:schemeClr val="accent2"/>
                </a:solidFill>
                <a:sym typeface="Calibri"/>
              </a:rPr>
              <a:t>script</a:t>
            </a:r>
            <a:r>
              <a:rPr lang="fr-BE">
                <a:sym typeface="Calibri"/>
              </a:rPr>
              <a:t> (ex. PHP) qui pourra les traiter.</a:t>
            </a:r>
          </a:p>
          <a:p>
            <a:pPr lvl="1"/>
            <a:endParaRPr lang="fr-BE"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61849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MPA : Déclaration d'un formulaire</a:t>
            </a:r>
          </a:p>
        </p:txBody>
      </p:sp>
      <p:sp>
        <p:nvSpPr>
          <p:cNvPr id="63" name="Google Shape;63;p12"/>
          <p:cNvSpPr txBox="1"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fr-BE">
                <a:sym typeface="Calibri"/>
              </a:rPr>
              <a:t>Balise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&lt;form&gt;</a:t>
            </a:r>
            <a:endParaRPr lang="fr-BE">
              <a:solidFill>
                <a:srgbClr val="996633"/>
              </a:solidFill>
              <a:latin typeface="Consolas" panose="020B0609020204030204" pitchFamily="49" charset="0"/>
              <a:sym typeface="Calibri"/>
            </a:endParaRPr>
          </a:p>
          <a:p>
            <a:r>
              <a:rPr lang="fr-BE">
                <a:sym typeface="Calibri"/>
              </a:rPr>
              <a:t>Transit défini avec l'attribut "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method</a:t>
            </a:r>
            <a:r>
              <a:rPr lang="fr-BE">
                <a:sym typeface="Courier New"/>
              </a:rPr>
              <a:t>"</a:t>
            </a:r>
            <a:endParaRPr lang="fr-BE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  <a:sym typeface="Calibri"/>
            </a:endParaRP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sym typeface="Calibri"/>
              </a:rPr>
              <a:t>method = "</a:t>
            </a: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  <a:sym typeface="Calibri"/>
              </a:rPr>
              <a:t>get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sym typeface="Calibri"/>
              </a:rPr>
              <a:t>"</a:t>
            </a:r>
            <a:r>
              <a:rPr lang="fr-BE">
                <a:sym typeface="Calibri"/>
              </a:rPr>
              <a:t> ou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sym typeface="Calibri"/>
              </a:rPr>
              <a:t>"</a:t>
            </a: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  <a:sym typeface="Calibri"/>
              </a:rPr>
              <a:t>post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sym typeface="Calibri"/>
              </a:rPr>
              <a:t>"</a:t>
            </a:r>
          </a:p>
          <a:p>
            <a:r>
              <a:rPr lang="fr-BE">
                <a:sym typeface="Calibri"/>
              </a:rPr>
              <a:t>Script défini avec l'attribut "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sym typeface="Calibri"/>
              </a:rPr>
              <a:t>action</a:t>
            </a:r>
            <a:r>
              <a:rPr lang="fr-BE">
                <a:sym typeface="Calibri"/>
              </a:rPr>
              <a:t>"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sym typeface="Calibri"/>
              </a:rPr>
              <a:t>action = 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  <a:sym typeface="Calibri"/>
              </a:rPr>
              <a:t>&lt;path du script&gt;</a:t>
            </a:r>
            <a:r>
              <a:rPr lang="fr-BE">
                <a:sym typeface="Calibri"/>
              </a:rPr>
              <a:t> (php ou autre)</a:t>
            </a:r>
          </a:p>
          <a:p>
            <a:pPr lvl="1"/>
            <a:r>
              <a:rPr lang="fr-BE">
                <a:sym typeface="Calibri"/>
              </a:rPr>
              <a:t>Rendez-vous au chapitre 22 !</a:t>
            </a:r>
          </a:p>
          <a:p>
            <a:pPr lvl="1"/>
            <a:r>
              <a:rPr lang="fr-BE">
                <a:sym typeface="Calibri"/>
              </a:rPr>
              <a:t>Programmation en PHP (ou autre) requise </a:t>
            </a:r>
          </a:p>
          <a:p>
            <a:endParaRPr lang="fr-BE">
              <a:sym typeface="Courier New"/>
            </a:endParaRPr>
          </a:p>
          <a:p>
            <a:pPr marL="0" indent="0">
              <a:buNone/>
            </a:pPr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&lt;form method="</a:t>
            </a:r>
            <a:r>
              <a:rPr lang="fr-BE" sz="320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get</a:t>
            </a:r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 action="</a:t>
            </a:r>
            <a:r>
              <a:rPr lang="fr-BE" sz="32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./register.php</a:t>
            </a:r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"&gt;</a:t>
            </a:r>
          </a:p>
          <a:p>
            <a:pPr marL="0" indent="0">
              <a:buNone/>
            </a:pPr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	...</a:t>
            </a:r>
          </a:p>
          <a:p>
            <a:pPr marL="0" indent="0">
              <a:buNone/>
            </a:pPr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&lt;/form&gt;</a:t>
            </a:r>
          </a:p>
        </p:txBody>
      </p:sp>
    </p:spTree>
    <p:extLst>
      <p:ext uri="{BB962C8B-B14F-4D97-AF65-F5344CB8AC3E}">
        <p14:creationId xmlns:p14="http://schemas.microsoft.com/office/powerpoint/2010/main" val="2573610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6BC2345B-F403-44E5-97C3-F5BDF024D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Balises HTML</a:t>
            </a:r>
            <a:endParaRPr lang="fr-BE"/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476AB62D-B7ED-86E3-C02B-C782347789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pic>
        <p:nvPicPr>
          <p:cNvPr id="6" name="Google Shape;39;p8">
            <a:hlinkClick r:id="rId2"/>
            <a:extLst>
              <a:ext uri="{FF2B5EF4-FFF2-40B4-BE49-F238E27FC236}">
                <a16:creationId xmlns:a16="http://schemas.microsoft.com/office/drawing/2014/main" id="{F73F5139-A5C5-497C-AE5C-231EBB7AE61F}"/>
              </a:ext>
            </a:extLst>
          </p:cNvPr>
          <p:cNvPicPr preferRelativeResize="0">
            <a:picLocks noGrp="1"/>
          </p:cNvPicPr>
          <p:nvPr>
            <p:ph type="pic" sz="quarter" idx="10"/>
          </p:nvPr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7" b="37"/>
          <a:stretch/>
        </p:blipFill>
        <p:spPr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3540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3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La balise &lt;input&gt;</a:t>
            </a:r>
          </a:p>
        </p:txBody>
      </p:sp>
      <p:sp>
        <p:nvSpPr>
          <p:cNvPr id="69" name="Google Shape;69;p13"/>
          <p:cNvSpPr txBox="1"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>
                <a:sym typeface="Calibri"/>
              </a:rPr>
              <a:t>L'élément le plus populaire d'un formulaire est la balise 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&lt;input&gt;</a:t>
            </a:r>
            <a:r>
              <a:rPr lang="fr-BE">
                <a:sym typeface="Courier New"/>
              </a:rPr>
              <a:t>.</a:t>
            </a:r>
            <a:endParaRPr lang="fr-BE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  <a:sym typeface="Courier New"/>
            </a:endParaRPr>
          </a:p>
          <a:p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&lt;input&gt;</a:t>
            </a:r>
            <a:r>
              <a:rPr lang="fr-BE">
                <a:sym typeface="Calibri"/>
              </a:rPr>
              <a:t> est utilisé pour recueillir l'information de l'utilisateur.</a:t>
            </a:r>
          </a:p>
          <a:p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&lt;input&gt;</a:t>
            </a:r>
            <a:r>
              <a:rPr lang="fr-BE">
                <a:sym typeface="Calibri"/>
              </a:rPr>
              <a:t> peut être utilisé de nombreuses manières différentes en fonction de la valeur de son attribut 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type</a:t>
            </a:r>
            <a:r>
              <a:rPr lang="fr-BE">
                <a:sym typeface="Courier New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31433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4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La balise &lt;input&gt;</a:t>
            </a:r>
          </a:p>
        </p:txBody>
      </p:sp>
      <p:sp>
        <p:nvSpPr>
          <p:cNvPr id="75" name="Google Shape;75;p14"/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11353800" cy="4351339"/>
          </a:xfrm>
        </p:spPr>
        <p:txBody>
          <a:bodyPr>
            <a:normAutofit/>
          </a:bodyPr>
          <a:lstStyle/>
          <a:p>
            <a:r>
              <a:rPr lang="fr-BE">
                <a:sym typeface="Calibri"/>
              </a:rPr>
              <a:t>Champs de texte</a:t>
            </a:r>
          </a:p>
          <a:p>
            <a:pPr marL="457189" lvl="1" indent="0">
              <a:buNone/>
            </a:pP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&lt;input type="text" name="prenom"&gt;</a:t>
            </a:r>
          </a:p>
          <a:p>
            <a:r>
              <a:rPr lang="fr-BE">
                <a:sym typeface="Calibri"/>
              </a:rPr>
              <a:t>Mot de passe</a:t>
            </a:r>
          </a:p>
          <a:p>
            <a:pPr marL="457189" lvl="1" indent="0">
              <a:buNone/>
            </a:pP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&lt;input type="password" name="pwd"&gt;</a:t>
            </a:r>
          </a:p>
          <a:p>
            <a:r>
              <a:rPr lang="fr-BE">
                <a:sym typeface="Calibri"/>
              </a:rPr>
              <a:t>Bouton radio</a:t>
            </a:r>
          </a:p>
          <a:p>
            <a:pPr marL="457189" lvl="1" indent="0">
              <a:buNone/>
            </a:pP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&lt;input type="radio" </a:t>
            </a:r>
            <a:r>
              <a:rPr lang="fr-BE" sz="2800" b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name="sexe" </a:t>
            </a: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value="m"&gt;Homme</a:t>
            </a:r>
            <a:b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&lt;input type="radio" </a:t>
            </a:r>
            <a:r>
              <a:rPr lang="fr-BE" sz="2800" b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name="sexe" </a:t>
            </a: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value="f"&gt;Femme</a:t>
            </a:r>
          </a:p>
        </p:txBody>
      </p:sp>
      <p:pic>
        <p:nvPicPr>
          <p:cNvPr id="76" name="Google Shape;76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7613" y="1605677"/>
            <a:ext cx="5225811" cy="643038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0280" y="5489612"/>
            <a:ext cx="1621475" cy="907300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4"/>
          <p:cNvSpPr txBox="1"/>
          <p:nvPr/>
        </p:nvSpPr>
        <p:spPr>
          <a:xfrm>
            <a:off x="5912676" y="5477144"/>
            <a:ext cx="5734378" cy="907299"/>
          </a:xfrm>
          <a:prstGeom prst="rect">
            <a:avLst/>
          </a:prstGeom>
          <a:ln>
            <a:noFill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>
                <a:ln w="0"/>
                <a:solidFill>
                  <a:schemeClr val="accent2"/>
                </a:solidFill>
                <a:effectLst/>
              </a:rPr>
              <a:t>ATTENTION : La valeur de "name" doit être la même pour tous les boutons.</a:t>
            </a:r>
            <a:endParaRPr>
              <a:ln w="0"/>
              <a:solidFill>
                <a:schemeClr val="accent2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6061561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5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La balise &lt;input&gt;</a:t>
            </a:r>
          </a:p>
        </p:txBody>
      </p:sp>
      <p:sp>
        <p:nvSpPr>
          <p:cNvPr id="84" name="Google Shape;84;p15"/>
          <p:cNvSpPr txBox="1">
            <a:spLocks noGrp="1"/>
          </p:cNvSpPr>
          <p:nvPr>
            <p:ph idx="1"/>
          </p:nvPr>
        </p:nvSpPr>
        <p:spPr>
          <a:xfrm>
            <a:off x="838199" y="1825625"/>
            <a:ext cx="11279909" cy="4351339"/>
          </a:xfrm>
        </p:spPr>
        <p:txBody>
          <a:bodyPr>
            <a:normAutofit/>
          </a:bodyPr>
          <a:lstStyle/>
          <a:p>
            <a:r>
              <a:rPr lang="fr-BE">
                <a:sym typeface="Calibri"/>
              </a:rPr>
              <a:t>Checkbox</a:t>
            </a:r>
          </a:p>
          <a:p>
            <a:pPr marL="457189" lvl="1" indent="0">
              <a:buNone/>
            </a:pP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&lt;input </a:t>
            </a:r>
            <a:r>
              <a:rPr lang="fr-BE" sz="2800" b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type</a:t>
            </a: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="checkbox" </a:t>
            </a:r>
            <a:b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      </a:t>
            </a:r>
            <a:r>
              <a:rPr lang="fr-BE" sz="2800" b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name</a:t>
            </a: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="type_musique[]" </a:t>
            </a:r>
            <a:b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      </a:t>
            </a:r>
            <a:r>
              <a:rPr lang="fr-BE" sz="2800" b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value</a:t>
            </a: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="pop"&gt;</a:t>
            </a:r>
            <a:b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			Pop</a:t>
            </a:r>
            <a:b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&lt;input type="checkbox" </a:t>
            </a:r>
            <a:b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      name="type_musique[]"</a:t>
            </a:r>
            <a:b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      value="rock"&gt;</a:t>
            </a:r>
            <a:b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			Rock</a:t>
            </a:r>
          </a:p>
          <a:p>
            <a:endParaRPr lang="fr-BE">
              <a:sym typeface="Courier New"/>
            </a:endParaRPr>
          </a:p>
        </p:txBody>
      </p:sp>
      <p:pic>
        <p:nvPicPr>
          <p:cNvPr id="85" name="Google Shape;8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52894" y="3010637"/>
            <a:ext cx="1624211" cy="1143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260670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05919" y="4762616"/>
            <a:ext cx="2903609" cy="180548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6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La balise &lt;select&gt;</a:t>
            </a:r>
          </a:p>
        </p:txBody>
      </p:sp>
      <p:sp>
        <p:nvSpPr>
          <p:cNvPr id="92" name="Google Shape;92;p16"/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11353800" cy="4351339"/>
          </a:xfrm>
        </p:spPr>
        <p:txBody>
          <a:bodyPr/>
          <a:lstStyle/>
          <a:p>
            <a:r>
              <a:rPr lang="fr-BE">
                <a:sym typeface="Calibri"/>
              </a:rPr>
              <a:t>Select</a:t>
            </a:r>
          </a:p>
          <a:p>
            <a:pPr marL="457189" lvl="1" indent="0">
              <a:buNone/>
            </a:pP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&lt;select </a:t>
            </a:r>
            <a:r>
              <a:rPr lang="fr-BE" sz="2800" b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name</a:t>
            </a: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="voiture"&gt;</a:t>
            </a:r>
          </a:p>
          <a:p>
            <a:pPr marL="457189" lvl="1" indent="0">
              <a:buNone/>
            </a:pP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 &lt;option </a:t>
            </a:r>
            <a:r>
              <a:rPr lang="fr-BE" sz="2800" b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value</a:t>
            </a: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=""&gt;&lt;/option&gt;</a:t>
            </a:r>
          </a:p>
          <a:p>
            <a:pPr marL="457189" lvl="1" indent="0">
              <a:buNone/>
            </a:pP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 &lt;option </a:t>
            </a:r>
            <a:r>
              <a:rPr lang="fr-BE" sz="2800" b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value</a:t>
            </a: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="c"&gt;Chocolate&lt;/option&gt;</a:t>
            </a:r>
          </a:p>
          <a:p>
            <a:pPr marL="457189" lvl="1" indent="0">
              <a:buNone/>
            </a:pP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 &lt;option </a:t>
            </a:r>
            <a:r>
              <a:rPr lang="fr-BE" sz="2800" b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value</a:t>
            </a: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="s" </a:t>
            </a:r>
            <a:r>
              <a:rPr lang="fr-BE" sz="2800" b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selected</a:t>
            </a: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&gt;Strawberry&lt;/option&gt;</a:t>
            </a:r>
          </a:p>
          <a:p>
            <a:pPr marL="457189" lvl="1" indent="0">
              <a:buNone/>
            </a:pP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 &lt;option </a:t>
            </a:r>
            <a:r>
              <a:rPr lang="fr-BE" sz="2800" b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value</a:t>
            </a: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="v"&gt;Vanilla&lt;/option&gt;</a:t>
            </a:r>
          </a:p>
          <a:p>
            <a:pPr marL="457189" lvl="1" indent="0">
              <a:buNone/>
            </a:pP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&lt;/select&gt;</a:t>
            </a:r>
          </a:p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251578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7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L'attribut “value” de la balise &lt;input&gt;</a:t>
            </a:r>
          </a:p>
        </p:txBody>
      </p:sp>
      <p:sp>
        <p:nvSpPr>
          <p:cNvPr id="98" name="Google Shape;98;p17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Lorsque le formulaire est envoyé, ce sont les valeurs des attributs 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value</a:t>
            </a:r>
            <a:r>
              <a:rPr lang="fr-BE">
                <a:sym typeface="Courier New"/>
              </a:rPr>
              <a:t> </a:t>
            </a:r>
            <a:r>
              <a:rPr lang="fr-BE"/>
              <a:t>qui sont envoyés au serveur, liées au nom de l'input (attribut 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name</a:t>
            </a:r>
            <a:r>
              <a:rPr lang="fr-BE"/>
              <a:t>).</a:t>
            </a:r>
          </a:p>
          <a:p>
            <a:r>
              <a:rPr lang="fr-BE"/>
              <a:t>Ecrire dans un 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input</a:t>
            </a:r>
            <a:r>
              <a:rPr lang="fr-BE">
                <a:sym typeface="Courier New"/>
              </a:rPr>
              <a:t> </a:t>
            </a:r>
            <a:r>
              <a:rPr lang="fr-BE"/>
              <a:t>de type texte modifie son attribut 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value.</a:t>
            </a:r>
          </a:p>
        </p:txBody>
      </p:sp>
    </p:spTree>
    <p:extLst>
      <p:ext uri="{BB962C8B-B14F-4D97-AF65-F5344CB8AC3E}">
        <p14:creationId xmlns:p14="http://schemas.microsoft.com/office/powerpoint/2010/main" val="3977467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8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La balise &lt;textarea&gt;</a:t>
            </a:r>
          </a:p>
        </p:txBody>
      </p:sp>
      <p:sp>
        <p:nvSpPr>
          <p:cNvPr id="104" name="Google Shape;104;p18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Zone de texte</a:t>
            </a:r>
          </a:p>
          <a:p>
            <a:pPr marL="457189" lvl="1" indent="0">
              <a:buNone/>
            </a:pP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</a:t>
            </a:r>
            <a:r>
              <a:rPr lang="fr-BE" b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textarea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rows="10" cols="30"&gt;</a:t>
            </a:r>
          </a:p>
          <a:p>
            <a:pPr marL="457189" lvl="1" indent="0">
              <a:buNone/>
            </a:pP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	Ceci est un texte déjà inscrit</a:t>
            </a:r>
          </a:p>
          <a:p>
            <a:pPr marL="457189" lvl="1" indent="0">
              <a:buNone/>
            </a:pP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 dans la zone de texte.</a:t>
            </a:r>
          </a:p>
          <a:p>
            <a:pPr marL="457189" lvl="1" indent="0">
              <a:buNone/>
            </a:pP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&lt;/textarea&gt;</a:t>
            </a:r>
          </a:p>
          <a:p>
            <a:endParaRPr lang="fr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/>
          <a:srcRect b="51013"/>
          <a:stretch/>
        </p:blipFill>
        <p:spPr>
          <a:xfrm>
            <a:off x="2591623" y="4759741"/>
            <a:ext cx="6157696" cy="15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997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La balise &lt;label&gt;, 1</a:t>
            </a:r>
            <a:r>
              <a:rPr lang="fr-BE" baseline="30000"/>
              <a:t>ère</a:t>
            </a:r>
            <a:r>
              <a:rPr lang="fr-BE"/>
              <a:t> manière</a:t>
            </a:r>
          </a:p>
        </p:txBody>
      </p:sp>
      <p:sp>
        <p:nvSpPr>
          <p:cNvPr id="111" name="Google Shape;111;p19"/>
          <p:cNvSpPr txBox="1">
            <a:spLocks noGrp="1"/>
          </p:cNvSpPr>
          <p:nvPr>
            <p:ph idx="1"/>
          </p:nvPr>
        </p:nvSpPr>
        <p:spPr>
          <a:xfrm>
            <a:off x="838200" y="1690688"/>
            <a:ext cx="10515600" cy="5167311"/>
          </a:xfrm>
        </p:spPr>
        <p:txBody>
          <a:bodyPr>
            <a:normAutofit fontScale="92500" lnSpcReduction="20000"/>
          </a:bodyPr>
          <a:lstStyle/>
          <a:p>
            <a:r>
              <a:rPr lang="fr-BE">
                <a:sym typeface="Calibri"/>
              </a:rPr>
              <a:t>Cherchez son utilité ! </a:t>
            </a:r>
          </a:p>
          <a:p>
            <a:pPr marL="457189" lvl="1" indent="0">
              <a:buNone/>
            </a:pPr>
            <a:r>
              <a:rPr lang="fr-BE" b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&lt;label&gt;</a:t>
            </a:r>
            <a:br>
              <a:rPr lang="fr-BE" b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b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   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Male</a:t>
            </a:r>
          </a:p>
          <a:p>
            <a:pPr marL="457189" lvl="1" indent="0">
              <a:buNone/>
            </a:pP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   &lt;</a:t>
            </a:r>
            <a:r>
              <a:rPr lang="fr-BE" b="1">
                <a:solidFill>
                  <a:schemeClr val="accent5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input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type="radio" </a:t>
            </a:r>
            <a:b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       name="sex" </a:t>
            </a:r>
            <a:b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       value="male" &gt;</a:t>
            </a:r>
          </a:p>
          <a:p>
            <a:pPr marL="457189" lvl="1" indent="0">
              <a:buNone/>
            </a:pPr>
            <a:r>
              <a:rPr lang="fr-BE" b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&lt;/label&gt;</a:t>
            </a:r>
          </a:p>
          <a:p>
            <a:pPr marL="457189" lvl="1" indent="0">
              <a:buNone/>
            </a:pP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&lt;label&gt;</a:t>
            </a:r>
            <a:b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   Female</a:t>
            </a:r>
          </a:p>
          <a:p>
            <a:pPr marL="457189" lvl="1" indent="0">
              <a:buNone/>
            </a:pP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   &lt;input type="radio" </a:t>
            </a:r>
            <a:b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       name="sex"</a:t>
            </a:r>
            <a:b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       value="female"&gt;</a:t>
            </a:r>
            <a:b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&lt;/label&gt;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419" y="3335281"/>
            <a:ext cx="1986059" cy="1120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892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La balise &lt;label&gt;, 2</a:t>
            </a:r>
            <a:r>
              <a:rPr lang="fr-BE" baseline="30000"/>
              <a:t>ème</a:t>
            </a:r>
            <a:r>
              <a:rPr lang="fr-BE"/>
              <a:t> manière</a:t>
            </a:r>
          </a:p>
        </p:txBody>
      </p:sp>
      <p:sp>
        <p:nvSpPr>
          <p:cNvPr id="111" name="Google Shape;111;p19"/>
          <p:cNvSpPr txBox="1"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>
                <a:sym typeface="Calibri"/>
              </a:rPr>
              <a:t>Cherchez son utilité ! </a:t>
            </a:r>
          </a:p>
          <a:p>
            <a:pPr marL="457189" lvl="1" indent="0">
              <a:buNone/>
            </a:pP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</a:t>
            </a:r>
            <a:r>
              <a:rPr lang="fr-BE" b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label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</a:t>
            </a:r>
            <a:r>
              <a:rPr lang="fr-BE" b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for="male"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&gt;Male&lt;/label&gt;</a:t>
            </a:r>
          </a:p>
          <a:p>
            <a:pPr marL="457189" lvl="1" indent="0">
              <a:buNone/>
            </a:pP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</a:t>
            </a:r>
            <a:r>
              <a:rPr lang="fr-BE" b="1">
                <a:solidFill>
                  <a:schemeClr val="accent5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input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type="radio" </a:t>
            </a:r>
            <a:b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      name="sex" </a:t>
            </a:r>
            <a:b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      </a:t>
            </a:r>
            <a:r>
              <a:rPr lang="fr-BE" b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id="male"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</a:t>
            </a:r>
            <a:b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      value="male" &gt;</a:t>
            </a:r>
          </a:p>
          <a:p>
            <a:pPr marL="457189" lvl="1" indent="0">
              <a:buNone/>
            </a:pP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&lt;label for="female"&gt;Female&lt;/label&gt;</a:t>
            </a:r>
          </a:p>
          <a:p>
            <a:pPr marL="457189" lvl="1" indent="0">
              <a:buNone/>
            </a:pP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&lt;input type="radio" name="sex"</a:t>
            </a:r>
            <a:b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      id="female" value="female"&gt;</a:t>
            </a:r>
          </a:p>
          <a:p>
            <a:endParaRPr lang="fr-BE">
              <a:sym typeface="Courier New"/>
            </a:endParaRPr>
          </a:p>
          <a:p>
            <a:endParaRPr lang="fr-BE">
              <a:sym typeface="Courier New"/>
            </a:endParaRPr>
          </a:p>
          <a:p>
            <a:endParaRPr lang="fr-BE">
              <a:sym typeface="Courier New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1659" y="3091441"/>
            <a:ext cx="1986059" cy="1120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1919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0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La balise &lt;datalist&gt;</a:t>
            </a:r>
          </a:p>
        </p:txBody>
      </p:sp>
      <p:sp>
        <p:nvSpPr>
          <p:cNvPr id="117" name="Google Shape;117;p20"/>
          <p:cNvSpPr txBox="1"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>
                <a:sym typeface="Calibri"/>
              </a:rPr>
              <a:t>Cherchez son utilité ! </a:t>
            </a:r>
          </a:p>
          <a:p>
            <a:pPr marL="457189" lvl="1" indent="0">
              <a:buNone/>
            </a:pP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&lt;input </a:t>
            </a:r>
            <a:r>
              <a:rPr lang="fr-BE" b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list="browsers"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&gt;</a:t>
            </a:r>
          </a:p>
          <a:p>
            <a:pPr marL="457189" lvl="1" indent="0">
              <a:buNone/>
            </a:pP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</a:t>
            </a:r>
            <a:r>
              <a:rPr lang="fr-BE" b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datalist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</a:t>
            </a:r>
            <a:r>
              <a:rPr lang="fr-BE" b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id="browsers"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&gt;</a:t>
            </a:r>
          </a:p>
          <a:p>
            <a:pPr marL="457189" lvl="1" indent="0">
              <a:buNone/>
            </a:pP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 &lt;option value="Internet Explorer"&gt;</a:t>
            </a:r>
          </a:p>
          <a:p>
            <a:pPr marL="457189" lvl="1" indent="0">
              <a:buNone/>
            </a:pP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 &lt;option value="Firefox"&gt;</a:t>
            </a:r>
          </a:p>
          <a:p>
            <a:pPr marL="457189" lvl="1" indent="0">
              <a:buNone/>
            </a:pP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 &lt;option value="Chrome"&gt;</a:t>
            </a:r>
          </a:p>
          <a:p>
            <a:pPr marL="457189" lvl="1" indent="0">
              <a:buNone/>
            </a:pP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 &lt;option value="Opera"&gt;</a:t>
            </a:r>
          </a:p>
          <a:p>
            <a:pPr marL="457189" lvl="1" indent="0">
              <a:buNone/>
            </a:pP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 &lt;option value="Safari"&gt;</a:t>
            </a:r>
          </a:p>
          <a:p>
            <a:pPr marL="457189" lvl="1" indent="0">
              <a:buNone/>
            </a:pP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&lt;/datalist&gt;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247" y="3929639"/>
            <a:ext cx="3178251" cy="27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414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6BC2345B-F403-44E5-97C3-F5BDF024D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Balises HTML 5</a:t>
            </a:r>
            <a:endParaRPr lang="fr-BE"/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476AB62D-B7ED-86E3-C02B-C782347789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pic>
        <p:nvPicPr>
          <p:cNvPr id="6" name="Google Shape;39;p8">
            <a:hlinkClick r:id="rId2"/>
            <a:extLst>
              <a:ext uri="{FF2B5EF4-FFF2-40B4-BE49-F238E27FC236}">
                <a16:creationId xmlns:a16="http://schemas.microsoft.com/office/drawing/2014/main" id="{F73F5139-A5C5-497C-AE5C-231EBB7AE61F}"/>
              </a:ext>
            </a:extLst>
          </p:cNvPr>
          <p:cNvPicPr preferRelativeResize="0">
            <a:picLocks noGrp="1"/>
          </p:cNvPicPr>
          <p:nvPr>
            <p:ph type="pic" sz="quarter" idx="10"/>
          </p:nvPr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7" b="37"/>
          <a:stretch/>
        </p:blipFill>
        <p:spPr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00044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Input Types introduits en HTML5</a:t>
            </a:r>
          </a:p>
        </p:txBody>
      </p:sp>
      <p:sp>
        <p:nvSpPr>
          <p:cNvPr id="123" name="Google Shape;123;p21"/>
          <p:cNvSpPr txBox="1">
            <a:spLocks noGrp="1"/>
          </p:cNvSpPr>
          <p:nvPr>
            <p:ph sz="half" idx="1"/>
          </p:nvPr>
        </p:nvSpPr>
        <p:spPr/>
        <p:txBody>
          <a:bodyPr numCol="2">
            <a:normAutofit lnSpcReduction="10000"/>
          </a:bodyPr>
          <a:lstStyle/>
          <a:p>
            <a:r>
              <a:rPr lang="en-US"/>
              <a:t>color</a:t>
            </a:r>
          </a:p>
          <a:p>
            <a:r>
              <a:rPr lang="en-US"/>
              <a:t>date</a:t>
            </a:r>
          </a:p>
          <a:p>
            <a:r>
              <a:rPr lang="en-US"/>
              <a:t>datetime</a:t>
            </a:r>
          </a:p>
          <a:p>
            <a:r>
              <a:rPr lang="en-US"/>
              <a:t>datetime-local</a:t>
            </a:r>
          </a:p>
          <a:p>
            <a:r>
              <a:rPr lang="en-US"/>
              <a:t>email</a:t>
            </a:r>
          </a:p>
          <a:p>
            <a:r>
              <a:rPr lang="en-US"/>
              <a:t>month</a:t>
            </a:r>
          </a:p>
          <a:p>
            <a:r>
              <a:rPr lang="en-US"/>
              <a:t>number</a:t>
            </a:r>
          </a:p>
          <a:p>
            <a:r>
              <a:rPr lang="en-US"/>
              <a:t>range</a:t>
            </a:r>
          </a:p>
          <a:p>
            <a:r>
              <a:rPr lang="en-US"/>
              <a:t>search</a:t>
            </a:r>
          </a:p>
          <a:p>
            <a:r>
              <a:rPr lang="en-US"/>
              <a:t>tel (mobile)</a:t>
            </a:r>
          </a:p>
          <a:p>
            <a:r>
              <a:rPr lang="en-US"/>
              <a:t>time</a:t>
            </a:r>
          </a:p>
          <a:p>
            <a:r>
              <a:rPr lang="en-US"/>
              <a:t>url</a:t>
            </a:r>
          </a:p>
          <a:p>
            <a:r>
              <a:rPr lang="en-US"/>
              <a:t>week</a:t>
            </a:r>
            <a:endParaRPr lang="en-US">
              <a:sym typeface="Verdana"/>
            </a:endParaRPr>
          </a:p>
          <a:p>
            <a:endParaRPr lang="en-US"/>
          </a:p>
        </p:txBody>
      </p:sp>
      <p:pic>
        <p:nvPicPr>
          <p:cNvPr id="9" name="Content Placeholder 8"/>
          <p:cNvPicPr>
            <a:picLocks noGrp="1" noChangeAspect="1"/>
          </p:cNvPicPr>
          <p:nvPr>
            <p:ph sz="half" idx="2"/>
          </p:nvPr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72200" y="2071250"/>
            <a:ext cx="5181600" cy="37251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202042" y="1533237"/>
            <a:ext cx="512191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BE" sz="32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&lt;input type="</a:t>
            </a:r>
            <a:r>
              <a:rPr lang="fr-BE" sz="3200" b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fr-BE" sz="32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"&gt;</a:t>
            </a:r>
          </a:p>
        </p:txBody>
      </p:sp>
    </p:spTree>
    <p:extLst>
      <p:ext uri="{BB962C8B-B14F-4D97-AF65-F5344CB8AC3E}">
        <p14:creationId xmlns:p14="http://schemas.microsoft.com/office/powerpoint/2010/main" val="26231861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2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Attributs - HTML(5)</a:t>
            </a:r>
          </a:p>
        </p:txBody>
      </p:sp>
      <p:sp>
        <p:nvSpPr>
          <p:cNvPr id="129" name="Google Shape;129;p22"/>
          <p:cNvSpPr txBox="1"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fr-BE"/>
              <a:t>Quelques attributs utiles pour </a:t>
            </a:r>
            <a:r>
              <a:rPr lang="fr-BE" sz="32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&lt;input&gt; </a:t>
            </a:r>
            <a:r>
              <a:rPr lang="fr-BE"/>
              <a:t>:</a:t>
            </a:r>
            <a:endParaRPr lang="fr-BE" sz="3200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fr-BE" b="1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checked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</a:t>
            </a:r>
            <a:r>
              <a:rPr lang="fr-BE"/>
              <a:t>(</a:t>
            </a:r>
            <a:r>
              <a:rPr lang="fr-BE" err="1"/>
              <a:t>checkbox</a:t>
            </a:r>
            <a:r>
              <a:rPr lang="fr-BE"/>
              <a:t>, radio)</a:t>
            </a:r>
          </a:p>
          <a:p>
            <a:pPr lvl="1"/>
            <a:r>
              <a:rPr lang="fr-BE" b="1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disabled</a:t>
            </a:r>
            <a:endParaRPr lang="fr-BE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  <a:sym typeface="Courier New"/>
            </a:endParaRPr>
          </a:p>
          <a:p>
            <a:pPr lvl="1"/>
            <a:r>
              <a:rPr lang="fr-BE" b="1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height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</a:t>
            </a:r>
            <a:r>
              <a:rPr lang="fr-BE"/>
              <a:t>et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BE" b="1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width</a:t>
            </a:r>
            <a:endParaRPr lang="fr-BE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  <a:sym typeface="Courier New"/>
            </a:endParaRPr>
          </a:p>
          <a:p>
            <a:pPr lvl="1"/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min </a:t>
            </a:r>
            <a:r>
              <a:rPr lang="fr-BE"/>
              <a:t>et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max </a:t>
            </a:r>
            <a:r>
              <a:rPr lang="fr-BE"/>
              <a:t>(nombre, date)</a:t>
            </a:r>
          </a:p>
          <a:p>
            <a:pPr lvl="1"/>
            <a:r>
              <a:rPr lang="fr-BE" b="1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maxlength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</a:t>
            </a:r>
            <a:r>
              <a:rPr lang="fr-BE"/>
              <a:t>(nombre caractère max.)</a:t>
            </a:r>
            <a:endParaRPr lang="fr-BE">
              <a:sym typeface="Courier New"/>
            </a:endParaRPr>
          </a:p>
          <a:p>
            <a:pPr lvl="1"/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multiple </a:t>
            </a:r>
            <a:r>
              <a:rPr lang="fr-BE"/>
              <a:t>(email, file)</a:t>
            </a:r>
          </a:p>
          <a:p>
            <a:pPr lvl="1"/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pattern </a:t>
            </a:r>
            <a:r>
              <a:rPr lang="fr-BE"/>
              <a:t>(</a:t>
            </a:r>
            <a:r>
              <a:rPr lang="fr-BE" err="1"/>
              <a:t>regexp</a:t>
            </a:r>
            <a:r>
              <a:rPr lang="fr-BE"/>
              <a:t>)</a:t>
            </a:r>
          </a:p>
          <a:p>
            <a:pPr lvl="1"/>
            <a:r>
              <a:rPr lang="fr-BE" b="1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placeholder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</a:t>
            </a:r>
            <a:r>
              <a:rPr lang="fr-BE"/>
              <a:t>(exemple d'input de l'élément)</a:t>
            </a:r>
          </a:p>
          <a:p>
            <a:pPr lvl="1"/>
            <a:r>
              <a:rPr lang="fr-BE" b="1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required</a:t>
            </a:r>
            <a:endParaRPr lang="fr-BE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  <a:sym typeface="Courier New"/>
            </a:endParaRPr>
          </a:p>
          <a:p>
            <a:pPr lvl="1"/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841333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3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Soumettre un formulaire </a:t>
            </a:r>
          </a:p>
        </p:txBody>
      </p:sp>
      <p:sp>
        <p:nvSpPr>
          <p:cNvPr id="135" name="Google Shape;135;p23"/>
          <p:cNvSpPr txBox="1"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BE">
                <a:sym typeface="Calibri"/>
              </a:rPr>
              <a:t>Une fois rempli, le formulaire est "soumis au serveur", càd que les données y sont envoyées.</a:t>
            </a:r>
          </a:p>
          <a:p>
            <a:r>
              <a:rPr lang="fr-BE">
                <a:sym typeface="Calibri"/>
              </a:rPr>
              <a:t>Bouton de type “</a:t>
            </a:r>
            <a:r>
              <a:rPr lang="fr-BE" err="1">
                <a:solidFill>
                  <a:schemeClr val="accent2"/>
                </a:solidFill>
                <a:sym typeface="Calibri"/>
              </a:rPr>
              <a:t>submit</a:t>
            </a:r>
            <a:r>
              <a:rPr lang="fr-BE">
                <a:sym typeface="Calibri"/>
              </a:rPr>
              <a:t>” </a:t>
            </a:r>
          </a:p>
          <a:p>
            <a:pPr marL="457189" lvl="1" indent="0">
              <a:buNone/>
            </a:pP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</a:t>
            </a:r>
            <a:r>
              <a:rPr lang="fr-BE" b="1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button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type="</a:t>
            </a:r>
            <a:r>
              <a:rPr lang="fr-BE" b="1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submit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"&gt;S'inscrire&lt;/</a:t>
            </a:r>
            <a:r>
              <a:rPr lang="fr-BE" b="1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button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&gt;</a:t>
            </a:r>
            <a:endParaRPr lang="fr-BE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  <a:sym typeface="Calibri"/>
            </a:endParaRPr>
          </a:p>
          <a:p>
            <a:pPr lvl="1"/>
            <a:r>
              <a:rPr lang="fr-BE">
                <a:sym typeface="Calibri"/>
              </a:rPr>
              <a:t>remarque : il </a:t>
            </a:r>
            <a:r>
              <a:rPr lang="fr-BE" err="1">
                <a:sym typeface="Calibri"/>
              </a:rPr>
              <a:t>exite</a:t>
            </a:r>
            <a:r>
              <a:rPr lang="fr-BE">
                <a:sym typeface="Calibri"/>
              </a:rPr>
              <a:t> un codage ancien</a:t>
            </a:r>
            <a:br>
              <a:rPr lang="fr-BE">
                <a:sym typeface="Calibri"/>
              </a:rPr>
            </a:br>
            <a:r>
              <a:rPr lang="fr-BE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&lt;input type="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submit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" value="S'inscrire"&gt;</a:t>
            </a:r>
          </a:p>
          <a:p>
            <a:r>
              <a:rPr lang="fr-BE">
                <a:sym typeface="Calibri"/>
              </a:rPr>
              <a:t>Bouton de type “</a:t>
            </a:r>
            <a:r>
              <a:rPr lang="fr-BE" err="1">
                <a:solidFill>
                  <a:schemeClr val="accent2"/>
                </a:solidFill>
                <a:sym typeface="Calibri"/>
              </a:rPr>
              <a:t>button</a:t>
            </a:r>
            <a:r>
              <a:rPr lang="fr-BE">
                <a:sym typeface="Calibri"/>
              </a:rPr>
              <a:t>”</a:t>
            </a:r>
          </a:p>
          <a:p>
            <a:pPr lvl="1"/>
            <a:r>
              <a:rPr lang="fr-BE">
                <a:sym typeface="Calibri"/>
              </a:rPr>
              <a:t>appel d'un code JavaScript = programmation !</a:t>
            </a:r>
          </a:p>
          <a:p>
            <a:pPr lvl="1"/>
            <a:r>
              <a:rPr lang="fr-BE">
                <a:sym typeface="Calibri"/>
              </a:rPr>
              <a:t>formulaire non envoyé automatiquement au serveur</a:t>
            </a:r>
          </a:p>
          <a:p>
            <a:pPr lvl="1"/>
            <a:r>
              <a:rPr lang="fr-BE">
                <a:sym typeface="Calibri"/>
              </a:rPr>
              <a:t>exemple : un tel bouton peut valider les input, envoyer le </a:t>
            </a:r>
            <a:r>
              <a:rPr lang="fr-BE" err="1">
                <a:sym typeface="Calibri"/>
              </a:rPr>
              <a:t>form</a:t>
            </a:r>
            <a:r>
              <a:rPr lang="fr-BE">
                <a:sym typeface="Calibri"/>
              </a:rPr>
              <a:t> au serveur et afficher "veuillez patienter".</a:t>
            </a:r>
          </a:p>
        </p:txBody>
      </p:sp>
      <p:pic>
        <p:nvPicPr>
          <p:cNvPr id="136" name="Google Shape;136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83171" y="632668"/>
            <a:ext cx="2196375" cy="9213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143382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0BBCCE-1F42-461F-8A23-86524CC68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01 : Sample "Atomic" Form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5875B2-75BB-4B16-80B8-D47D82AD71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2181224"/>
          </a:xfrm>
        </p:spPr>
        <p:txBody>
          <a:bodyPr numCol="1">
            <a:normAutofit/>
          </a:bodyPr>
          <a:lstStyle/>
          <a:p>
            <a:r>
              <a:rPr lang="fr-BE"/>
              <a:t>Télécharger et placer dans le WAMP</a:t>
            </a:r>
          </a:p>
          <a:p>
            <a:pPr lvl="1"/>
            <a:r>
              <a:rPr lang="en-US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exo06-01_sample_atomic_form.html</a:t>
            </a:r>
            <a:endParaRPr lang="fr-BE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BE"/>
              <a:t>Exemple de 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2F5B0D2-F4F6-4962-92C4-9372257CD4C0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0" y="3425825"/>
            <a:ext cx="10766425" cy="2747963"/>
          </a:xfrm>
        </p:spPr>
        <p:txBody>
          <a:bodyPr numCol="2">
            <a:normAutofit/>
          </a:bodyPr>
          <a:lstStyle/>
          <a:p>
            <a:pPr lvl="1"/>
            <a:r>
              <a:rPr lang="fr-BE"/>
              <a:t>Input type </a:t>
            </a:r>
            <a:r>
              <a:rPr lang="fr-BE" err="1"/>
              <a:t>text</a:t>
            </a:r>
            <a:endParaRPr lang="fr-BE"/>
          </a:p>
          <a:p>
            <a:pPr lvl="1"/>
            <a:r>
              <a:rPr lang="fr-BE"/>
              <a:t>Input type </a:t>
            </a:r>
            <a:r>
              <a:rPr lang="fr-BE" err="1"/>
              <a:t>password</a:t>
            </a:r>
            <a:endParaRPr lang="fr-BE"/>
          </a:p>
          <a:p>
            <a:pPr lvl="1"/>
            <a:r>
              <a:rPr lang="fr-BE"/>
              <a:t>Input type radio </a:t>
            </a:r>
          </a:p>
          <a:p>
            <a:pPr lvl="1"/>
            <a:r>
              <a:rPr lang="fr-BE"/>
              <a:t>Input type </a:t>
            </a:r>
            <a:r>
              <a:rPr lang="fr-BE" err="1"/>
              <a:t>checkbox</a:t>
            </a:r>
            <a:endParaRPr lang="fr-BE"/>
          </a:p>
          <a:p>
            <a:pPr lvl="1"/>
            <a:r>
              <a:rPr lang="fr-BE"/>
              <a:t>Select option</a:t>
            </a:r>
          </a:p>
          <a:p>
            <a:pPr lvl="1"/>
            <a:r>
              <a:rPr lang="fr-BE"/>
              <a:t>Input + Datalist</a:t>
            </a:r>
          </a:p>
          <a:p>
            <a:pPr lvl="1"/>
            <a:r>
              <a:rPr lang="fr-BE"/>
              <a:t>Input type color</a:t>
            </a:r>
          </a:p>
          <a:p>
            <a:pPr lvl="1"/>
            <a:r>
              <a:rPr lang="fr-BE"/>
              <a:t>Input type range</a:t>
            </a:r>
          </a:p>
          <a:p>
            <a:pPr lvl="1"/>
            <a:r>
              <a:rPr lang="fr-BE"/>
              <a:t>Button type </a:t>
            </a:r>
            <a:r>
              <a:rPr lang="fr-BE" err="1"/>
              <a:t>submit</a:t>
            </a:r>
            <a:endParaRPr lang="fr-BE"/>
          </a:p>
          <a:p>
            <a:pPr lvl="1"/>
            <a:r>
              <a:rPr lang="fr-BE"/>
              <a:t>Button type button</a:t>
            </a:r>
          </a:p>
        </p:txBody>
      </p:sp>
    </p:spTree>
    <p:extLst>
      <p:ext uri="{BB962C8B-B14F-4D97-AF65-F5344CB8AC3E}">
        <p14:creationId xmlns:p14="http://schemas.microsoft.com/office/powerpoint/2010/main" val="1033182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0BBCCE-1F42-461F-8A23-86524CC68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03 : Sample "Molecular" Form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5875B2-75BB-4B16-80B8-D47D82AD71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802186"/>
          </a:xfrm>
        </p:spPr>
        <p:txBody>
          <a:bodyPr numCol="1">
            <a:normAutofit/>
          </a:bodyPr>
          <a:lstStyle/>
          <a:p>
            <a:r>
              <a:rPr lang="fr-BE"/>
              <a:t>Télécharger et placer dans le WAMP les deux fichiers </a:t>
            </a:r>
          </a:p>
          <a:p>
            <a:pPr lvl="1"/>
            <a:r>
              <a:rPr lang="en-US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exo06-03_sample_atomic_form.html</a:t>
            </a:r>
            <a:endParaRPr lang="fr-BE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BE"/>
              <a:t>Exemple de</a:t>
            </a:r>
          </a:p>
          <a:p>
            <a:pPr lvl="1"/>
            <a:r>
              <a:rPr lang="fr-BE"/>
              <a:t>Image Upload</a:t>
            </a:r>
          </a:p>
          <a:p>
            <a:pPr lvl="1"/>
            <a:r>
              <a:rPr lang="fr-BE"/>
              <a:t>File Upload</a:t>
            </a:r>
          </a:p>
        </p:txBody>
      </p:sp>
    </p:spTree>
    <p:extLst>
      <p:ext uri="{BB962C8B-B14F-4D97-AF65-F5344CB8AC3E}">
        <p14:creationId xmlns:p14="http://schemas.microsoft.com/office/powerpoint/2010/main" val="1419265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7"/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/>
              <a:t>Exo 05 : Catalogue + </a:t>
            </a:r>
            <a:r>
              <a:rPr lang="fr-BE" err="1"/>
              <a:t>Form</a:t>
            </a:r>
            <a:r>
              <a:rPr lang="fr-BE"/>
              <a:t> Input</a:t>
            </a:r>
          </a:p>
        </p:txBody>
      </p:sp>
      <p:sp>
        <p:nvSpPr>
          <p:cNvPr id="162" name="Google Shape;162;p27"/>
          <p:cNvSpPr txBox="1"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fr-BE"/>
              <a:t>Créer un formulaire qui permet d’ajouter des éléments dans le tableau HTML.</a:t>
            </a:r>
          </a:p>
          <a:p>
            <a:r>
              <a:rPr lang="fr-BE"/>
              <a:t>Ci-contre un exemple de formulaire.</a:t>
            </a:r>
          </a:p>
        </p:txBody>
      </p:sp>
      <p:pic>
        <p:nvPicPr>
          <p:cNvPr id="9" name="Google Shape;163;p27"/>
          <p:cNvPicPr preferRelativeResize="0">
            <a:picLocks noGrp="1"/>
          </p:cNvPicPr>
          <p:nvPr>
            <p:ph sz="half" idx="2"/>
          </p:nvPr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72200" y="2863891"/>
            <a:ext cx="5181600" cy="213986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7561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09AE7C-69AD-D134-4C09-E741F7800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06 : commande de sandwich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FA02B5E5-64E8-7CEF-9419-7449BB438B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Créez un formulaire permettant de commander un sandwiche</a:t>
            </a:r>
          </a:p>
          <a:p>
            <a:pPr lvl="1"/>
            <a:r>
              <a:rPr lang="fr-BE"/>
              <a:t>votre nom</a:t>
            </a:r>
          </a:p>
          <a:p>
            <a:pPr lvl="1"/>
            <a:r>
              <a:rPr lang="fr-BE"/>
              <a:t>baguette : blanc ou gris</a:t>
            </a:r>
          </a:p>
          <a:p>
            <a:pPr lvl="1"/>
            <a:r>
              <a:rPr lang="fr-BE"/>
              <a:t>garniture principale : poulet curry, thon piquant, boulette</a:t>
            </a:r>
          </a:p>
          <a:p>
            <a:pPr lvl="1"/>
            <a:r>
              <a:rPr lang="fr-BE"/>
              <a:t>garniture secondaire : carotte, salade, concombre </a:t>
            </a:r>
          </a:p>
          <a:p>
            <a:pPr lvl="1"/>
            <a:r>
              <a:rPr lang="fr-BE"/>
              <a:t>avec ou sans mayonnaise</a:t>
            </a:r>
          </a:p>
        </p:txBody>
      </p:sp>
    </p:spTree>
    <p:extLst>
      <p:ext uri="{BB962C8B-B14F-4D97-AF65-F5344CB8AC3E}">
        <p14:creationId xmlns:p14="http://schemas.microsoft.com/office/powerpoint/2010/main" val="2212320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burotix">
  <a:themeElements>
    <a:clrScheme name="Custom 4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DD3D1"/>
      </a:accent1>
      <a:accent2>
        <a:srgbClr val="1963A1"/>
      </a:accent2>
      <a:accent3>
        <a:srgbClr val="E5CBAD"/>
      </a:accent3>
      <a:accent4>
        <a:srgbClr val="5DF5F3"/>
      </a:accent4>
      <a:accent5>
        <a:srgbClr val="56A4E4"/>
      </a:accent5>
      <a:accent6>
        <a:srgbClr val="EFDFCD"/>
      </a:accent6>
      <a:hlink>
        <a:srgbClr val="000000"/>
      </a:hlink>
      <a:folHlink>
        <a:srgbClr val="3F3F3F"/>
      </a:folHlink>
    </a:clrScheme>
    <a:fontScheme name="Garamond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olides discret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urotix2022.potm" id="{7A707283-01BA-4932-B574-4A389620091B}" vid="{093B5C4F-DD58-40B6-A0EE-0D8451AE628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burotix2022</Template>
  <TotalTime>13491</TotalTime>
  <Words>1280</Words>
  <Application>Microsoft Office PowerPoint</Application>
  <PresentationFormat>Grand écran</PresentationFormat>
  <Paragraphs>202</Paragraphs>
  <Slides>26</Slides>
  <Notes>19</Notes>
  <HiddenSlides>0</HiddenSlides>
  <MMClips>0</MMClips>
  <ScaleCrop>false</ScaleCrop>
  <HeadingPairs>
    <vt:vector size="8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26</vt:i4>
      </vt:variant>
      <vt:variant>
        <vt:lpstr>Diaporamas personnalisés</vt:lpstr>
      </vt:variant>
      <vt:variant>
        <vt:i4>1</vt:i4>
      </vt:variant>
    </vt:vector>
  </HeadingPairs>
  <TitlesOfParts>
    <vt:vector size="35" baseType="lpstr">
      <vt:lpstr>Arial</vt:lpstr>
      <vt:lpstr>Calibri</vt:lpstr>
      <vt:lpstr>Consolas</vt:lpstr>
      <vt:lpstr>Courier New</vt:lpstr>
      <vt:lpstr>Garamond</vt:lpstr>
      <vt:lpstr>Verdana</vt:lpstr>
      <vt:lpstr>Wingdings</vt:lpstr>
      <vt:lpstr>burotix</vt:lpstr>
      <vt:lpstr>Bachelier en Informatique de Gestion  Web : principes de base Projet de Développement Web</vt:lpstr>
      <vt:lpstr>Table des matières</vt:lpstr>
      <vt:lpstr>13. Formulaires HTML</vt:lpstr>
      <vt:lpstr>Transit des données</vt:lpstr>
      <vt:lpstr>Single Page App. vs Multiple Page App.</vt:lpstr>
      <vt:lpstr>Objectifs des formulaires</vt:lpstr>
      <vt:lpstr>Comment faire transiter les données?</vt:lpstr>
      <vt:lpstr>MPA : Déclaration d'un formulaire</vt:lpstr>
      <vt:lpstr>Balises HTML</vt:lpstr>
      <vt:lpstr>La balise &lt;input&gt;</vt:lpstr>
      <vt:lpstr>La balise &lt;input&gt;</vt:lpstr>
      <vt:lpstr>La balise &lt;input&gt;</vt:lpstr>
      <vt:lpstr>La balise &lt;select&gt;</vt:lpstr>
      <vt:lpstr>L'attribut “value” de la balise &lt;input&gt;</vt:lpstr>
      <vt:lpstr>La balise &lt;textarea&gt;</vt:lpstr>
      <vt:lpstr>La balise &lt;label&gt;, 1ère manière</vt:lpstr>
      <vt:lpstr>La balise &lt;label&gt;, 2ème manière</vt:lpstr>
      <vt:lpstr>La balise &lt;datalist&gt;</vt:lpstr>
      <vt:lpstr>Balises HTML 5</vt:lpstr>
      <vt:lpstr>Input Types introduits en HTML5</vt:lpstr>
      <vt:lpstr>Attributs - HTML(5)</vt:lpstr>
      <vt:lpstr>Soumettre un formulaire </vt:lpstr>
      <vt:lpstr>Exo 01 : Sample "Atomic" Form</vt:lpstr>
      <vt:lpstr>Exo 03 : Sample "Molecular" Form</vt:lpstr>
      <vt:lpstr>Exo 05 : Catalogue + Form Input</vt:lpstr>
      <vt:lpstr>Exo 06 : commande de sandwich</vt:lpstr>
      <vt:lpstr>cefora powerpoint base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Bachelier en Informatique de Gestion  Projet de Développement Web</dc:title>
  <dc:creator>Alain Wafflard</dc:creator>
  <cp:lastModifiedBy>Alain Wafflard</cp:lastModifiedBy>
  <cp:revision>133</cp:revision>
  <dcterms:created xsi:type="dcterms:W3CDTF">2020-03-25T16:55:22Z</dcterms:created>
  <dcterms:modified xsi:type="dcterms:W3CDTF">2026-02-23T13:28:46Z</dcterms:modified>
</cp:coreProperties>
</file>