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56" r:id="rId1"/>
  </p:sldMasterIdLst>
  <p:notesMasterIdLst>
    <p:notesMasterId r:id="rId83"/>
  </p:notesMasterIdLst>
  <p:sldIdLst>
    <p:sldId id="256" r:id="rId2"/>
    <p:sldId id="408" r:id="rId3"/>
    <p:sldId id="474" r:id="rId4"/>
    <p:sldId id="566" r:id="rId5"/>
    <p:sldId id="476" r:id="rId6"/>
    <p:sldId id="262" r:id="rId7"/>
    <p:sldId id="265" r:id="rId8"/>
    <p:sldId id="267" r:id="rId9"/>
    <p:sldId id="268" r:id="rId10"/>
    <p:sldId id="269" r:id="rId11"/>
    <p:sldId id="270" r:id="rId12"/>
    <p:sldId id="272" r:id="rId13"/>
    <p:sldId id="273" r:id="rId14"/>
    <p:sldId id="567" r:id="rId15"/>
    <p:sldId id="484" r:id="rId16"/>
    <p:sldId id="275" r:id="rId17"/>
    <p:sldId id="276" r:id="rId18"/>
    <p:sldId id="588" r:id="rId19"/>
    <p:sldId id="277" r:id="rId20"/>
    <p:sldId id="509" r:id="rId21"/>
    <p:sldId id="486" r:id="rId22"/>
    <p:sldId id="280" r:id="rId23"/>
    <p:sldId id="282" r:id="rId24"/>
    <p:sldId id="283" r:id="rId25"/>
    <p:sldId id="286" r:id="rId26"/>
    <p:sldId id="287" r:id="rId27"/>
    <p:sldId id="288" r:id="rId28"/>
    <p:sldId id="289" r:id="rId29"/>
    <p:sldId id="290" r:id="rId30"/>
    <p:sldId id="291" r:id="rId31"/>
    <p:sldId id="292" r:id="rId32"/>
    <p:sldId id="293" r:id="rId33"/>
    <p:sldId id="294" r:id="rId34"/>
    <p:sldId id="295" r:id="rId35"/>
    <p:sldId id="296" r:id="rId36"/>
    <p:sldId id="297" r:id="rId37"/>
    <p:sldId id="298" r:id="rId38"/>
    <p:sldId id="510" r:id="rId39"/>
    <p:sldId id="299" r:id="rId40"/>
    <p:sldId id="511" r:id="rId41"/>
    <p:sldId id="300" r:id="rId42"/>
    <p:sldId id="301" r:id="rId43"/>
    <p:sldId id="302" r:id="rId44"/>
    <p:sldId id="488" r:id="rId45"/>
    <p:sldId id="513" r:id="rId46"/>
    <p:sldId id="303" r:id="rId47"/>
    <p:sldId id="514" r:id="rId48"/>
    <p:sldId id="304" r:id="rId49"/>
    <p:sldId id="480" r:id="rId50"/>
    <p:sldId id="305" r:id="rId51"/>
    <p:sldId id="487" r:id="rId52"/>
    <p:sldId id="489" r:id="rId53"/>
    <p:sldId id="490" r:id="rId54"/>
    <p:sldId id="482" r:id="rId55"/>
    <p:sldId id="481" r:id="rId56"/>
    <p:sldId id="284" r:id="rId57"/>
    <p:sldId id="285" r:id="rId58"/>
    <p:sldId id="483" r:id="rId59"/>
    <p:sldId id="491" r:id="rId60"/>
    <p:sldId id="493" r:id="rId61"/>
    <p:sldId id="494" r:id="rId62"/>
    <p:sldId id="497" r:id="rId63"/>
    <p:sldId id="492" r:id="rId64"/>
    <p:sldId id="498" r:id="rId65"/>
    <p:sldId id="499" r:id="rId66"/>
    <p:sldId id="496" r:id="rId67"/>
    <p:sldId id="500" r:id="rId68"/>
    <p:sldId id="501" r:id="rId69"/>
    <p:sldId id="502" r:id="rId70"/>
    <p:sldId id="503" r:id="rId71"/>
    <p:sldId id="504" r:id="rId72"/>
    <p:sldId id="517" r:id="rId73"/>
    <p:sldId id="515" r:id="rId74"/>
    <p:sldId id="516" r:id="rId75"/>
    <p:sldId id="518" r:id="rId76"/>
    <p:sldId id="561" r:id="rId77"/>
    <p:sldId id="562" r:id="rId78"/>
    <p:sldId id="553" r:id="rId79"/>
    <p:sldId id="539" r:id="rId80"/>
    <p:sldId id="540" r:id="rId81"/>
    <p:sldId id="587" r:id="rId82"/>
  </p:sldIdLst>
  <p:sldSz cx="12192000" cy="6858000"/>
  <p:notesSz cx="6858000" cy="9144000"/>
  <p:custShowLst>
    <p:custShow name="cefora powerpoint base" id="0">
      <p:sldLst/>
    </p:custShow>
  </p:custShowLst>
  <p:defaultTextStyle>
    <a:defPPr>
      <a:defRPr lang="fr-FR"/>
    </a:defPPr>
    <a:lvl1pPr marL="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7. Javascript" id="{7EB60391-1B3D-4FA7-8FB2-72C533B979D9}">
          <p14:sldIdLst>
            <p14:sldId id="256"/>
            <p14:sldId id="408"/>
            <p14:sldId id="474"/>
            <p14:sldId id="566"/>
            <p14:sldId id="476"/>
            <p14:sldId id="262"/>
            <p14:sldId id="265"/>
            <p14:sldId id="267"/>
            <p14:sldId id="268"/>
            <p14:sldId id="269"/>
            <p14:sldId id="270"/>
            <p14:sldId id="272"/>
            <p14:sldId id="273"/>
            <p14:sldId id="567"/>
            <p14:sldId id="484"/>
            <p14:sldId id="275"/>
            <p14:sldId id="276"/>
            <p14:sldId id="588"/>
            <p14:sldId id="277"/>
            <p14:sldId id="509"/>
            <p14:sldId id="486"/>
            <p14:sldId id="280"/>
            <p14:sldId id="282"/>
            <p14:sldId id="283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510"/>
            <p14:sldId id="299"/>
            <p14:sldId id="511"/>
            <p14:sldId id="300"/>
            <p14:sldId id="301"/>
            <p14:sldId id="302"/>
            <p14:sldId id="488"/>
            <p14:sldId id="513"/>
            <p14:sldId id="303"/>
            <p14:sldId id="514"/>
            <p14:sldId id="304"/>
            <p14:sldId id="480"/>
            <p14:sldId id="305"/>
            <p14:sldId id="487"/>
            <p14:sldId id="489"/>
            <p14:sldId id="490"/>
            <p14:sldId id="482"/>
            <p14:sldId id="481"/>
            <p14:sldId id="284"/>
            <p14:sldId id="285"/>
            <p14:sldId id="483"/>
            <p14:sldId id="491"/>
            <p14:sldId id="493"/>
            <p14:sldId id="494"/>
            <p14:sldId id="497"/>
            <p14:sldId id="492"/>
            <p14:sldId id="498"/>
            <p14:sldId id="499"/>
            <p14:sldId id="496"/>
            <p14:sldId id="500"/>
            <p14:sldId id="501"/>
            <p14:sldId id="502"/>
            <p14:sldId id="503"/>
            <p14:sldId id="504"/>
            <p14:sldId id="517"/>
            <p14:sldId id="515"/>
            <p14:sldId id="516"/>
            <p14:sldId id="518"/>
            <p14:sldId id="561"/>
            <p14:sldId id="562"/>
            <p14:sldId id="553"/>
            <p14:sldId id="539"/>
            <p14:sldId id="540"/>
            <p14:sldId id="58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ain Wafflard" initials="AW" lastIdx="1" clrIdx="0">
    <p:extLst>
      <p:ext uri="{19B8F6BF-5375-455C-9EA6-DF929625EA0E}">
        <p15:presenceInfo xmlns:p15="http://schemas.microsoft.com/office/powerpoint/2012/main" userId="76bb5ce92a207b2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FF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CB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50" autoAdjust="0"/>
    <p:restoredTop sz="86419" autoAdjust="0"/>
  </p:normalViewPr>
  <p:slideViewPr>
    <p:cSldViewPr snapToGrid="0">
      <p:cViewPr varScale="1">
        <p:scale>
          <a:sx n="59" d="100"/>
          <a:sy n="59" d="100"/>
        </p:scale>
        <p:origin x="96" y="84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0" d="100"/>
        <a:sy n="2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100" d="100"/>
          <a:sy n="100" d="100"/>
        </p:scale>
        <p:origin x="3552" y="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commentAuthors" Target="commentAuthor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E9742F-4DAE-47F5-9244-6ACC3985DD6B}" type="datetimeFigureOut">
              <a:rPr lang="fr-BE" smtClean="0"/>
              <a:t>12-10-25</a:t>
            </a:fld>
            <a:endParaRPr lang="fr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3842A0-1A3F-4998-8237-CE5EEE5DFDF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5606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3" Type="http://schemas.openxmlformats.org/officeDocument/2006/relationships/hyperlink" Target="http://jsbin.com/IjEceDIP/15/edit" TargetMode="External"/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jsbin.com/itAqEmuT/2/edit" TargetMode="Externa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3" Type="http://schemas.openxmlformats.org/officeDocument/2006/relationships/hyperlink" Target="http://jsbin.com/umivew/10/edit" TargetMode="External"/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jsbin.com/umivew/42/edit" TargetMode="External"/></Relationships>
</file>

<file path=ppt/notesSlides/_rels/notesSlide51.xml.rels><?xml version="1.0" encoding="UTF-8" standalone="yes"?>
<Relationships xmlns="http://schemas.openxmlformats.org/package/2006/relationships"><Relationship Id="rId3" Type="http://schemas.openxmlformats.org/officeDocument/2006/relationships/hyperlink" Target="http://jsbin.com/umivew/10/edit" TargetMode="External"/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jsbin.com/umivew/42/edit" TargetMode="Externa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" name="Google Shape;5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BE"/>
              <a:t>1</a:t>
            </a:fld>
            <a:endParaRPr/>
          </a:p>
        </p:txBody>
      </p:sp>
      <p:sp>
        <p:nvSpPr>
          <p:cNvPr id="53" name="Google Shape;53;p1:notes"/>
          <p:cNvSpPr txBox="1">
            <a:spLocks noGrp="1"/>
          </p:cNvSpPr>
          <p:nvPr>
            <p:ph type="hdr" idx="3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BE"/>
              <a:t>GESTIONNAIRE DE BASE DE DONNEES – NIVEAU ELEMENTAIRE - MS ACCESS</a:t>
            </a:r>
            <a:endParaRPr/>
          </a:p>
        </p:txBody>
      </p:sp>
      <p:sp>
        <p:nvSpPr>
          <p:cNvPr id="54" name="Google Shape;54;p1:notes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BE"/>
              <a:t>Professeur : Alain Wafflard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df6003ee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df6003ee_1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df6003ee_1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df6003ee_1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df6003ee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df6003ee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df6003ee_3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df6003ee_3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df6003ee_3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df6003ee_3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df6003ee_3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df6003ee_3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7620133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27620133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df3f0751_0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df3f0751_0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c1df5ec1_0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c1df5ec1_0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65614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c1df5ec1_0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c1df5ec1_0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df6004ff_7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df6004ff_7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A61F2532-DF07-69E7-5C62-6AA4E25F4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df6004ff_7_53:notes">
            <a:extLst>
              <a:ext uri="{FF2B5EF4-FFF2-40B4-BE49-F238E27FC236}">
                <a16:creationId xmlns:a16="http://schemas.microsoft.com/office/drawing/2014/main" id="{EA118BDC-EA02-309A-F038-88AC7CEA7F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df6004ff_7_53:notes">
            <a:extLst>
              <a:ext uri="{FF2B5EF4-FFF2-40B4-BE49-F238E27FC236}">
                <a16:creationId xmlns:a16="http://schemas.microsoft.com/office/drawing/2014/main" id="{4CBEFEFB-1216-B209-CECF-282B4A7CE5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73465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c1df5ec1_0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c1df5ec1_0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11b0d2e39_0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11b0d2e39_0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80637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df3f0751_0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df3f0751_0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078050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df3f0751_0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df3f0751_0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11b0d2e39_0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11b0d2e39_0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df6004bf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df6004bf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df3f0751_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df3f0751_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c1df5ec1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c1df5ec1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df6004ff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df6004ff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c1df5ec1_2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c1df5ec1_2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c1df5ec1_2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c1df5ec1_2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c1df5ec1_2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c1df5ec1_2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c1df5ec1_2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c1df5ec1_2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efb55e1d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efb55e1da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efb55e1d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efb55e1d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c1df5ec1_2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c1df5ec1_2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c1df5ec1_2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c1df5ec1_2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6004bf_0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6004bf_0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c1df5ec1_2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c1df5ec1_2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c1df5ec1_2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c1df5ec1_2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353869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df6004bf_0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df6004bf_0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c1df5ec1_2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c1df5ec1_2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245433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df6004bf_0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df6004bf_0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df6004bf_0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df6004bf_0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25d516fa1_0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25d516fa1_0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25d516fa1_0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25d516fa1_0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84951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c1df5ec1_2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c1df5ec1_2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077946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25d516fa1_0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g25d516fa1_0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c1df5ec1_2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c1df5ec1_2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336265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df6004bf_0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gdf6004bf_0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c1df5ec1_2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c1df5ec1_2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df6004bf_0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df6004bf_0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Elaboré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http://jsbin.com/IjEceDIP/18/edit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Simple: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http://jsbin.com/itAqEmuT/2/edit</a:t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11b0d2e39_0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11b0d2e39_0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29602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df6004ff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df6004ff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4798391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df6004ff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df6004ff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df6004ff_5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df6004ff_5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1 :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http://jsbin.com/umivew/10/edit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2: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http://jsbin.com/umivew/42/edit</a:t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df6004ff_5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df6004ff_5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1 :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http://jsbin.com/umivew/10/edit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2: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http://jsbin.com/umivew/42/edit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157989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11b0d2e39_0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11b0d2e39_0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720017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11b0d2e39_0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11b0d2e39_0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832774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76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406013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solidFill>
            <a:schemeClr val="accent3">
              <a:lumMod val="40000"/>
              <a:lumOff val="60000"/>
            </a:schemeClr>
          </a:solidFill>
        </p:spPr>
        <p:txBody>
          <a:bodyPr anchor="b">
            <a:normAutofit/>
          </a:bodyPr>
          <a:lstStyle>
            <a:lvl1pPr algn="ctr"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8EFA58-10A1-BAA7-B65E-A754A43B7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12-10-25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14B8606-B65F-6EB2-899E-91B5C83E7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2FA919-3ED3-80D3-E61B-53F97BE66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056825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68EF8D-0946-4672-F93D-1040FBC99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12-10-25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F8A40D7-7FAD-432F-7B9F-71125A565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4A3E5DF-3F32-A840-9AC0-4B04DF13C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72344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83B7C617-6903-4988-8F47-3C72C68028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2160000" cy="216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D67B63-F450-35EF-442C-62311487D2F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12-10-25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BC20ED6-7274-FD2F-773B-9069D53732E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B282271-26EC-908B-2E9D-6EE95CFBEB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78090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-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44704"/>
            <a:ext cx="10515600" cy="1628211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 dirty="0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FDD30A2-EFB1-4B31-8365-64458F4E13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1440000" cy="144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8BD7575-5E4D-B6F7-D511-002E7EBB1A2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12-10-25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57AA542-0BD3-6896-CFBC-925661457ED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1D4A95-E4A4-1574-4F11-DE8F1961354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341314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3EE368-836F-D6B7-3720-94E515B8E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12-10-25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40FC0D1-460C-5274-B67A-CADD30115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D5E82B2-87DB-8B8E-12FD-843E81352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417601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605DBAD-E815-DA9F-C843-1DE122AA5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12-10-25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44211E-58E3-3B61-D18C-DCC7772A0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5F2F6A2-3605-D138-CBD4-299C105E1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500406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B23E5C8-1D92-E25A-D482-9866759B5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12-10-25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5ACAADE-10AC-A5C6-B021-C668BC206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4BD460E-C94D-0F17-7C77-D32F9CC12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65506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55972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457200"/>
            <a:ext cx="6172200" cy="54038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33BACDB-1022-3581-CB46-1F85D7025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12-10-25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C8F4609-0312-F825-CC91-FAC10F330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1F0E555-3A77-670E-9C69-DE1D8DE23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800060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lang="fr-BE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83B7C617-6903-4988-8F47-3C72C68028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2160000" cy="216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776411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ub-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44704"/>
            <a:ext cx="10515600" cy="162821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fr-BE" dirty="0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FDD30A2-EFB1-4B31-8365-64458F4E13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1440000" cy="144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785747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" userDrawn="1">
  <p:cSld name="1_Comparais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4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3419999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46"/>
          <p:cNvSpPr txBox="1">
            <a:spLocks noGrp="1"/>
          </p:cNvSpPr>
          <p:nvPr>
            <p:ph type="body" idx="3"/>
          </p:nvPr>
        </p:nvSpPr>
        <p:spPr>
          <a:xfrm>
            <a:off x="4394864" y="1677195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46"/>
          <p:cNvSpPr txBox="1">
            <a:spLocks noGrp="1"/>
          </p:cNvSpPr>
          <p:nvPr>
            <p:ph type="body" idx="4"/>
          </p:nvPr>
        </p:nvSpPr>
        <p:spPr>
          <a:xfrm>
            <a:off x="4394863" y="2501107"/>
            <a:ext cx="3419999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" name="Google Shape;44;p146">
            <a:extLst>
              <a:ext uri="{FF2B5EF4-FFF2-40B4-BE49-F238E27FC236}">
                <a16:creationId xmlns:a16="http://schemas.microsoft.com/office/drawing/2014/main" id="{2E687717-1647-0388-990E-8851C964199E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7949940" y="1690688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" name="Google Shape;45;p146">
            <a:extLst>
              <a:ext uri="{FF2B5EF4-FFF2-40B4-BE49-F238E27FC236}">
                <a16:creationId xmlns:a16="http://schemas.microsoft.com/office/drawing/2014/main" id="{D8C59DA1-11B0-4EEA-43AC-8402AF228130}"/>
              </a:ext>
            </a:extLst>
          </p:cNvPr>
          <p:cNvSpPr txBox="1">
            <a:spLocks noGrp="1"/>
          </p:cNvSpPr>
          <p:nvPr>
            <p:ph type="body" idx="11"/>
          </p:nvPr>
        </p:nvSpPr>
        <p:spPr>
          <a:xfrm>
            <a:off x="7949937" y="2529543"/>
            <a:ext cx="3433923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15676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D73148E-CCCA-4F1F-A836-655D884BB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95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E29B381-A1A5-FC30-27CA-947A269038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953782-D06E-4853-BE3C-64C197273937}" type="datetimeFigureOut">
              <a:rPr lang="fr-BE" smtClean="0"/>
              <a:t>12-10-25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BFB2116-0A00-B6AB-43FF-F23B8EB09A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18A7CE26-4B2A-0791-7577-63BF2BD5A1F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29133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7" r:id="rId1"/>
    <p:sldLayoutId id="2147483858" r:id="rId2"/>
    <p:sldLayoutId id="2147483859" r:id="rId3"/>
    <p:sldLayoutId id="2147483860" r:id="rId4"/>
    <p:sldLayoutId id="2147483861" r:id="rId5"/>
    <p:sldLayoutId id="2147483862" r:id="rId6"/>
    <p:sldLayoutId id="2147483863" r:id="rId7"/>
    <p:sldLayoutId id="2147483864" r:id="rId8"/>
    <p:sldLayoutId id="2147483865" r:id="rId9"/>
    <p:sldLayoutId id="2147483853" r:id="rId10"/>
    <p:sldLayoutId id="2147483852" r:id="rId11"/>
    <p:sldLayoutId id="2147483866" r:id="rId12"/>
  </p:sldLayoutIdLst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5"/>
          </a:solidFill>
          <a:latin typeface="+mn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www-k12.atmos.washington.edu/~ovens/javascript/jseg28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mrdoob.com/projects/chromeexperiments/google_gravity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assrooms.com/fr/courses/1916641-dynamisez-vos-sites-web-avec-javascript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microsoft.com/office/2007/relationships/hdphoto" Target="../media/hdphoto2.wdp"/><Relationship Id="rId5" Type="http://schemas.openxmlformats.org/officeDocument/2006/relationships/image" Target="../media/image10.png"/><Relationship Id="rId4" Type="http://schemas.openxmlformats.org/officeDocument/2006/relationships/image" Target="../media/image4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mozilla.org/en-US/docs/DOM/DOM_Reference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mozilla.org/en-US/docs/Web/API/Node.nodeType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gif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svg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sv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sv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"/>
          <p:cNvSpPr txBox="1">
            <a:spLocks noGrp="1"/>
          </p:cNvSpPr>
          <p:nvPr>
            <p:ph type="ctr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lvl="0"/>
            <a:r>
              <a:rPr lang="fr-BE" dirty="0"/>
              <a:t>Bachelier en Informatique de Gestion</a:t>
            </a:r>
            <a:br>
              <a:rPr lang="fr-BE" dirty="0"/>
            </a:br>
            <a:br>
              <a:rPr lang="fr-BE"/>
            </a:br>
            <a:r>
              <a:rPr lang="fr-BE"/>
              <a:t>Web </a:t>
            </a:r>
            <a:r>
              <a:rPr lang="fr-BE" dirty="0"/>
              <a:t>: principes </a:t>
            </a:r>
            <a:r>
              <a:rPr lang="fr-BE"/>
              <a:t>de base</a:t>
            </a:r>
            <a:br>
              <a:rPr lang="fr-BE"/>
            </a:br>
            <a:r>
              <a:rPr lang="fr-BE"/>
              <a:t>Projet de Développement Web</a:t>
            </a:r>
            <a:endParaRPr lang="fr-BE" dirty="0"/>
          </a:p>
        </p:txBody>
      </p:sp>
      <p:sp>
        <p:nvSpPr>
          <p:cNvPr id="57" name="Google Shape;57;p1"/>
          <p:cNvSpPr txBox="1">
            <a:spLocks noGrp="1"/>
          </p:cNvSpPr>
          <p:nvPr>
            <p:ph type="subTitle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fr-BE" dirty="0"/>
              <a:t>Enseignement supérieur économique de type court</a:t>
            </a:r>
          </a:p>
          <a:p>
            <a:pPr lvl="0"/>
            <a:r>
              <a:rPr lang="fr-BE" dirty="0"/>
              <a:t>Code </a:t>
            </a:r>
            <a:r>
              <a:rPr lang="fr-BE" dirty="0" err="1"/>
              <a:t>FWB</a:t>
            </a:r>
            <a:r>
              <a:rPr lang="fr-BE"/>
              <a:t> : 7534 29 U32 D1, 7534 30 U32 D3</a:t>
            </a:r>
          </a:p>
          <a:p>
            <a:pPr lvl="0"/>
            <a:r>
              <a:rPr lang="fr-BE"/>
              <a:t>Code ISFCE : 4IWPB, 4IPW3</a:t>
            </a:r>
          </a:p>
          <a:p>
            <a:pPr lvl="0"/>
            <a:endParaRPr lang="fr-BE"/>
          </a:p>
        </p:txBody>
      </p:sp>
      <p:pic>
        <p:nvPicPr>
          <p:cNvPr id="58" name="Google Shape;5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06447" y="5094815"/>
            <a:ext cx="1674557" cy="16745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"/>
          <p:cNvSpPr txBox="1"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fr-BE"/>
              <a:t>Table des matières</a:t>
            </a:r>
          </a:p>
        </p:txBody>
      </p:sp>
      <p:sp>
        <p:nvSpPr>
          <p:cNvPr id="119" name="Google Shape;119;p5"/>
          <p:cNvSpPr txBox="1">
            <a:spLocks noGrp="1"/>
          </p:cNvSpPr>
          <p:nvPr>
            <p:ph type="body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numCol="1" anchor="t" anchorCtr="0">
            <a:normAutofit/>
          </a:bodyPr>
          <a:lstStyle/>
          <a:p>
            <a:pPr lvl="0"/>
            <a:r>
              <a:rPr lang="fr-FR"/>
              <a:t>Généralités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1162652-D4A8-152D-F88F-9B8516AF8775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>
            <a:normAutofit/>
          </a:bodyPr>
          <a:lstStyle/>
          <a:p>
            <a:pPr marL="114300" indent="0">
              <a:buNone/>
            </a:pPr>
            <a:r>
              <a:rPr lang="fr-BE" sz="2400"/>
              <a:t>01. Introduction au web</a:t>
            </a:r>
          </a:p>
          <a:p>
            <a:pPr marL="114300" indent="0">
              <a:buNone/>
            </a:pPr>
            <a:r>
              <a:rPr lang="fr-BE" sz="2400"/>
              <a:t>03. Outils</a:t>
            </a:r>
          </a:p>
          <a:p>
            <a:pPr marL="114300" indent="0">
              <a:buNone/>
            </a:pPr>
            <a:r>
              <a:rPr lang="fr-BE" sz="2400"/>
              <a:t>05. Format XML</a:t>
            </a:r>
          </a:p>
          <a:p>
            <a:pPr marL="114300" indent="0">
              <a:buNone/>
            </a:pPr>
            <a:r>
              <a:rPr lang="fr-BE" sz="2400"/>
              <a:t>06. Format JSON</a:t>
            </a:r>
          </a:p>
          <a:p>
            <a:pPr marL="114300" indent="0">
              <a:buNone/>
            </a:pPr>
            <a:endParaRPr lang="fr-BE" sz="240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06D5135-B8A1-9E24-38EE-4C72679CDE7E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 anchor="t"/>
          <a:lstStyle/>
          <a:p>
            <a:pPr lvl="0"/>
            <a:r>
              <a:rPr lang="fr-FR"/>
              <a:t>Front-End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7D87172-3FAF-5725-E789-9405D66598A7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4105275" y="2501107"/>
            <a:ext cx="3709587" cy="3684588"/>
          </a:xfrm>
        </p:spPr>
        <p:txBody>
          <a:bodyPr>
            <a:normAutofit/>
          </a:bodyPr>
          <a:lstStyle/>
          <a:p>
            <a:pPr marL="114300" lvl="0" indent="0">
              <a:buNone/>
            </a:pPr>
            <a:r>
              <a:rPr lang="fr-BE" sz="2400"/>
              <a:t>12. Structure HTML </a:t>
            </a:r>
          </a:p>
          <a:p>
            <a:pPr marL="114300" indent="0">
              <a:buNone/>
            </a:pPr>
            <a:r>
              <a:rPr lang="fr-BE" sz="2400"/>
              <a:t>13. Formulaire HTML</a:t>
            </a:r>
          </a:p>
          <a:p>
            <a:pPr marL="114300" lvl="0" indent="0">
              <a:buNone/>
            </a:pPr>
            <a:r>
              <a:rPr lang="fr-BE" sz="2400"/>
              <a:t>14. Mise en forme CSS</a:t>
            </a:r>
          </a:p>
          <a:p>
            <a:pPr marL="114300" lvl="0" indent="0">
              <a:buNone/>
            </a:pPr>
            <a:r>
              <a:rPr lang="fr-BE" sz="2400"/>
              <a:t>15. Adaptabilité</a:t>
            </a:r>
          </a:p>
          <a:p>
            <a:pPr marL="114300" lvl="0" indent="0">
              <a:buNone/>
            </a:pPr>
            <a:r>
              <a:rPr lang="fr-BE" sz="2400">
                <a:solidFill>
                  <a:schemeClr val="accent2"/>
                </a:solidFill>
              </a:rPr>
              <a:t>17. Javascript</a:t>
            </a:r>
          </a:p>
          <a:p>
            <a:pPr marL="114300" lvl="0" indent="0">
              <a:buNone/>
            </a:pPr>
            <a:r>
              <a:rPr lang="fr-BE" sz="2400"/>
              <a:t>18. Bibliothèque jQuery</a:t>
            </a:r>
          </a:p>
          <a:p>
            <a:pPr marL="114300" lvl="0" indent="0">
              <a:buNone/>
            </a:pPr>
            <a:r>
              <a:rPr lang="fr-BE" sz="2400"/>
              <a:t>19. Composant Vue.js</a:t>
            </a: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A5FC1231-1E2C-7231-4486-8114EAEE6AAF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 anchor="t"/>
          <a:lstStyle/>
          <a:p>
            <a:r>
              <a:rPr lang="fr-BE"/>
              <a:t>Back-End</a:t>
            </a:r>
          </a:p>
        </p:txBody>
      </p:sp>
      <p:sp>
        <p:nvSpPr>
          <p:cNvPr id="18" name="Espace réservé du texte 17">
            <a:extLst>
              <a:ext uri="{FF2B5EF4-FFF2-40B4-BE49-F238E27FC236}">
                <a16:creationId xmlns:a16="http://schemas.microsoft.com/office/drawing/2014/main" id="{EDB2CC52-B967-555D-C3A7-C4B10EB02D1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 lvl="0"/>
            <a:r>
              <a:rPr lang="fr-BE" sz="2400"/>
              <a:t>21. Middleware PHP</a:t>
            </a:r>
          </a:p>
          <a:p>
            <a:r>
              <a:rPr lang="fr-BE" sz="2400"/>
              <a:t>22. Traitement du formulaire</a:t>
            </a:r>
          </a:p>
          <a:p>
            <a:pPr lvl="0"/>
            <a:r>
              <a:rPr lang="fr-BE" sz="2400"/>
              <a:t>23. Architecture MVC</a:t>
            </a:r>
          </a:p>
          <a:p>
            <a:pPr lvl="0"/>
            <a:r>
              <a:rPr lang="fr-BE" sz="2400"/>
              <a:t>24. Données SQL</a:t>
            </a:r>
          </a:p>
          <a:p>
            <a:pPr lvl="0"/>
            <a:r>
              <a:rPr lang="fr-BE" sz="2400"/>
              <a:t>25. Données NoSQL</a:t>
            </a:r>
          </a:p>
          <a:p>
            <a:r>
              <a:rPr lang="fr-BE" sz="2400"/>
              <a:t>27. Requête asynchrone</a:t>
            </a:r>
          </a:p>
          <a:p>
            <a:endParaRPr lang="fr-BE" sz="24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D24BA11C-4CB3-43BC-96B1-1A2BA2626F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/>
              <a:t>17. </a:t>
            </a:r>
            <a:r>
              <a:rPr lang="fr-BE" dirty="0"/>
              <a:t>Javascript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80C5F38-518F-4AEC-8F4D-32A63335D4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numCol="3">
            <a:normAutofit/>
          </a:bodyPr>
          <a:lstStyle/>
          <a:p>
            <a:r>
              <a:rPr lang="fr-BE" dirty="0"/>
              <a:t>Architecture</a:t>
            </a:r>
          </a:p>
          <a:p>
            <a:r>
              <a:rPr lang="fr-BE" dirty="0"/>
              <a:t>Variables et Typage</a:t>
            </a:r>
          </a:p>
          <a:p>
            <a:r>
              <a:rPr lang="fr-BE" dirty="0"/>
              <a:t>Structures de contrôle</a:t>
            </a:r>
          </a:p>
          <a:p>
            <a:r>
              <a:rPr lang="fr-BE" dirty="0"/>
              <a:t>Fonctions</a:t>
            </a:r>
          </a:p>
          <a:p>
            <a:r>
              <a:rPr lang="fr-BE" dirty="0"/>
              <a:t>Document Object Model</a:t>
            </a:r>
          </a:p>
          <a:p>
            <a:r>
              <a:rPr lang="fr-BE" dirty="0"/>
              <a:t>Évènements DOM-0</a:t>
            </a:r>
          </a:p>
          <a:p>
            <a:r>
              <a:rPr lang="fr-BE" dirty="0"/>
              <a:t>Évènements DOM-2</a:t>
            </a:r>
          </a:p>
        </p:txBody>
      </p:sp>
      <p:pic>
        <p:nvPicPr>
          <p:cNvPr id="6" name="Espace réservé pour une image  5">
            <a:extLst>
              <a:ext uri="{FF2B5EF4-FFF2-40B4-BE49-F238E27FC236}">
                <a16:creationId xmlns:a16="http://schemas.microsoft.com/office/drawing/2014/main" id="{1AE58F81-FD05-4FBC-89E0-AF3636A9CEB2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01313" y="233363"/>
            <a:ext cx="1690687" cy="238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405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1752FF3F-2A35-4D00-8715-40FEFC1F2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Architecture</a:t>
            </a:r>
            <a:endParaRPr lang="fr-BE" dirty="0"/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A99886F3-B5F1-7813-763C-C365C4B430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pic>
        <p:nvPicPr>
          <p:cNvPr id="7" name="Espace réservé pour une image  5">
            <a:extLst>
              <a:ext uri="{FF2B5EF4-FFF2-40B4-BE49-F238E27FC236}">
                <a16:creationId xmlns:a16="http://schemas.microsoft.com/office/drawing/2014/main" id="{A40AB037-9899-4884-AF88-698EFC7895D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4506" b="14506"/>
          <a:stretch/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2667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AAB59958-9445-4647-A444-215241593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fr-BE" dirty="0"/>
              <a:t>Exemples de page web </a:t>
            </a:r>
            <a:r>
              <a:rPr lang="fr-BE" dirty="0" err="1"/>
              <a:t>javascriptée</a:t>
            </a:r>
            <a:endParaRPr lang="fr-BE" dirty="0"/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725FB963-C668-4E62-897F-93FEAE6D8DB4}"/>
              </a:ext>
            </a:extLst>
          </p:cNvPr>
          <p:cNvPicPr>
            <a:picLocks noGrp="1" noChangeAspect="1"/>
          </p:cNvPicPr>
          <p:nvPr>
            <p:ph type="pic" idx="4294967295"/>
          </p:nvPr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 radius="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825185" y="1371600"/>
            <a:ext cx="10350500" cy="5486400"/>
          </a:xfrm>
          <a:prstGeom prst="rect">
            <a:avLst/>
          </a:prstGeom>
          <a:noFill/>
        </p:spPr>
      </p:pic>
      <p:pic>
        <p:nvPicPr>
          <p:cNvPr id="10" name="Graphique 9">
            <a:extLst>
              <a:ext uri="{FF2B5EF4-FFF2-40B4-BE49-F238E27FC236}">
                <a16:creationId xmlns:a16="http://schemas.microsoft.com/office/drawing/2014/main" id="{69197FC1-F59F-46A8-A88A-E9C072DFE26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65340" y="2184832"/>
            <a:ext cx="360000" cy="506755"/>
          </a:xfrm>
          <a:prstGeom prst="rect">
            <a:avLst/>
          </a:prstGeom>
        </p:spPr>
      </p:pic>
      <p:pic>
        <p:nvPicPr>
          <p:cNvPr id="12" name="Graphique 11">
            <a:extLst>
              <a:ext uri="{FF2B5EF4-FFF2-40B4-BE49-F238E27FC236}">
                <a16:creationId xmlns:a16="http://schemas.microsoft.com/office/drawing/2014/main" id="{FD34ACE7-C2EC-4B40-BEA1-74B55C81600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06685" y="5233022"/>
            <a:ext cx="360000" cy="506755"/>
          </a:xfrm>
          <a:prstGeom prst="rect">
            <a:avLst/>
          </a:prstGeom>
        </p:spPr>
      </p:pic>
      <p:pic>
        <p:nvPicPr>
          <p:cNvPr id="14" name="Graphique 13">
            <a:extLst>
              <a:ext uri="{FF2B5EF4-FFF2-40B4-BE49-F238E27FC236}">
                <a16:creationId xmlns:a16="http://schemas.microsoft.com/office/drawing/2014/main" id="{339FE8AF-AF23-4149-9FE2-0BFEC4FA927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03385" y="3861422"/>
            <a:ext cx="360000" cy="506755"/>
          </a:xfrm>
          <a:prstGeom prst="rect">
            <a:avLst/>
          </a:prstGeom>
        </p:spPr>
      </p:pic>
      <p:pic>
        <p:nvPicPr>
          <p:cNvPr id="16" name="Graphique 15">
            <a:extLst>
              <a:ext uri="{FF2B5EF4-FFF2-40B4-BE49-F238E27FC236}">
                <a16:creationId xmlns:a16="http://schemas.microsoft.com/office/drawing/2014/main" id="{4B4C0B19-2455-42DE-92F9-2D63FEFA549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13809" y="3316652"/>
            <a:ext cx="360000" cy="506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901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4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>
                <a:sym typeface="Calibri"/>
              </a:rPr>
              <a:t>Exemples d'utilisation du JavaScript</a:t>
            </a:r>
          </a:p>
        </p:txBody>
      </p:sp>
      <p:sp>
        <p:nvSpPr>
          <p:cNvPr id="75" name="Google Shape;75;p14"/>
          <p:cNvSpPr txBox="1"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fr-BE" dirty="0"/>
              <a:t>Exemple de base:</a:t>
            </a:r>
          </a:p>
          <a:p>
            <a:pPr lvl="1"/>
            <a:r>
              <a:rPr lang="fr-BE" dirty="0">
                <a:hlinkClick r:id="rId3"/>
              </a:rPr>
              <a:t>http://www-k12.atmos.washington.edu/~ovens/javascript/jseg28.html</a:t>
            </a:r>
            <a:endParaRPr lang="fr-BE" dirty="0"/>
          </a:p>
          <a:p>
            <a:r>
              <a:rPr lang="fr-BE" dirty="0"/>
              <a:t>Template</a:t>
            </a:r>
          </a:p>
          <a:p>
            <a:pPr lvl="1"/>
            <a:r>
              <a:rPr lang="fr-BE" dirty="0"/>
              <a:t>http://www.philippagregory.com/books</a:t>
            </a:r>
          </a:p>
          <a:p>
            <a:r>
              <a:rPr lang="fr-BE" dirty="0"/>
              <a:t>Animation</a:t>
            </a:r>
          </a:p>
          <a:p>
            <a:pPr lvl="1"/>
            <a:r>
              <a:rPr lang="fr-BE" dirty="0"/>
              <a:t>http://hereistoday.com/</a:t>
            </a:r>
          </a:p>
          <a:p>
            <a:pPr lvl="1"/>
            <a:r>
              <a:rPr lang="fr-BE" dirty="0"/>
              <a:t>http://the389.com/experiment/</a:t>
            </a:r>
          </a:p>
          <a:p>
            <a:pPr lvl="1"/>
            <a:r>
              <a:rPr lang="fr-BE" dirty="0">
                <a:hlinkClick r:id="rId4"/>
              </a:rPr>
              <a:t>http://mrdoob.com/projects/chromeexperiments/google_gravity/</a:t>
            </a:r>
            <a:endParaRPr lang="fr-BE" dirty="0"/>
          </a:p>
          <a:p>
            <a:pPr lvl="1"/>
            <a:r>
              <a:rPr lang="fr-BE" dirty="0"/>
              <a:t>http://gridster.net/demos/adding-widgets-dynamically.html</a:t>
            </a:r>
          </a:p>
          <a:p>
            <a:r>
              <a:rPr lang="fr-BE" dirty="0"/>
              <a:t>3D</a:t>
            </a:r>
          </a:p>
          <a:p>
            <a:pPr lvl="1"/>
            <a:r>
              <a:rPr lang="fr-BE" dirty="0"/>
              <a:t>http://shapejs.shapeways.com/creator/?li=devhome_main</a:t>
            </a:r>
          </a:p>
          <a:p>
            <a:pPr lvl="1"/>
            <a:r>
              <a:rPr lang="fr-BE" dirty="0"/>
              <a:t>http://mrdoob.github.com/three.js/examples/webgl_materials_cars.html</a:t>
            </a:r>
            <a:endParaRPr lang="fr-BE" dirty="0">
              <a:sym typeface="Calibri"/>
            </a:endParaRPr>
          </a:p>
        </p:txBody>
      </p:sp>
      <p:sp>
        <p:nvSpPr>
          <p:cNvPr id="2" name="Triangle isocèle 1">
            <a:extLst>
              <a:ext uri="{FF2B5EF4-FFF2-40B4-BE49-F238E27FC236}">
                <a16:creationId xmlns:a16="http://schemas.microsoft.com/office/drawing/2014/main" id="{73A7B629-E476-5F98-F8E4-060A0EFDBCCD}"/>
              </a:ext>
            </a:extLst>
          </p:cNvPr>
          <p:cNvSpPr/>
          <p:nvPr/>
        </p:nvSpPr>
        <p:spPr>
          <a:xfrm>
            <a:off x="9757316" y="2503601"/>
            <a:ext cx="2345473" cy="1325563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fr-BE"/>
              <a:t>à mettre à jour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7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>
                <a:sym typeface="Calibri"/>
              </a:rPr>
              <a:t>Références</a:t>
            </a:r>
          </a:p>
        </p:txBody>
      </p:sp>
      <p:sp>
        <p:nvSpPr>
          <p:cNvPr id="95" name="Google Shape;95;p17"/>
          <p:cNvSpPr txBox="1"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sym typeface="Calibri"/>
              </a:rPr>
              <a:t>Ressources</a:t>
            </a:r>
            <a:endParaRPr lang="en-US" dirty="0">
              <a:sym typeface="Calibri"/>
            </a:endParaRPr>
          </a:p>
          <a:p>
            <a:pPr lvl="1"/>
            <a:r>
              <a:rPr lang="en-US" dirty="0">
                <a:sym typeface="Calibri"/>
                <a:hlinkClick r:id="rId3"/>
              </a:rPr>
              <a:t>OpenClassRooms</a:t>
            </a:r>
            <a:endParaRPr lang="en-US" dirty="0">
              <a:sym typeface="Calibri"/>
            </a:endParaRPr>
          </a:p>
          <a:p>
            <a:pPr lvl="1"/>
            <a:r>
              <a:rPr lang="en-US" dirty="0">
                <a:sym typeface="Calibri"/>
              </a:rPr>
              <a:t>w3schools</a:t>
            </a:r>
          </a:p>
          <a:p>
            <a:pPr lvl="1"/>
            <a:r>
              <a:rPr lang="en-US" dirty="0">
                <a:sym typeface="Calibri"/>
              </a:rPr>
              <a:t>MDN</a:t>
            </a:r>
          </a:p>
          <a:p>
            <a:pPr lvl="1"/>
            <a:r>
              <a:rPr lang="en-US" dirty="0">
                <a:sym typeface="Calibri"/>
              </a:rPr>
              <a:t>Developpez.com</a:t>
            </a:r>
          </a:p>
          <a:p>
            <a:pPr lvl="1"/>
            <a:r>
              <a:rPr lang="en-US" dirty="0">
                <a:sym typeface="Calibri"/>
              </a:rPr>
              <a:t>CommentCaMarche.net</a:t>
            </a:r>
          </a:p>
        </p:txBody>
      </p:sp>
      <p:sp>
        <p:nvSpPr>
          <p:cNvPr id="16" name="Espace réservé du contenu 15">
            <a:extLst>
              <a:ext uri="{FF2B5EF4-FFF2-40B4-BE49-F238E27FC236}">
                <a16:creationId xmlns:a16="http://schemas.microsoft.com/office/drawing/2014/main" id="{EC53B6B5-6288-4995-A987-CCD6832493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772665" cy="4351339"/>
          </a:xfrm>
        </p:spPr>
        <p:txBody>
          <a:bodyPr>
            <a:normAutofit/>
          </a:bodyPr>
          <a:lstStyle/>
          <a:p>
            <a:r>
              <a:rPr lang="fr-BE" dirty="0">
                <a:sym typeface="Calibri"/>
              </a:rPr>
              <a:t>Outils:</a:t>
            </a:r>
          </a:p>
          <a:p>
            <a:pPr lvl="1"/>
            <a:r>
              <a:rPr lang="fr-BE" dirty="0" err="1">
                <a:sym typeface="Calibri"/>
              </a:rPr>
              <a:t>JSBin</a:t>
            </a:r>
            <a:r>
              <a:rPr lang="fr-BE" dirty="0">
                <a:sym typeface="Calibri"/>
              </a:rPr>
              <a:t>: http://jsbin.com</a:t>
            </a:r>
          </a:p>
          <a:p>
            <a:pPr lvl="1"/>
            <a:r>
              <a:rPr lang="fr-BE" dirty="0" err="1">
                <a:sym typeface="Calibri"/>
              </a:rPr>
              <a:t>JSFiddle</a:t>
            </a:r>
            <a:r>
              <a:rPr lang="fr-BE" dirty="0">
                <a:sym typeface="Calibri"/>
              </a:rPr>
              <a:t>: http://jsfiddle.net/</a:t>
            </a:r>
          </a:p>
          <a:p>
            <a:pPr lvl="1"/>
            <a:r>
              <a:rPr lang="fr-BE" dirty="0" err="1">
                <a:sym typeface="Calibri"/>
              </a:rPr>
              <a:t>Rubular</a:t>
            </a:r>
            <a:r>
              <a:rPr lang="fr-BE" dirty="0">
                <a:sym typeface="Calibri"/>
              </a:rPr>
              <a:t>: http://rubular.com/</a:t>
            </a:r>
          </a:p>
          <a:p>
            <a:pPr lvl="1"/>
            <a:r>
              <a:rPr lang="fr-BE" dirty="0">
                <a:sym typeface="Calibri"/>
              </a:rPr>
              <a:t>Chrome: Console </a:t>
            </a:r>
            <a:r>
              <a:rPr lang="fr-BE" dirty="0" err="1">
                <a:sym typeface="Calibri"/>
              </a:rPr>
              <a:t>debug</a:t>
            </a:r>
            <a:endParaRPr lang="fr-BE" dirty="0">
              <a:sym typeface="Calibri"/>
            </a:endParaRPr>
          </a:p>
          <a:p>
            <a:endParaRPr lang="fr-BE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Emplacement du code</a:t>
            </a:r>
          </a:p>
        </p:txBody>
      </p:sp>
      <p:sp>
        <p:nvSpPr>
          <p:cNvPr id="108" name="Google Shape;108;p19"/>
          <p:cNvSpPr txBox="1">
            <a:spLocks noGrp="1"/>
          </p:cNvSpPr>
          <p:nvPr>
            <p:ph idx="1"/>
          </p:nvPr>
        </p:nvSpPr>
        <p:spPr>
          <a:xfrm>
            <a:off x="846437" y="1428649"/>
            <a:ext cx="11345563" cy="4731839"/>
          </a:xfrm>
        </p:spPr>
        <p:txBody>
          <a:bodyPr>
            <a:normAutofit lnSpcReduction="10000"/>
          </a:bodyPr>
          <a:lstStyle/>
          <a:p>
            <a:r>
              <a:rPr lang="fr-BE" dirty="0">
                <a:sym typeface="Calibri"/>
              </a:rPr>
              <a:t>Dans une page HTML:</a:t>
            </a:r>
          </a:p>
          <a:p>
            <a:pPr marL="457189" lvl="1" indent="0">
              <a:spcBef>
                <a:spcPts val="600"/>
              </a:spcBef>
              <a:buNone/>
            </a:pPr>
            <a:r>
              <a:rPr lang="fr-BE" sz="3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&lt;script </a:t>
            </a:r>
            <a:r>
              <a:rPr lang="fr-BE" sz="3000" dirty="0">
                <a:solidFill>
                  <a:schemeClr val="accent2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type="</a:t>
            </a:r>
            <a:r>
              <a:rPr lang="fr-BE" sz="3000" dirty="0" err="1">
                <a:solidFill>
                  <a:schemeClr val="accent2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text</a:t>
            </a:r>
            <a:r>
              <a:rPr lang="fr-BE" sz="3000" dirty="0">
                <a:solidFill>
                  <a:schemeClr val="accent2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/javascript"</a:t>
            </a:r>
            <a:r>
              <a:rPr lang="fr-BE" sz="3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&gt;</a:t>
            </a:r>
          </a:p>
          <a:p>
            <a:pPr marL="457189" lvl="1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fr-BE" sz="3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	</a:t>
            </a:r>
            <a:r>
              <a:rPr lang="fr-BE" sz="3000" dirty="0">
                <a:solidFill>
                  <a:schemeClr val="accent5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var </a:t>
            </a:r>
            <a:r>
              <a:rPr lang="fr-BE" sz="3000" dirty="0" err="1">
                <a:solidFill>
                  <a:schemeClr val="accent5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maVariable</a:t>
            </a:r>
            <a:r>
              <a:rPr lang="fr-BE" sz="3000" dirty="0">
                <a:solidFill>
                  <a:schemeClr val="accent5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;</a:t>
            </a:r>
          </a:p>
          <a:p>
            <a:pPr marL="457189" lvl="1" indent="457200">
              <a:lnSpc>
                <a:spcPct val="100000"/>
              </a:lnSpc>
              <a:spcBef>
                <a:spcPts val="600"/>
              </a:spcBef>
              <a:buNone/>
            </a:pPr>
            <a:r>
              <a:rPr lang="fr-BE" sz="3000" dirty="0">
                <a:solidFill>
                  <a:schemeClr val="accent5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...</a:t>
            </a:r>
          </a:p>
          <a:p>
            <a:pPr marL="457189" lvl="1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fr-BE" sz="3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&lt;/script&gt;</a:t>
            </a:r>
          </a:p>
          <a:p>
            <a:r>
              <a:rPr lang="fr-BE" dirty="0">
                <a:sym typeface="Calibri"/>
              </a:rPr>
              <a:t>Dans un fichier externe:</a:t>
            </a:r>
          </a:p>
          <a:p>
            <a:pPr marL="457189" lvl="1" indent="0">
              <a:spcBef>
                <a:spcPts val="600"/>
              </a:spcBef>
              <a:buNone/>
            </a:pPr>
            <a:r>
              <a:rPr lang="fr-BE" sz="3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&lt;script </a:t>
            </a:r>
            <a:r>
              <a:rPr lang="fr-BE" sz="3000" dirty="0">
                <a:solidFill>
                  <a:schemeClr val="accent2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type="</a:t>
            </a:r>
            <a:r>
              <a:rPr lang="fr-BE" sz="3000" dirty="0" err="1">
                <a:solidFill>
                  <a:schemeClr val="accent2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text</a:t>
            </a:r>
            <a:r>
              <a:rPr lang="fr-BE" sz="3000" dirty="0">
                <a:solidFill>
                  <a:schemeClr val="accent2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/javascript"</a:t>
            </a:r>
            <a:r>
              <a:rPr lang="fr-BE" sz="3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 </a:t>
            </a:r>
            <a:r>
              <a:rPr lang="fr-BE" sz="3000" dirty="0">
                <a:solidFill>
                  <a:schemeClr val="accent5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src="script.js" </a:t>
            </a:r>
            <a:r>
              <a:rPr lang="fr-BE" sz="3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/&gt;</a:t>
            </a:r>
            <a:endParaRPr lang="fr-BE" sz="3000" dirty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sym typeface="Courier New"/>
            </a:endParaRPr>
          </a:p>
          <a:p>
            <a:r>
              <a:rPr lang="fr-BE" dirty="0">
                <a:sym typeface="Calibri"/>
              </a:rPr>
              <a:t>Dans un attribut événement - A éviter !</a:t>
            </a:r>
          </a:p>
          <a:p>
            <a:pPr marL="457189" lvl="1" indent="0">
              <a:spcBef>
                <a:spcPts val="600"/>
              </a:spcBef>
              <a:buNone/>
            </a:pPr>
            <a:r>
              <a:rPr lang="fr-BE" sz="3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  <a:sym typeface="Courier New"/>
              </a:rPr>
              <a:t>&lt;a </a:t>
            </a:r>
            <a:r>
              <a:rPr lang="fr-BE" sz="30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  <a:sym typeface="Courier New"/>
              </a:rPr>
              <a:t>onclick</a:t>
            </a:r>
            <a:r>
              <a:rPr lang="fr-BE" sz="3000" dirty="0">
                <a:solidFill>
                  <a:schemeClr val="accent5"/>
                </a:solidFill>
                <a:latin typeface="Consolas" panose="020B0609020204030204" pitchFamily="49" charset="0"/>
                <a:cs typeface="Courier New"/>
                <a:sym typeface="Courier New"/>
              </a:rPr>
              <a:t>="var </a:t>
            </a:r>
            <a:r>
              <a:rPr lang="fr-BE" sz="3000" dirty="0" err="1">
                <a:solidFill>
                  <a:schemeClr val="accent5"/>
                </a:solidFill>
                <a:latin typeface="Consolas" panose="020B0609020204030204" pitchFamily="49" charset="0"/>
                <a:cs typeface="Courier New"/>
                <a:sym typeface="Courier New"/>
              </a:rPr>
              <a:t>maVariable</a:t>
            </a:r>
            <a:r>
              <a:rPr lang="fr-BE" sz="3000" dirty="0">
                <a:solidFill>
                  <a:schemeClr val="accent5"/>
                </a:solidFill>
                <a:latin typeface="Consolas" panose="020B0609020204030204" pitchFamily="49" charset="0"/>
                <a:cs typeface="Courier New"/>
                <a:sym typeface="Courier New"/>
              </a:rPr>
              <a:t>; ..."</a:t>
            </a:r>
            <a:r>
              <a:rPr lang="fr-BE" sz="3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  <a:sym typeface="Courier New"/>
              </a:rPr>
              <a:t>&gt;Accueil&lt;/a&gt;</a:t>
            </a:r>
            <a:endParaRPr lang="fr-BE" sz="3000" dirty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>
                <a:sym typeface="Calibri"/>
              </a:rPr>
              <a:t>Emplacement du code</a:t>
            </a:r>
          </a:p>
        </p:txBody>
      </p:sp>
      <p:sp>
        <p:nvSpPr>
          <p:cNvPr id="114" name="Google Shape;114;p20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>
                <a:sym typeface="Calibri"/>
              </a:rPr>
              <a:t>Remarque :</a:t>
            </a:r>
          </a:p>
          <a:p>
            <a:pPr lvl="1"/>
            <a:r>
              <a:rPr lang="fr-BE" dirty="0">
                <a:sym typeface="Calibri"/>
              </a:rPr>
              <a:t>code JS exécuté par le navigateur </a:t>
            </a:r>
            <a:r>
              <a:rPr lang="fr-BE" dirty="0">
                <a:solidFill>
                  <a:schemeClr val="accent2"/>
                </a:solidFill>
                <a:sym typeface="Calibri"/>
              </a:rPr>
              <a:t>séquentiellement</a:t>
            </a:r>
            <a:r>
              <a:rPr lang="fr-BE" dirty="0">
                <a:sym typeface="Calibri"/>
              </a:rPr>
              <a:t> à la lecture de la page web.</a:t>
            </a:r>
          </a:p>
          <a:p>
            <a:pPr lvl="1"/>
            <a:r>
              <a:rPr lang="fr-BE" dirty="0">
                <a:sym typeface="Calibri"/>
              </a:rPr>
              <a:t>=&gt; Attention à l'emplacement du code.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>
                <a:sym typeface="Calibri"/>
              </a:rPr>
              <a:t>Emplacement du code </a:t>
            </a:r>
            <a:r>
              <a:rPr lang="fr-BE">
                <a:sym typeface="Calibri"/>
              </a:rPr>
              <a:t>: exo01</a:t>
            </a:r>
            <a:endParaRPr lang="fr-BE" dirty="0">
              <a:sym typeface="Calibri"/>
            </a:endParaRPr>
          </a:p>
        </p:txBody>
      </p:sp>
      <p:sp>
        <p:nvSpPr>
          <p:cNvPr id="120" name="Google Shape;120;p21"/>
          <p:cNvSpPr txBox="1">
            <a:spLocks noGrp="1"/>
          </p:cNvSpPr>
          <p:nvPr>
            <p:ph sz="half" idx="1"/>
          </p:nvPr>
        </p:nvSpPr>
        <p:spPr>
          <a:xfrm>
            <a:off x="250257" y="1825625"/>
            <a:ext cx="5769543" cy="4351339"/>
          </a:xfr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fr-BE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&lt;html&gt;</a:t>
            </a:r>
          </a:p>
          <a:p>
            <a:pPr marL="0" indent="0">
              <a:buNone/>
            </a:pPr>
            <a:r>
              <a:rPr lang="fr-BE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</a:t>
            </a:r>
            <a:r>
              <a:rPr lang="fr-BE" dirty="0" err="1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head</a:t>
            </a:r>
            <a:r>
              <a:rPr lang="fr-BE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&gt;</a:t>
            </a:r>
          </a:p>
          <a:p>
            <a:pPr marL="0" indent="0">
              <a:buNone/>
            </a:pPr>
            <a:r>
              <a:rPr lang="fr-BE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</a:t>
            </a:r>
            <a:r>
              <a:rPr lang="fr-BE" sz="3700" dirty="0" err="1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title</a:t>
            </a:r>
            <a:r>
              <a:rPr lang="fr-BE" sz="3700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&gt;</a:t>
            </a:r>
            <a:r>
              <a:rPr lang="fr-BE" sz="3700" dirty="0"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Emplacement JS OK</a:t>
            </a:r>
            <a:r>
              <a:rPr lang="fr-BE" sz="3700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&lt;/</a:t>
            </a:r>
            <a:r>
              <a:rPr lang="fr-BE" sz="3700" dirty="0" err="1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title</a:t>
            </a:r>
            <a:r>
              <a:rPr lang="fr-BE" sz="3700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&gt;</a:t>
            </a:r>
          </a:p>
          <a:p>
            <a:pPr marL="0" indent="0">
              <a:buNone/>
            </a:pPr>
            <a:r>
              <a:rPr lang="fr-BE" sz="3700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&lt;/</a:t>
            </a:r>
            <a:r>
              <a:rPr lang="fr-BE" sz="3700" dirty="0" err="1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head</a:t>
            </a:r>
            <a:r>
              <a:rPr lang="fr-BE" sz="3700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&gt;</a:t>
            </a:r>
            <a:endParaRPr lang="fr-BE" dirty="0">
              <a:latin typeface="Courier New" panose="02070309020205020404" pitchFamily="49" charset="0"/>
              <a:cs typeface="Courier New" panose="02070309020205020404" pitchFamily="49" charset="0"/>
              <a:sym typeface="Courier New"/>
            </a:endParaRPr>
          </a:p>
          <a:p>
            <a:pPr marL="0" indent="0">
              <a:buNone/>
            </a:pPr>
            <a:r>
              <a:rPr lang="fr-BE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&lt;body&gt;</a:t>
            </a:r>
          </a:p>
          <a:p>
            <a:pPr marL="0" indent="0">
              <a:buNone/>
            </a:pPr>
            <a:r>
              <a:rPr lang="fr-BE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&lt;div id="01"&gt;Bienvenue&lt;/div&gt;</a:t>
            </a:r>
          </a:p>
          <a:p>
            <a:pPr marL="0" indent="0">
              <a:buNone/>
            </a:pP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&lt;script&gt;</a:t>
            </a:r>
          </a:p>
          <a:p>
            <a:pPr marL="0" indent="0">
              <a:buNone/>
            </a:pP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el = </a:t>
            </a:r>
            <a:r>
              <a:rPr lang="fr-BE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document.getElementById</a:t>
            </a: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("01");</a:t>
            </a:r>
          </a:p>
          <a:p>
            <a:pPr marL="0" indent="0">
              <a:buNone/>
            </a:pPr>
            <a:r>
              <a:rPr lang="fr-BE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el.innerHTML</a:t>
            </a: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= "Bonjour";</a:t>
            </a:r>
          </a:p>
          <a:p>
            <a:pPr marL="0" indent="0">
              <a:buNone/>
            </a:pP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&lt;/script&gt;    </a:t>
            </a:r>
            <a:endParaRPr lang="fr-BE" dirty="0">
              <a:latin typeface="Courier New" panose="02070309020205020404" pitchFamily="49" charset="0"/>
              <a:cs typeface="Courier New" panose="02070309020205020404" pitchFamily="49" charset="0"/>
              <a:sym typeface="Courier New"/>
            </a:endParaRPr>
          </a:p>
          <a:p>
            <a:pPr marL="0" indent="0">
              <a:buNone/>
            </a:pPr>
            <a:r>
              <a:rPr lang="fr-BE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&lt;/body&gt;</a:t>
            </a:r>
          </a:p>
          <a:p>
            <a:pPr marL="0" indent="0">
              <a:buNone/>
            </a:pPr>
            <a:r>
              <a:rPr lang="fr-BE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&lt;/html&gt;</a:t>
            </a:r>
          </a:p>
        </p:txBody>
      </p:sp>
      <p:sp>
        <p:nvSpPr>
          <p:cNvPr id="122" name="Google Shape;122;p21"/>
          <p:cNvSpPr txBox="1">
            <a:spLocks noGrp="1"/>
          </p:cNvSpPr>
          <p:nvPr>
            <p:ph sz="half" idx="2"/>
          </p:nvPr>
        </p:nvSpPr>
        <p:spPr>
          <a:xfrm>
            <a:off x="6172200" y="1825625"/>
            <a:ext cx="5840128" cy="4351339"/>
          </a:xfr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fr-BE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&lt;html&gt;</a:t>
            </a:r>
          </a:p>
          <a:p>
            <a:pPr marL="0" indent="0">
              <a:buNone/>
            </a:pPr>
            <a:r>
              <a:rPr lang="fr-BE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</a:t>
            </a:r>
            <a:r>
              <a:rPr lang="fr-BE" dirty="0" err="1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head</a:t>
            </a:r>
            <a:r>
              <a:rPr lang="fr-BE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&gt;</a:t>
            </a:r>
          </a:p>
          <a:p>
            <a:pPr marL="0" indent="0">
              <a:buNone/>
            </a:pPr>
            <a:r>
              <a:rPr lang="fr-BE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</a:t>
            </a:r>
            <a:r>
              <a:rPr lang="fr-BE" dirty="0" err="1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title</a:t>
            </a:r>
            <a:r>
              <a:rPr lang="fr-BE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&gt;</a:t>
            </a:r>
            <a:r>
              <a:rPr lang="fr-BE" dirty="0"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Emplacement JS KO</a:t>
            </a:r>
            <a:r>
              <a:rPr lang="fr-BE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&lt;/</a:t>
            </a:r>
            <a:r>
              <a:rPr lang="fr-BE" dirty="0" err="1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title</a:t>
            </a:r>
            <a:r>
              <a:rPr lang="fr-BE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&gt;</a:t>
            </a:r>
          </a:p>
          <a:p>
            <a:pPr marL="0" indent="0">
              <a:buNone/>
            </a:pPr>
            <a:r>
              <a:rPr lang="fr-BE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&lt;/</a:t>
            </a:r>
            <a:r>
              <a:rPr lang="fr-BE" dirty="0" err="1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head</a:t>
            </a:r>
            <a:r>
              <a:rPr lang="fr-BE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&gt;</a:t>
            </a:r>
          </a:p>
          <a:p>
            <a:pPr marL="0" indent="0">
              <a:buNone/>
            </a:pPr>
            <a:r>
              <a:rPr lang="fr-BE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&lt;body&gt;</a:t>
            </a:r>
          </a:p>
          <a:p>
            <a:pPr marL="0" indent="0">
              <a:buNone/>
            </a:pP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&lt;script&gt;</a:t>
            </a:r>
          </a:p>
          <a:p>
            <a:pPr marL="0" indent="0">
              <a:buNone/>
            </a:pP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el = </a:t>
            </a:r>
            <a:r>
              <a:rPr lang="fr-BE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document.getElementById</a:t>
            </a: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("01");</a:t>
            </a:r>
          </a:p>
          <a:p>
            <a:pPr marL="0" indent="0">
              <a:buNone/>
            </a:pPr>
            <a:r>
              <a:rPr lang="fr-BE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el.innerHTML</a:t>
            </a: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 = "Bonjour";</a:t>
            </a:r>
          </a:p>
          <a:p>
            <a:pPr marL="0" indent="0">
              <a:buNone/>
            </a:pP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&lt;/script&gt;</a:t>
            </a:r>
            <a:endParaRPr lang="fr-BE" dirty="0">
              <a:latin typeface="Courier New" panose="02070309020205020404" pitchFamily="49" charset="0"/>
              <a:cs typeface="Courier New" panose="02070309020205020404" pitchFamily="49" charset="0"/>
              <a:sym typeface="Courier New"/>
            </a:endParaRPr>
          </a:p>
          <a:p>
            <a:pPr marL="0" indent="0">
              <a:buNone/>
            </a:pPr>
            <a:r>
              <a:rPr lang="fr-BE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&lt;div id="01"&gt;Bienvenue&lt;/div&gt;   </a:t>
            </a:r>
          </a:p>
          <a:p>
            <a:pPr marL="0" indent="0">
              <a:buNone/>
            </a:pPr>
            <a:r>
              <a:rPr lang="fr-BE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&lt;/body&gt;</a:t>
            </a:r>
          </a:p>
          <a:p>
            <a:pPr marL="0" indent="0">
              <a:buNone/>
            </a:pPr>
            <a:r>
              <a:rPr lang="fr-BE" dirty="0"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&lt;/html&gt;</a:t>
            </a:r>
          </a:p>
        </p:txBody>
      </p:sp>
      <p:pic>
        <p:nvPicPr>
          <p:cNvPr id="10" name="Graphique 9" descr="Pouce en haut">
            <a:extLst>
              <a:ext uri="{FF2B5EF4-FFF2-40B4-BE49-F238E27FC236}">
                <a16:creationId xmlns:a16="http://schemas.microsoft.com/office/drawing/2014/main" id="{1F527505-C38F-4468-8DF5-D7B1996E3E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34930" y="5055973"/>
            <a:ext cx="914400" cy="914400"/>
          </a:xfrm>
          <a:prstGeom prst="rect">
            <a:avLst/>
          </a:prstGeom>
        </p:spPr>
      </p:pic>
      <p:pic>
        <p:nvPicPr>
          <p:cNvPr id="12" name="Graphique 11" descr="Main levée">
            <a:extLst>
              <a:ext uri="{FF2B5EF4-FFF2-40B4-BE49-F238E27FC236}">
                <a16:creationId xmlns:a16="http://schemas.microsoft.com/office/drawing/2014/main" id="{537F31A6-D717-4BCA-A524-573F952041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744980" y="4942361"/>
            <a:ext cx="91440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2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>
                <a:sym typeface="Calibri"/>
              </a:rPr>
              <a:t>Code interne/externe </a:t>
            </a:r>
            <a:r>
              <a:rPr lang="fr-BE">
                <a:sym typeface="Calibri"/>
              </a:rPr>
              <a:t>: exo02</a:t>
            </a:r>
            <a:endParaRPr lang="fr-BE" dirty="0">
              <a:sym typeface="Calibri"/>
            </a:endParaRPr>
          </a:p>
        </p:txBody>
      </p:sp>
      <p:sp>
        <p:nvSpPr>
          <p:cNvPr id="127" name="Google Shape;127;p22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>
                <a:sym typeface="Calibri"/>
              </a:rPr>
              <a:t>Créez une page HTML </a:t>
            </a:r>
            <a:r>
              <a:rPr lang="fr-BE">
                <a:solidFill>
                  <a:schemeClr val="accent2"/>
                </a:solidFill>
                <a:sym typeface="Calibri"/>
              </a:rPr>
              <a:t>"exo02</a:t>
            </a:r>
            <a:r>
              <a:rPr lang="fr-BE" dirty="0">
                <a:solidFill>
                  <a:schemeClr val="accent2"/>
                </a:solidFill>
                <a:sym typeface="Calibri"/>
              </a:rPr>
              <a:t>_alert_inline.html" </a:t>
            </a:r>
            <a:r>
              <a:rPr lang="fr-BE" dirty="0">
                <a:sym typeface="Calibri"/>
              </a:rPr>
              <a:t>contenant le script JS suivant :</a:t>
            </a:r>
            <a:br>
              <a:rPr lang="fr-BE" dirty="0">
                <a:sym typeface="Calibri"/>
              </a:rPr>
            </a:b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alert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("Bienvenue sur mon site");</a:t>
            </a:r>
          </a:p>
          <a:p>
            <a:r>
              <a:rPr lang="fr-BE" dirty="0">
                <a:sym typeface="Calibri"/>
              </a:rPr>
              <a:t>Migrer ce script dans un fichier </a:t>
            </a:r>
            <a:r>
              <a:rPr lang="fr-BE">
                <a:solidFill>
                  <a:schemeClr val="accent2"/>
                </a:solidFill>
                <a:sym typeface="Calibri"/>
              </a:rPr>
              <a:t>"exo02</a:t>
            </a:r>
            <a:r>
              <a:rPr lang="fr-BE" dirty="0">
                <a:solidFill>
                  <a:schemeClr val="accent2"/>
                </a:solidFill>
                <a:sym typeface="Calibri"/>
              </a:rPr>
              <a:t>_alert_outline.js"</a:t>
            </a:r>
            <a:r>
              <a:rPr lang="fr-BE" dirty="0">
                <a:sym typeface="Calibri"/>
              </a:rPr>
              <a:t> et faites y appel dans votre page HTML</a:t>
            </a:r>
          </a:p>
          <a:p>
            <a:r>
              <a:rPr lang="fr-BE" dirty="0">
                <a:sym typeface="Calibri"/>
              </a:rPr>
              <a:t>Solution sur burotix.be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4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Variables </a:t>
            </a:r>
            <a:r>
              <a:rPr lang="fr-BE" dirty="0">
                <a:sym typeface="Calibri"/>
              </a:rPr>
              <a:t>et Typage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AF9B2C08-6237-AC0F-3C18-82BC8F74F6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pic>
        <p:nvPicPr>
          <p:cNvPr id="5" name="Espace réservé pour une image  5">
            <a:extLst>
              <a:ext uri="{FF2B5EF4-FFF2-40B4-BE49-F238E27FC236}">
                <a16:creationId xmlns:a16="http://schemas.microsoft.com/office/drawing/2014/main" id="{FBD8D72B-2687-498B-8298-063AA95967C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4506" b="14506"/>
          <a:stretch/>
        </p:blipFill>
        <p:spPr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5"/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 dirty="0">
                <a:sym typeface="Calibri"/>
              </a:rPr>
              <a:t>Typage dynamique</a:t>
            </a:r>
          </a:p>
        </p:txBody>
      </p:sp>
      <p:sp>
        <p:nvSpPr>
          <p:cNvPr id="150" name="Google Shape;150;p25"/>
          <p:cNvSpPr txBox="1"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BE" dirty="0">
                <a:sym typeface="Calibri"/>
              </a:rPr>
              <a:t>JavaScript : langage à </a:t>
            </a:r>
            <a:r>
              <a:rPr lang="fr-BE" dirty="0">
                <a:solidFill>
                  <a:schemeClr val="accent2"/>
                </a:solidFill>
                <a:sym typeface="Calibri"/>
              </a:rPr>
              <a:t>typage dynamique</a:t>
            </a:r>
          </a:p>
          <a:p>
            <a:pPr lvl="1"/>
            <a:r>
              <a:rPr lang="fr-BE" dirty="0">
                <a:sym typeface="Calibri"/>
              </a:rPr>
              <a:t>Type d'une variable défini au runtime </a:t>
            </a:r>
          </a:p>
          <a:p>
            <a:pPr lvl="1"/>
            <a:r>
              <a:rPr lang="fr-BE" dirty="0">
                <a:sym typeface="Calibri"/>
              </a:rPr>
              <a:t>Type d'une variable changeable en cours d'exécution (comme en PHP)</a:t>
            </a:r>
          </a:p>
          <a:p>
            <a:r>
              <a:rPr lang="fr-BE" dirty="0">
                <a:sym typeface="Calibri"/>
              </a:rPr>
              <a:t>Nom des variables</a:t>
            </a:r>
          </a:p>
          <a:p>
            <a:pPr lvl="1"/>
            <a:r>
              <a:rPr lang="fr-BE" dirty="0">
                <a:sym typeface="Calibri"/>
              </a:rPr>
              <a:t>1</a:t>
            </a:r>
            <a:r>
              <a:rPr lang="fr-BE" baseline="30000" dirty="0">
                <a:sym typeface="Calibri"/>
              </a:rPr>
              <a:t>er</a:t>
            </a:r>
            <a:r>
              <a:rPr lang="fr-BE" dirty="0">
                <a:sym typeface="Calibri"/>
              </a:rPr>
              <a:t> caractère : une lettre, </a:t>
            </a: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"_"</a:t>
            </a:r>
            <a:r>
              <a:rPr lang="fr-BE" dirty="0">
                <a:sym typeface="Calibri"/>
              </a:rPr>
              <a:t> ou </a:t>
            </a: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"$"</a:t>
            </a:r>
          </a:p>
          <a:p>
            <a:pPr lvl="1"/>
            <a:r>
              <a:rPr lang="fr-BE" dirty="0">
                <a:sym typeface="Calibri"/>
              </a:rPr>
              <a:t>caractères suivants : alphanumériques, </a:t>
            </a: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"_"</a:t>
            </a:r>
            <a:r>
              <a:rPr lang="fr-BE" dirty="0">
                <a:sym typeface="Calibri"/>
              </a:rPr>
              <a:t> ou </a:t>
            </a: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"$"</a:t>
            </a:r>
          </a:p>
          <a:p>
            <a:r>
              <a:rPr lang="fr-BE" dirty="0">
                <a:sym typeface="Calibri"/>
              </a:rPr>
              <a:t>Exemples: 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var myvar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= "mon texte d’initialisation";</a:t>
            </a:r>
          </a:p>
          <a:p>
            <a:pPr marL="457189" lvl="1" indent="0">
              <a:buNone/>
            </a:pP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// ...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myvar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= 2;</a:t>
            </a:r>
          </a:p>
          <a:p>
            <a:endParaRPr lang="fr-BE" dirty="0"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72BE49-C490-E414-9AC6-B6927FE73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BE"/>
              <a:t>Mots-clés : </a:t>
            </a:r>
            <a:r>
              <a:rPr lang="fr-BE" b="0">
                <a:solidFill>
                  <a:schemeClr val="accent2"/>
                </a:solidFill>
                <a:latin typeface="Consolas" panose="020B0609020204030204" pitchFamily="49" charset="0"/>
              </a:rPr>
              <a:t>var</a:t>
            </a:r>
            <a:r>
              <a:rPr lang="fr-BE"/>
              <a:t>, </a:t>
            </a:r>
            <a:r>
              <a:rPr lang="fr-BE" b="0">
                <a:solidFill>
                  <a:schemeClr val="accent2"/>
                </a:solidFill>
                <a:latin typeface="Consolas" panose="020B0609020204030204" pitchFamily="49" charset="0"/>
              </a:rPr>
              <a:t>let</a:t>
            </a:r>
            <a:r>
              <a:rPr lang="fr-BE"/>
              <a:t>, </a:t>
            </a:r>
            <a:r>
              <a:rPr lang="fr-BE" b="0">
                <a:solidFill>
                  <a:schemeClr val="accent2"/>
                </a:solidFill>
                <a:latin typeface="Consolas" panose="020B0609020204030204" pitchFamily="49" charset="0"/>
              </a:rPr>
              <a:t>const</a:t>
            </a:r>
            <a:r>
              <a:rPr lang="fr-BE"/>
              <a:t>, … ou rien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9D119F8-9177-6D36-719E-5A25778798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486276"/>
          </a:xfrm>
        </p:spPr>
        <p:txBody>
          <a:bodyPr numCol="2">
            <a:normAutofit lnSpcReduction="10000"/>
          </a:bodyPr>
          <a:lstStyle/>
          <a:p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sym typeface="Courier New"/>
              </a:rPr>
              <a:t>myvar = "hello";</a:t>
            </a:r>
          </a:p>
          <a:p>
            <a:pPr lvl="1"/>
            <a:r>
              <a:rPr lang="fr-BE"/>
              <a:t>scope global</a:t>
            </a:r>
          </a:p>
          <a:p>
            <a:pPr lvl="1"/>
            <a:r>
              <a:rPr lang="fr-BE">
                <a:sym typeface="Courier New"/>
              </a:rPr>
              <a:t>redéclaration possible</a:t>
            </a:r>
            <a:endParaRPr lang="fr-BE"/>
          </a:p>
          <a:p>
            <a:r>
              <a:rPr lang="fr-BE" sz="3000">
                <a:solidFill>
                  <a:schemeClr val="accent2"/>
                </a:solidFill>
                <a:latin typeface="Consolas" panose="020B0609020204030204" pitchFamily="49" charset="0"/>
                <a:sym typeface="Courier New"/>
              </a:rPr>
              <a:t>var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sym typeface="Courier New"/>
              </a:rPr>
              <a:t> myvar_v = "hello";</a:t>
            </a:r>
          </a:p>
          <a:p>
            <a:pPr lvl="1"/>
            <a:r>
              <a:rPr lang="fr-BE"/>
              <a:t>scope global si déclaré globalement</a:t>
            </a:r>
          </a:p>
          <a:p>
            <a:pPr lvl="1"/>
            <a:r>
              <a:rPr lang="fr-BE"/>
              <a:t>scope local si déclaré localement</a:t>
            </a:r>
          </a:p>
          <a:p>
            <a:pPr lvl="1"/>
            <a:r>
              <a:rPr lang="fr-BE">
                <a:sym typeface="Courier New"/>
              </a:rPr>
              <a:t>redéclaration possible</a:t>
            </a:r>
          </a:p>
          <a:p>
            <a:pPr lvl="1"/>
            <a:r>
              <a:rPr lang="fr-BE">
                <a:sym typeface="Courier New"/>
              </a:rPr>
              <a:t>vieillot, à éviter</a:t>
            </a:r>
          </a:p>
          <a:p>
            <a:r>
              <a:rPr lang="fr-BE" sz="3000">
                <a:solidFill>
                  <a:schemeClr val="accent2"/>
                </a:solidFill>
                <a:latin typeface="Consolas" panose="020B0609020204030204" pitchFamily="49" charset="0"/>
                <a:sym typeface="Courier New"/>
              </a:rPr>
              <a:t>let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sym typeface="Courier New"/>
              </a:rPr>
              <a:t> myvar_l = "hello";</a:t>
            </a:r>
          </a:p>
          <a:p>
            <a:pPr lvl="1"/>
            <a:r>
              <a:rPr lang="fr-BE">
                <a:sym typeface="Courier New"/>
              </a:rPr>
              <a:t>scope de </a:t>
            </a:r>
            <a:r>
              <a:rPr lang="fr-BE">
                <a:solidFill>
                  <a:schemeClr val="accent5"/>
                </a:solidFill>
                <a:sym typeface="Courier New"/>
              </a:rPr>
              <a:t>bloc</a:t>
            </a:r>
            <a:r>
              <a:rPr lang="fr-BE">
                <a:sym typeface="Courier New"/>
              </a:rPr>
              <a:t> (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sym typeface="Courier New"/>
              </a:rPr>
              <a:t>{…}</a:t>
            </a:r>
            <a:r>
              <a:rPr lang="fr-BE">
                <a:sym typeface="Courier New"/>
              </a:rPr>
              <a:t> )</a:t>
            </a:r>
          </a:p>
          <a:p>
            <a:pPr lvl="1"/>
            <a:r>
              <a:rPr lang="fr-BE">
                <a:sym typeface="Courier New"/>
              </a:rPr>
              <a:t>redéclaration </a:t>
            </a:r>
            <a:r>
              <a:rPr lang="fr-BE">
                <a:solidFill>
                  <a:schemeClr val="accent5"/>
                </a:solidFill>
                <a:sym typeface="Courier New"/>
              </a:rPr>
              <a:t>possible</a:t>
            </a:r>
            <a:r>
              <a:rPr lang="fr-BE">
                <a:sym typeface="Courier New"/>
              </a:rPr>
              <a:t> </a:t>
            </a:r>
            <a:br>
              <a:rPr lang="fr-BE">
                <a:sym typeface="Courier New"/>
              </a:rPr>
            </a:br>
            <a:r>
              <a:rPr lang="fr-BE">
                <a:sym typeface="Courier New"/>
              </a:rPr>
              <a:t>(sans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sym typeface="Courier New"/>
              </a:rPr>
              <a:t>let</a:t>
            </a:r>
            <a:r>
              <a:rPr lang="fr-BE">
                <a:sym typeface="Courier New"/>
              </a:rPr>
              <a:t>)</a:t>
            </a:r>
          </a:p>
          <a:p>
            <a:pPr lvl="1"/>
            <a:r>
              <a:rPr lang="fr-BE">
                <a:sym typeface="Courier New"/>
              </a:rPr>
              <a:t>recommandé</a:t>
            </a:r>
            <a:endParaRPr lang="fr-BE">
              <a:solidFill>
                <a:schemeClr val="accent5"/>
              </a:solidFill>
              <a:sym typeface="Courier New"/>
            </a:endParaRPr>
          </a:p>
          <a:p>
            <a:r>
              <a:rPr lang="fr-BE" sz="3000">
                <a:solidFill>
                  <a:schemeClr val="accent2"/>
                </a:solidFill>
                <a:latin typeface="Consolas" panose="020B0609020204030204" pitchFamily="49" charset="0"/>
                <a:sym typeface="Courier New"/>
              </a:rPr>
              <a:t>const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sym typeface="Courier New"/>
              </a:rPr>
              <a:t> myvar_c = "hello";</a:t>
            </a:r>
          </a:p>
          <a:p>
            <a:pPr lvl="1"/>
            <a:r>
              <a:rPr lang="fr-BE">
                <a:sym typeface="Courier New"/>
              </a:rPr>
              <a:t>scope de </a:t>
            </a:r>
            <a:r>
              <a:rPr lang="fr-BE">
                <a:solidFill>
                  <a:schemeClr val="accent5"/>
                </a:solidFill>
                <a:sym typeface="Courier New"/>
              </a:rPr>
              <a:t>bloc</a:t>
            </a:r>
            <a:r>
              <a:rPr lang="fr-BE">
                <a:sym typeface="Courier New"/>
              </a:rPr>
              <a:t> (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sym typeface="Courier New"/>
              </a:rPr>
              <a:t>{…}</a:t>
            </a:r>
            <a:r>
              <a:rPr lang="fr-BE">
                <a:sym typeface="Courier New"/>
              </a:rPr>
              <a:t> )</a:t>
            </a:r>
          </a:p>
          <a:p>
            <a:pPr lvl="1"/>
            <a:r>
              <a:rPr lang="fr-BE">
                <a:sym typeface="Courier New"/>
              </a:rPr>
              <a:t>redéclaration </a:t>
            </a:r>
            <a:r>
              <a:rPr lang="fr-BE">
                <a:solidFill>
                  <a:schemeClr val="accent5"/>
                </a:solidFill>
                <a:sym typeface="Courier New"/>
              </a:rPr>
              <a:t>impossible</a:t>
            </a:r>
          </a:p>
          <a:p>
            <a:pPr lvl="1"/>
            <a:r>
              <a:rPr lang="fr-BE">
                <a:sym typeface="Courier New"/>
              </a:rPr>
              <a:t>recommandé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2649702-BA33-2A61-D150-93431187BFE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9D382761-2948-48A1-AEF1-887E6D461BE5}" type="datetime1">
              <a:rPr lang="fr-BE" smtClean="0"/>
              <a:pPr/>
              <a:t>12-10-25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D999FB5-4C45-C906-CF62-0CDA7F7A7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9526"/>
            <a:ext cx="2743200" cy="365125"/>
          </a:xfrm>
        </p:spPr>
        <p:txBody>
          <a:bodyPr/>
          <a:lstStyle/>
          <a:p>
            <a:fld id="{02C092ED-0E97-497E-99D9-BB9DD7276F53}" type="slidenum">
              <a:rPr lang="fr-BE" smtClean="0"/>
              <a:pPr/>
              <a:t>14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7736736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7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>
                <a:sym typeface="Calibri"/>
              </a:rPr>
              <a:t>Scalaires </a:t>
            </a:r>
            <a:r>
              <a:rPr lang="fr-BE">
                <a:sym typeface="Calibri"/>
              </a:rPr>
              <a:t>: exo03 </a:t>
            </a:r>
            <a:endParaRPr lang="fr-BE" dirty="0">
              <a:sym typeface="Calibri"/>
            </a:endParaRPr>
          </a:p>
        </p:txBody>
      </p:sp>
      <p:sp>
        <p:nvSpPr>
          <p:cNvPr id="163" name="Google Shape;163;p27"/>
          <p:cNvSpPr txBox="1"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chemeClr val="accent2"/>
                </a:solidFill>
              </a:rPr>
              <a:t>Boolean</a:t>
            </a:r>
          </a:p>
          <a:p>
            <a:pPr lvl="1"/>
            <a:r>
              <a:rPr lang="en-US" dirty="0"/>
              <a:t>type de </a:t>
            </a:r>
            <a:r>
              <a:rPr lang="en-US" dirty="0" err="1"/>
              <a:t>valeurs</a:t>
            </a:r>
            <a:r>
              <a:rPr lang="en-US" dirty="0"/>
              <a:t> </a:t>
            </a:r>
            <a:r>
              <a:rPr lang="en-US" dirty="0" err="1"/>
              <a:t>possibles</a:t>
            </a:r>
            <a:r>
              <a:rPr lang="en-US" dirty="0"/>
              <a:t> </a:t>
            </a:r>
            <a:r>
              <a:rPr lang="en-US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false</a:t>
            </a:r>
            <a:endParaRPr lang="fr-BE" dirty="0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chemeClr val="accent2"/>
                </a:solidFill>
              </a:rPr>
              <a:t>Number</a:t>
            </a:r>
          </a:p>
          <a:p>
            <a:pPr lvl="1"/>
            <a:r>
              <a:rPr lang="en-US" dirty="0"/>
              <a:t>type qui </a:t>
            </a:r>
            <a:r>
              <a:rPr lang="en-US" dirty="0" err="1"/>
              <a:t>représente</a:t>
            </a:r>
            <a:r>
              <a:rPr lang="en-US" dirty="0"/>
              <a:t> un </a:t>
            </a:r>
            <a:r>
              <a:rPr lang="en-US" dirty="0" err="1">
                <a:solidFill>
                  <a:schemeClr val="accent2"/>
                </a:solidFill>
              </a:rPr>
              <a:t>nombre</a:t>
            </a:r>
            <a:endParaRPr lang="en-US" dirty="0">
              <a:solidFill>
                <a:schemeClr val="accent2"/>
              </a:solidFill>
            </a:endParaRPr>
          </a:p>
          <a:p>
            <a:pPr lvl="1"/>
            <a:r>
              <a:rPr lang="fr-BE" dirty="0">
                <a:sym typeface="Courier New"/>
              </a:rPr>
              <a:t>forme littérale pour un nombre entier en base décimale</a:t>
            </a:r>
          </a:p>
          <a:p>
            <a:pPr marL="457189" lvl="1" indent="0">
              <a:buNone/>
            </a:pPr>
            <a:r>
              <a:rPr lang="fr-BE" sz="28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	</a:t>
            </a:r>
            <a:r>
              <a:rPr lang="fr-BE" sz="30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let </a:t>
            </a:r>
            <a:r>
              <a:rPr lang="fr-BE" sz="300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nombreEntier</a:t>
            </a:r>
            <a:r>
              <a:rPr lang="fr-BE" sz="30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= 11;</a:t>
            </a:r>
            <a:endParaRPr lang="fr-BE" sz="2800" dirty="0">
              <a:solidFill>
                <a:srgbClr val="996633"/>
              </a:solidFill>
              <a:latin typeface="Consolas" panose="020B0609020204030204" pitchFamily="49" charset="0"/>
              <a:cs typeface="Courier New" panose="02070309020205020404" pitchFamily="49" charset="0"/>
              <a:sym typeface="Courier New"/>
            </a:endParaRPr>
          </a:p>
          <a:p>
            <a:pPr lvl="1"/>
            <a:r>
              <a:rPr lang="fr-BE" dirty="0">
                <a:sym typeface="Courier New"/>
              </a:rPr>
              <a:t>forme littérale pour un nombre réel</a:t>
            </a:r>
            <a:endParaRPr lang="fr-BE" sz="2800" b="1" dirty="0">
              <a:solidFill>
                <a:schemeClr val="accent2"/>
              </a:solidFill>
              <a:latin typeface="Courier New" panose="02070309020205020404" pitchFamily="49" charset="0"/>
              <a:cs typeface="Courier New" panose="02070309020205020404" pitchFamily="49" charset="0"/>
              <a:sym typeface="Courier New"/>
            </a:endParaRPr>
          </a:p>
          <a:p>
            <a:pPr marL="914377" lvl="2" indent="0">
              <a:buNone/>
            </a:pPr>
            <a:r>
              <a:rPr lang="fr-BE" sz="30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const </a:t>
            </a:r>
            <a:r>
              <a:rPr lang="fr-BE" sz="300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nombreReel</a:t>
            </a:r>
            <a:r>
              <a:rPr lang="fr-BE" sz="30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= 11.435;</a:t>
            </a:r>
          </a:p>
          <a:p>
            <a:r>
              <a:rPr lang="en-US" dirty="0">
                <a:solidFill>
                  <a:schemeClr val="accent2"/>
                </a:solidFill>
              </a:rPr>
              <a:t>String</a:t>
            </a:r>
            <a:endParaRPr lang="fr-BE" dirty="0"/>
          </a:p>
          <a:p>
            <a:pPr lvl="1"/>
            <a:r>
              <a:rPr lang="fr-BE" dirty="0"/>
              <a:t>t</a:t>
            </a:r>
            <a:r>
              <a:rPr lang="en-US" dirty="0" err="1"/>
              <a:t>ype</a:t>
            </a:r>
            <a:r>
              <a:rPr lang="en-US" dirty="0"/>
              <a:t> qui </a:t>
            </a:r>
            <a:r>
              <a:rPr lang="en-US" dirty="0" err="1"/>
              <a:t>représente</a:t>
            </a:r>
            <a:r>
              <a:rPr lang="en-US" dirty="0"/>
              <a:t> </a:t>
            </a:r>
            <a:r>
              <a:rPr lang="en-US" dirty="0" err="1"/>
              <a:t>une</a:t>
            </a:r>
            <a:r>
              <a:rPr lang="en-US" dirty="0"/>
              <a:t> </a:t>
            </a:r>
            <a:r>
              <a:rPr lang="en-US" dirty="0" err="1">
                <a:solidFill>
                  <a:schemeClr val="accent2"/>
                </a:solidFill>
              </a:rPr>
              <a:t>chaîne</a:t>
            </a:r>
            <a:r>
              <a:rPr lang="en-US" dirty="0">
                <a:solidFill>
                  <a:schemeClr val="accent2"/>
                </a:solidFill>
              </a:rPr>
              <a:t> de </a:t>
            </a:r>
            <a:r>
              <a:rPr lang="en-US" dirty="0" err="1">
                <a:solidFill>
                  <a:schemeClr val="accent2"/>
                </a:solidFill>
              </a:rPr>
              <a:t>caractères</a:t>
            </a:r>
            <a:endParaRPr lang="en-US" dirty="0">
              <a:solidFill>
                <a:schemeClr val="accent2"/>
              </a:solidFill>
            </a:endParaRPr>
          </a:p>
          <a:p>
            <a:pPr lvl="1"/>
            <a:r>
              <a:rPr lang="fr-BE" dirty="0">
                <a:sym typeface="Courier New"/>
              </a:rPr>
              <a:t>forme littérale d’une chaine de caractères</a:t>
            </a:r>
            <a:endParaRPr lang="fr-BE" sz="2800" b="1" dirty="0">
              <a:solidFill>
                <a:schemeClr val="accent2"/>
              </a:solidFill>
              <a:latin typeface="Courier New" panose="02070309020205020404" pitchFamily="49" charset="0"/>
              <a:cs typeface="Courier New" panose="02070309020205020404" pitchFamily="49" charset="0"/>
              <a:sym typeface="Courier New"/>
            </a:endParaRPr>
          </a:p>
          <a:p>
            <a:pPr marL="914377" lvl="2" indent="0">
              <a:buNone/>
            </a:pPr>
            <a:r>
              <a:rPr lang="fr-BE" sz="30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let </a:t>
            </a:r>
            <a:r>
              <a:rPr lang="fr-BE" sz="300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chaineCaracteres</a:t>
            </a:r>
            <a:r>
              <a:rPr lang="fr-BE" sz="30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= "des caractères";</a:t>
            </a:r>
          </a:p>
        </p:txBody>
      </p:sp>
    </p:spTree>
    <p:extLst>
      <p:ext uri="{BB962C8B-B14F-4D97-AF65-F5344CB8AC3E}">
        <p14:creationId xmlns:p14="http://schemas.microsoft.com/office/powerpoint/2010/main" val="4247805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7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>
                <a:sym typeface="Calibri"/>
              </a:rPr>
              <a:t>Tableaux </a:t>
            </a:r>
            <a:r>
              <a:rPr lang="fr-BE">
                <a:sym typeface="Calibri"/>
              </a:rPr>
              <a:t>: exo04</a:t>
            </a:r>
            <a:endParaRPr lang="fr-BE" dirty="0">
              <a:sym typeface="Calibri"/>
            </a:endParaRPr>
          </a:p>
        </p:txBody>
      </p:sp>
      <p:sp>
        <p:nvSpPr>
          <p:cNvPr id="163" name="Google Shape;163;p27"/>
          <p:cNvSpPr txBox="1"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 dirty="0">
                <a:sym typeface="Courier New"/>
              </a:rPr>
              <a:t>Forme littérale d’un tableau indexé</a:t>
            </a:r>
          </a:p>
          <a:p>
            <a:pPr marL="0" indent="0">
              <a:buNone/>
            </a:pPr>
            <a:r>
              <a:rPr lang="fr-BE" sz="320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const</a:t>
            </a: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</a:t>
            </a:r>
            <a:r>
              <a:rPr lang="fr-BE" sz="32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tableau </a:t>
            </a:r>
            <a:r>
              <a:rPr lang="fr-BE" sz="3200" dirty="0">
                <a:solidFill>
                  <a:schemeClr val="tx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= [</a:t>
            </a:r>
            <a:r>
              <a:rPr lang="fr-BE" sz="32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"Premier élément"</a:t>
            </a:r>
            <a:r>
              <a:rPr lang="fr-BE" sz="3200" dirty="0">
                <a:solidFill>
                  <a:schemeClr val="tx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,</a:t>
            </a:r>
            <a:r>
              <a:rPr lang="fr-BE" sz="32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</a:t>
            </a:r>
            <a:br>
              <a:rPr lang="fr-BE" sz="32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32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				 "Second élément" </a:t>
            </a:r>
            <a:r>
              <a:rPr lang="fr-BE" sz="3200" dirty="0">
                <a:solidFill>
                  <a:schemeClr val="tx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];</a:t>
            </a:r>
          </a:p>
          <a:p>
            <a:r>
              <a:rPr lang="fr-BE" dirty="0">
                <a:sym typeface="Courier New"/>
              </a:rPr>
              <a:t>Forme littérale d’un </a:t>
            </a:r>
            <a:r>
              <a:rPr lang="fr-BE">
                <a:sym typeface="Courier New"/>
              </a:rPr>
              <a:t>tableau associatif (dictionnaire)</a:t>
            </a:r>
            <a:endParaRPr lang="fr-BE" dirty="0">
              <a:sym typeface="Courier New"/>
            </a:endParaRPr>
          </a:p>
          <a:p>
            <a:pPr marL="0" indent="0">
              <a:buNone/>
            </a:pPr>
            <a:r>
              <a:rPr lang="fr-BE" sz="320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const</a:t>
            </a: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</a:t>
            </a:r>
            <a:r>
              <a:rPr lang="fr-BE" sz="32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tableauAssociatif</a:t>
            </a:r>
            <a:r>
              <a:rPr lang="fr-BE" sz="32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</a:t>
            </a:r>
            <a:r>
              <a:rPr lang="fr-BE" sz="3200" dirty="0">
                <a:solidFill>
                  <a:schemeClr val="tx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= {</a:t>
            </a:r>
            <a:r>
              <a:rPr lang="fr-BE" sz="32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</a:t>
            </a:r>
            <a:br>
              <a:rPr lang="fr-BE" sz="32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32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	"cle1" </a:t>
            </a:r>
            <a:r>
              <a:rPr lang="fr-BE" sz="3200" dirty="0">
                <a:solidFill>
                  <a:schemeClr val="tx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:</a:t>
            </a:r>
            <a:r>
              <a:rPr lang="fr-BE" sz="32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"valeur1"</a:t>
            </a:r>
            <a:r>
              <a:rPr lang="fr-BE" sz="3200" dirty="0">
                <a:solidFill>
                  <a:schemeClr val="tx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,</a:t>
            </a:r>
            <a:r>
              <a:rPr lang="fr-BE" sz="32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</a:t>
            </a:r>
            <a:br>
              <a:rPr lang="fr-BE" sz="32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32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	"cle2" </a:t>
            </a:r>
            <a:r>
              <a:rPr lang="fr-BE" sz="3200" dirty="0">
                <a:solidFill>
                  <a:schemeClr val="tx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:</a:t>
            </a:r>
            <a:r>
              <a:rPr lang="fr-BE" sz="32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"valeur2" </a:t>
            </a:r>
            <a:br>
              <a:rPr lang="fr-BE" sz="32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3200" dirty="0">
                <a:solidFill>
                  <a:schemeClr val="tx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};</a:t>
            </a:r>
          </a:p>
          <a:p>
            <a:pPr lvl="1"/>
            <a:r>
              <a:rPr lang="fr-BE" dirty="0">
                <a:sym typeface="Courier New"/>
              </a:rPr>
              <a:t>note: à l'origine de la norme JSON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8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>
                <a:sym typeface="Calibri"/>
              </a:rPr>
              <a:t>Tableaux </a:t>
            </a:r>
            <a:r>
              <a:rPr lang="fr-BE">
                <a:sym typeface="Calibri"/>
              </a:rPr>
              <a:t>: exo04</a:t>
            </a:r>
            <a:endParaRPr lang="fr-BE" dirty="0">
              <a:sym typeface="Calibri"/>
            </a:endParaRPr>
          </a:p>
        </p:txBody>
      </p:sp>
      <p:sp>
        <p:nvSpPr>
          <p:cNvPr id="168" name="Google Shape;168;p28"/>
          <p:cNvSpPr txBox="1"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228600" indent="0">
              <a:spcBef>
                <a:spcPts val="600"/>
              </a:spcBef>
              <a:buNone/>
            </a:pPr>
            <a:r>
              <a:rPr lang="fr-BE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/>
                <a:sym typeface="Courier New"/>
              </a:rPr>
              <a:t>// Initialisation</a:t>
            </a:r>
          </a:p>
          <a:p>
            <a:pPr marL="228600" indent="0">
              <a:spcBef>
                <a:spcPts val="600"/>
              </a:spcBef>
              <a:buNone/>
            </a:pPr>
            <a:r>
              <a:rPr lang="fr-BE">
                <a:solidFill>
                  <a:srgbClr val="0000FF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let </a:t>
            </a:r>
            <a:r>
              <a:rPr lang="fr-BE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monTableau2 = [</a:t>
            </a:r>
            <a:r>
              <a:rPr lang="fr-BE" dirty="0">
                <a:solidFill>
                  <a:srgbClr val="B45F06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"</a:t>
            </a:r>
            <a:r>
              <a:rPr lang="fr-BE" dirty="0" err="1">
                <a:solidFill>
                  <a:srgbClr val="B45F06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Pierre"</a:t>
            </a:r>
            <a:r>
              <a:rPr lang="fr-BE" dirty="0" err="1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,</a:t>
            </a:r>
            <a:r>
              <a:rPr lang="fr-BE" dirty="0" err="1">
                <a:solidFill>
                  <a:srgbClr val="B45F06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"Paul</a:t>
            </a:r>
            <a:r>
              <a:rPr lang="fr-BE" dirty="0">
                <a:solidFill>
                  <a:srgbClr val="B45F06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"</a:t>
            </a:r>
            <a:r>
              <a:rPr lang="fr-BE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]; </a:t>
            </a:r>
          </a:p>
          <a:p>
            <a:pPr marL="228600" indent="0">
              <a:spcBef>
                <a:spcPts val="600"/>
              </a:spcBef>
              <a:buNone/>
            </a:pPr>
            <a:r>
              <a:rPr lang="fr-BE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/>
                <a:sym typeface="Courier New"/>
              </a:rPr>
              <a:t>// Ajouter un élément</a:t>
            </a:r>
          </a:p>
          <a:p>
            <a:pPr marL="228600" indent="0">
              <a:spcBef>
                <a:spcPts val="600"/>
              </a:spcBef>
              <a:buNone/>
            </a:pPr>
            <a:r>
              <a:rPr lang="fr-BE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monTableau2.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push</a:t>
            </a:r>
            <a:r>
              <a:rPr lang="fr-BE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(</a:t>
            </a:r>
            <a:r>
              <a:rPr lang="fr-BE" dirty="0">
                <a:solidFill>
                  <a:srgbClr val="B45F06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"Jacques"</a:t>
            </a:r>
            <a:r>
              <a:rPr lang="fr-BE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); </a:t>
            </a:r>
          </a:p>
          <a:p>
            <a:pPr marL="228600" indent="0">
              <a:spcBef>
                <a:spcPts val="600"/>
              </a:spcBef>
              <a:buNone/>
            </a:pPr>
            <a:r>
              <a:rPr lang="fr-BE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/>
                <a:sym typeface="Courier New"/>
              </a:rPr>
              <a:t>// Lire un élément - Index commence à 0</a:t>
            </a:r>
          </a:p>
          <a:p>
            <a:pPr marL="228600" indent="0">
              <a:spcBef>
                <a:spcPts val="600"/>
              </a:spcBef>
              <a:buNone/>
            </a:pPr>
            <a:r>
              <a:rPr lang="fr-BE">
                <a:solidFill>
                  <a:srgbClr val="0000FF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const</a:t>
            </a:r>
            <a:r>
              <a:rPr lang="fr-BE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 </a:t>
            </a:r>
            <a:r>
              <a:rPr lang="fr-BE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nom = monTableau2[</a:t>
            </a:r>
            <a:r>
              <a:rPr lang="fr-BE" dirty="0">
                <a:solidFill>
                  <a:srgbClr val="FF0000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2</a:t>
            </a:r>
            <a:r>
              <a:rPr lang="fr-BE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]; </a:t>
            </a:r>
            <a:r>
              <a:rPr lang="fr-BE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/>
                <a:sym typeface="Courier New"/>
              </a:rPr>
              <a:t>// Longueur du tableau</a:t>
            </a:r>
          </a:p>
          <a:p>
            <a:pPr marL="228600" indent="0">
              <a:spcBef>
                <a:spcPts val="600"/>
              </a:spcBef>
              <a:buNone/>
            </a:pPr>
            <a:r>
              <a:rPr lang="fr-BE" dirty="0" err="1">
                <a:solidFill>
                  <a:schemeClr val="accent5"/>
                </a:solidFill>
                <a:latin typeface="Consolas" panose="020B0609020204030204" pitchFamily="49" charset="0"/>
                <a:cs typeface="Courier New"/>
                <a:sym typeface="Courier New"/>
              </a:rPr>
              <a:t>alert</a:t>
            </a:r>
            <a:r>
              <a:rPr lang="fr-BE" dirty="0">
                <a:latin typeface="Consolas" panose="020B0609020204030204" pitchFamily="49" charset="0"/>
                <a:cs typeface="Courier New"/>
                <a:sym typeface="Courier New"/>
              </a:rPr>
              <a:t>( 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  <a:sym typeface="Courier New"/>
              </a:rPr>
              <a:t>"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  <a:sym typeface="Courier New"/>
              </a:rPr>
              <a:t>monTableau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  <a:sym typeface="Courier New"/>
              </a:rPr>
              <a:t>[2]=" </a:t>
            </a:r>
            <a:r>
              <a:rPr lang="fr-BE" dirty="0">
                <a:latin typeface="Consolas" panose="020B0609020204030204" pitchFamily="49" charset="0"/>
                <a:cs typeface="Courier New"/>
                <a:sym typeface="Courier New"/>
              </a:rPr>
              <a:t>+ nom + 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  <a:sym typeface="Courier New"/>
              </a:rPr>
              <a:t>"\n"</a:t>
            </a:r>
            <a:r>
              <a:rPr lang="fr-BE" dirty="0">
                <a:latin typeface="Consolas" panose="020B0609020204030204" pitchFamily="49" charset="0"/>
                <a:cs typeface="Courier New"/>
                <a:sym typeface="Courier New"/>
              </a:rPr>
              <a:t> + </a:t>
            </a:r>
          </a:p>
          <a:p>
            <a:pPr marL="228600" indent="0">
              <a:spcBef>
                <a:spcPts val="600"/>
              </a:spcBef>
              <a:buNone/>
            </a:pPr>
            <a:r>
              <a:rPr lang="fr-BE" dirty="0">
                <a:latin typeface="Consolas" panose="020B0609020204030204" pitchFamily="49" charset="0"/>
                <a:cs typeface="Courier New"/>
                <a:sym typeface="Courier New"/>
              </a:rPr>
              <a:t>       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  <a:sym typeface="Courier New"/>
              </a:rPr>
              <a:t>"longueur monTableau2=" </a:t>
            </a:r>
            <a:r>
              <a:rPr lang="fr-BE" dirty="0">
                <a:latin typeface="Consolas" panose="020B0609020204030204" pitchFamily="49" charset="0"/>
                <a:cs typeface="Courier New"/>
                <a:sym typeface="Courier New"/>
              </a:rPr>
              <a:t>+ monTableau2.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  <a:cs typeface="Courier New"/>
                <a:sym typeface="Courier New"/>
              </a:rPr>
              <a:t>length</a:t>
            </a:r>
            <a:r>
              <a:rPr lang="fr-BE" dirty="0">
                <a:latin typeface="Consolas" panose="020B0609020204030204" pitchFamily="49" charset="0"/>
                <a:cs typeface="Courier New"/>
                <a:sym typeface="Courier New"/>
              </a:rPr>
              <a:t> );</a:t>
            </a:r>
          </a:p>
          <a:p>
            <a:pPr marL="228600" indent="0">
              <a:spcBef>
                <a:spcPts val="600"/>
              </a:spcBef>
              <a:buNone/>
            </a:pPr>
            <a:r>
              <a:rPr lang="fr-BE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/>
                <a:sym typeface="Courier New"/>
              </a:rPr>
              <a:t>// Tableau associatif</a:t>
            </a:r>
          </a:p>
          <a:p>
            <a:pPr marL="228600" indent="0">
              <a:spcBef>
                <a:spcPts val="600"/>
              </a:spcBef>
              <a:buNone/>
            </a:pPr>
            <a:r>
              <a:rPr lang="fr-BE">
                <a:solidFill>
                  <a:srgbClr val="0000FF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let </a:t>
            </a:r>
            <a:r>
              <a:rPr lang="fr-BE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monTableau3 = </a:t>
            </a:r>
            <a:r>
              <a:rPr lang="fr-BE" dirty="0">
                <a:solidFill>
                  <a:srgbClr val="0000FF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{}</a:t>
            </a:r>
            <a:r>
              <a:rPr lang="fr-BE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; </a:t>
            </a:r>
          </a:p>
          <a:p>
            <a:pPr marL="228600" indent="0">
              <a:spcBef>
                <a:spcPts val="600"/>
              </a:spcBef>
              <a:buNone/>
            </a:pPr>
            <a:r>
              <a:rPr lang="fr-BE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monTableau3[</a:t>
            </a:r>
            <a:r>
              <a:rPr lang="fr-BE" dirty="0">
                <a:solidFill>
                  <a:srgbClr val="B45F06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"Lundi"</a:t>
            </a:r>
            <a:r>
              <a:rPr lang="fr-BE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] = </a:t>
            </a:r>
            <a:r>
              <a:rPr lang="fr-BE" dirty="0">
                <a:solidFill>
                  <a:srgbClr val="B45F06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"Soupe"</a:t>
            </a:r>
            <a:r>
              <a:rPr lang="fr-BE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;</a:t>
            </a:r>
          </a:p>
          <a:p>
            <a:pPr marL="228600" indent="0">
              <a:spcBef>
                <a:spcPts val="600"/>
              </a:spcBef>
              <a:buNone/>
            </a:pPr>
            <a:r>
              <a:rPr lang="fr-BE" dirty="0" err="1">
                <a:solidFill>
                  <a:schemeClr val="accent5"/>
                </a:solidFill>
                <a:latin typeface="Consolas" panose="020B0609020204030204" pitchFamily="49" charset="0"/>
                <a:cs typeface="Courier New"/>
                <a:sym typeface="Courier New"/>
              </a:rPr>
              <a:t>alert</a:t>
            </a:r>
            <a:r>
              <a:rPr lang="fr-BE" dirty="0">
                <a:latin typeface="Consolas" panose="020B0609020204030204" pitchFamily="49" charset="0"/>
                <a:cs typeface="Courier New"/>
                <a:sym typeface="Courier New"/>
              </a:rPr>
              <a:t>(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  <a:sym typeface="Courier New"/>
              </a:rPr>
              <a:t>"monTableau3[Lundi]=" </a:t>
            </a:r>
            <a:r>
              <a:rPr lang="fr-BE" dirty="0">
                <a:latin typeface="Consolas" panose="020B0609020204030204" pitchFamily="49" charset="0"/>
                <a:cs typeface="Courier New"/>
                <a:sym typeface="Courier New"/>
              </a:rPr>
              <a:t>+ monTableau3[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  <a:sym typeface="Courier New"/>
              </a:rPr>
              <a:t>"Lundi"</a:t>
            </a:r>
            <a:r>
              <a:rPr lang="fr-BE" dirty="0">
                <a:latin typeface="Consolas" panose="020B0609020204030204" pitchFamily="49" charset="0"/>
                <a:cs typeface="Courier New"/>
                <a:sym typeface="Courier New"/>
              </a:rPr>
              <a:t>]);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6088A7C6-5A39-84CC-E5A2-30FD24C27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8">
            <a:extLst>
              <a:ext uri="{FF2B5EF4-FFF2-40B4-BE49-F238E27FC236}">
                <a16:creationId xmlns:a16="http://schemas.microsoft.com/office/drawing/2014/main" id="{9735BF3D-6788-16D8-F80C-96141C4A376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Tableaux : les opérateurs </a:t>
            </a:r>
            <a:endParaRPr lang="fr-BE" dirty="0">
              <a:sym typeface="Calibri"/>
            </a:endParaRPr>
          </a:p>
        </p:txBody>
      </p:sp>
      <p:sp>
        <p:nvSpPr>
          <p:cNvPr id="168" name="Google Shape;168;p28">
            <a:extLst>
              <a:ext uri="{FF2B5EF4-FFF2-40B4-BE49-F238E27FC236}">
                <a16:creationId xmlns:a16="http://schemas.microsoft.com/office/drawing/2014/main" id="{0766A182-845B-3969-5366-C0D90F6D33F2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 numCol="2">
            <a:normAutofit fontScale="92500" lnSpcReduction="10000"/>
          </a:bodyPr>
          <a:lstStyle/>
          <a:p>
            <a:pPr marL="800100" indent="-571500">
              <a:spcBef>
                <a:spcPts val="600"/>
              </a:spcBef>
            </a:pPr>
            <a:r>
              <a:rPr lang="fr-BE">
                <a:sym typeface="Courier New"/>
              </a:rPr>
              <a:t>parcourir un tableau</a:t>
            </a:r>
          </a:p>
          <a:p>
            <a:pPr marL="1257289" lvl="1" indent="-571500">
              <a:spcBef>
                <a:spcPts val="600"/>
              </a:spcBef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sym typeface="Courier New"/>
              </a:rPr>
              <a:t>.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forEach </a:t>
            </a:r>
          </a:p>
          <a:p>
            <a:pPr marL="800100" indent="-571500">
              <a:spcBef>
                <a:spcPts val="600"/>
              </a:spcBef>
            </a:pPr>
            <a:r>
              <a:rPr lang="fr-BE">
                <a:sym typeface="Courier New"/>
              </a:rPr>
              <a:t>trouver un élément</a:t>
            </a:r>
          </a:p>
          <a:p>
            <a:pPr marL="1257289" lvl="1" indent="-571500">
              <a:spcBef>
                <a:spcPts val="600"/>
              </a:spcBef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sym typeface="Courier New"/>
              </a:rPr>
              <a:t>.find</a:t>
            </a:r>
          </a:p>
          <a:p>
            <a:pPr marL="800100" indent="-571500">
              <a:spcBef>
                <a:spcPts val="600"/>
              </a:spcBef>
            </a:pPr>
            <a:r>
              <a:rPr lang="fr-BE">
                <a:sym typeface="Courier New"/>
              </a:rPr>
              <a:t>vérifier un tableau</a:t>
            </a:r>
          </a:p>
          <a:p>
            <a:pPr marL="1257289" lvl="1" indent="-571500">
              <a:spcBef>
                <a:spcPts val="600"/>
              </a:spcBef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sym typeface="Courier New"/>
              </a:rPr>
              <a:t>.some, .every</a:t>
            </a:r>
          </a:p>
          <a:p>
            <a:pPr marL="800100" indent="-571500">
              <a:spcBef>
                <a:spcPts val="600"/>
              </a:spcBef>
            </a:pPr>
            <a:r>
              <a:rPr lang="fr-BE">
                <a:sym typeface="Courier New"/>
              </a:rPr>
              <a:t>ajouter un élément </a:t>
            </a:r>
          </a:p>
          <a:p>
            <a:pPr marL="1257289" lvl="1" indent="-571500">
              <a:spcBef>
                <a:spcPts val="600"/>
              </a:spcBef>
            </a:pPr>
            <a:r>
              <a:rPr lang="fr-BE">
                <a:sym typeface="Courier New"/>
              </a:rPr>
              <a:t>à la fin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sym typeface="Courier New"/>
              </a:rPr>
              <a:t>.push</a:t>
            </a:r>
          </a:p>
          <a:p>
            <a:pPr marL="1257289" lvl="1" indent="-571500">
              <a:spcBef>
                <a:spcPts val="600"/>
              </a:spcBef>
            </a:pPr>
            <a:r>
              <a:rPr lang="fr-BE">
                <a:sym typeface="Courier New"/>
              </a:rPr>
              <a:t>au début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sym typeface="Courier New"/>
              </a:rPr>
              <a:t>.unshift</a:t>
            </a:r>
          </a:p>
          <a:p>
            <a:pPr marL="800100" indent="-571500">
              <a:spcBef>
                <a:spcPts val="600"/>
              </a:spcBef>
            </a:pPr>
            <a:r>
              <a:rPr lang="fr-BE">
                <a:sym typeface="Courier New"/>
              </a:rPr>
              <a:t>supprimer un élément </a:t>
            </a:r>
          </a:p>
          <a:p>
            <a:pPr marL="1257289" lvl="1" indent="-571500">
              <a:spcBef>
                <a:spcPts val="600"/>
              </a:spcBef>
            </a:pPr>
            <a:r>
              <a:rPr lang="fr-BE">
                <a:sym typeface="Courier New"/>
              </a:rPr>
              <a:t>le dernier élément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sym typeface="Courier New"/>
              </a:rPr>
              <a:t>.pop</a:t>
            </a:r>
          </a:p>
          <a:p>
            <a:pPr marL="1257289" lvl="1" indent="-571500">
              <a:spcBef>
                <a:spcPts val="600"/>
              </a:spcBef>
            </a:pPr>
            <a:r>
              <a:rPr lang="fr-BE">
                <a:sym typeface="Courier New"/>
              </a:rPr>
              <a:t>le premier élément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sym typeface="Courier New"/>
              </a:rPr>
              <a:t>.shift</a:t>
            </a:r>
          </a:p>
          <a:p>
            <a:pPr marL="800100" indent="-571500">
              <a:spcBef>
                <a:spcPts val="600"/>
              </a:spcBef>
            </a:pPr>
            <a:r>
              <a:rPr lang="fr-BE">
                <a:sym typeface="Courier New"/>
              </a:rPr>
              <a:t>concaténer </a:t>
            </a:r>
          </a:p>
          <a:p>
            <a:pPr marL="1257289" lvl="1" indent="-571500">
              <a:spcBef>
                <a:spcPts val="600"/>
              </a:spcBef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sym typeface="Courier New"/>
              </a:rPr>
              <a:t>.concat</a:t>
            </a:r>
          </a:p>
          <a:p>
            <a:pPr marL="800100" indent="-571500">
              <a:spcBef>
                <a:spcPts val="600"/>
              </a:spcBef>
            </a:pPr>
            <a:r>
              <a:rPr lang="fr-BE">
                <a:sym typeface="Courier New"/>
              </a:rPr>
              <a:t>extraire</a:t>
            </a:r>
          </a:p>
          <a:p>
            <a:pPr marL="1257289" lvl="1" indent="-571500">
              <a:spcBef>
                <a:spcPts val="600"/>
              </a:spcBef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sym typeface="Courier New"/>
              </a:rPr>
              <a:t>.slice</a:t>
            </a:r>
          </a:p>
          <a:p>
            <a:pPr marL="800100" indent="-571500">
              <a:spcBef>
                <a:spcPts val="600"/>
              </a:spcBef>
            </a:pPr>
            <a:r>
              <a:rPr lang="fr-BE">
                <a:sym typeface="Courier New"/>
              </a:rPr>
              <a:t>…</a:t>
            </a:r>
            <a:endParaRPr lang="fr-BE" dirty="0">
              <a:sym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24174843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9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Opérateurs</a:t>
            </a:r>
            <a:endParaRPr lang="fr-BE"/>
          </a:p>
        </p:txBody>
      </p:sp>
      <p:sp>
        <p:nvSpPr>
          <p:cNvPr id="175" name="Google Shape;175;p29"/>
          <p:cNvSpPr txBox="1"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fr-BE" dirty="0">
                <a:sym typeface="Calibri"/>
              </a:rPr>
              <a:t>Opérateurs d'affectation</a:t>
            </a:r>
          </a:p>
          <a:p>
            <a:pPr marL="457189" lvl="1" indent="0">
              <a:buNone/>
            </a:pP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	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=</a:t>
            </a:r>
          </a:p>
          <a:p>
            <a:r>
              <a:rPr lang="fr-BE" dirty="0">
                <a:sym typeface="Calibri"/>
              </a:rPr>
              <a:t>Opérateurs de calcul</a:t>
            </a:r>
          </a:p>
          <a:p>
            <a:pPr marL="457189" lvl="1" indent="0">
              <a:buNone/>
            </a:pP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	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+ - * / %</a:t>
            </a:r>
            <a:endParaRPr lang="fr-BE" dirty="0">
              <a:solidFill>
                <a:srgbClr val="996633"/>
              </a:solidFill>
              <a:latin typeface="Consolas" panose="020B0609020204030204" pitchFamily="49" charset="0"/>
              <a:cs typeface="Courier New" panose="02070309020205020404" pitchFamily="49" charset="0"/>
              <a:sym typeface="Calibri"/>
            </a:endParaRPr>
          </a:p>
          <a:p>
            <a:r>
              <a:rPr lang="fr-BE" dirty="0">
                <a:sym typeface="Calibri"/>
              </a:rPr>
              <a:t>Opérateurs de comparaison</a:t>
            </a:r>
          </a:p>
          <a:p>
            <a:pPr marL="457189" lvl="1" indent="0">
              <a:lnSpc>
                <a:spcPct val="100000"/>
              </a:lnSpc>
              <a:buNone/>
            </a:pP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	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==	</a:t>
            </a:r>
            <a:b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</a:b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	&gt;	&lt;	</a:t>
            </a:r>
            <a:b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</a:b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	&gt;=	&lt;=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2074345-7006-40DE-82E3-D812AB30452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fr-BE" dirty="0">
                <a:sym typeface="Calibri"/>
              </a:rPr>
              <a:t>Opérateur de concaténation</a:t>
            </a:r>
          </a:p>
          <a:p>
            <a:pPr marL="457189" lvl="1" indent="0">
              <a:buNone/>
            </a:pPr>
            <a:r>
              <a:rPr lang="fr-BE" sz="28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+</a:t>
            </a:r>
          </a:p>
          <a:p>
            <a:r>
              <a:rPr lang="fr-BE" dirty="0">
                <a:sym typeface="Calibri"/>
              </a:rPr>
              <a:t>Opérateurs logiques</a:t>
            </a:r>
          </a:p>
          <a:p>
            <a:pPr marL="457189" lvl="1" indent="0">
              <a:buNone/>
            </a:pPr>
            <a:r>
              <a:rPr lang="fr-BE" sz="28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!</a:t>
            </a:r>
            <a:r>
              <a:rPr lang="fr-BE" dirty="0">
                <a:sym typeface="Calibri"/>
              </a:rPr>
              <a:t>		Négation</a:t>
            </a:r>
          </a:p>
          <a:p>
            <a:pPr marL="457189" lvl="1" indent="0">
              <a:buNone/>
            </a:pPr>
            <a:r>
              <a:rPr lang="fr-BE" sz="28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&amp;&amp;</a:t>
            </a:r>
            <a:r>
              <a:rPr lang="fr-BE" dirty="0">
                <a:sym typeface="Calibri"/>
              </a:rPr>
              <a:t>		ET-logique</a:t>
            </a:r>
          </a:p>
          <a:p>
            <a:pPr marL="457189" lvl="1" indent="0">
              <a:buNone/>
            </a:pPr>
            <a:r>
              <a:rPr lang="fr-BE" sz="28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||</a:t>
            </a:r>
            <a:r>
              <a:rPr lang="fr-BE" dirty="0">
                <a:sym typeface="Calibri"/>
              </a:rPr>
              <a:t>		OU-logique</a:t>
            </a:r>
          </a:p>
          <a:p>
            <a:endParaRPr lang="fr-BE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1"/>
          <p:cNvSpPr txBox="1"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r>
              <a:rPr lang="fr-BE">
                <a:sym typeface="Calibri"/>
              </a:rPr>
              <a:t>Structures </a:t>
            </a:r>
            <a:r>
              <a:rPr lang="fr-BE" dirty="0">
                <a:sym typeface="Calibri"/>
              </a:rPr>
              <a:t>de contrôle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D013C2E0-C8CC-3067-987B-03DBC7012B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pic>
        <p:nvPicPr>
          <p:cNvPr id="5" name="Espace réservé pour une image  5">
            <a:extLst>
              <a:ext uri="{FF2B5EF4-FFF2-40B4-BE49-F238E27FC236}">
                <a16:creationId xmlns:a16="http://schemas.microsoft.com/office/drawing/2014/main" id="{51E1A867-4523-4A46-85CB-AFD7605C661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4506" b="14506"/>
          <a:stretch/>
        </p:blipFill>
        <p:spPr>
          <a:xfrm>
            <a:off x="9000000" y="720000"/>
            <a:ext cx="2160000" cy="2160000"/>
          </a:xfrm>
        </p:spPr>
      </p:pic>
    </p:spTree>
    <p:extLst>
      <p:ext uri="{BB962C8B-B14F-4D97-AF65-F5344CB8AC3E}">
        <p14:creationId xmlns:p14="http://schemas.microsoft.com/office/powerpoint/2010/main" val="277805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2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>
                <a:sym typeface="Calibri"/>
              </a:rPr>
              <a:t>Branchement : if, switch</a:t>
            </a:r>
          </a:p>
        </p:txBody>
      </p:sp>
      <p:sp>
        <p:nvSpPr>
          <p:cNvPr id="193" name="Google Shape;193;p32"/>
          <p:cNvSpPr txBox="1"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fr-BE" sz="2000" dirty="0">
                <a:sym typeface="Calibri"/>
              </a:rPr>
              <a:t>Control "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  <a:cs typeface="Courier New"/>
                <a:sym typeface="Calibri"/>
              </a:rPr>
              <a:t>if</a:t>
            </a:r>
            <a:r>
              <a:rPr lang="fr-BE" sz="2000">
                <a:sym typeface="Calibri"/>
              </a:rPr>
              <a:t>"</a:t>
            </a:r>
          </a:p>
          <a:p>
            <a:pPr marL="0" indent="0">
              <a:buNone/>
            </a:pPr>
            <a:r>
              <a:rPr lang="fr-BE" sz="2000" b="1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alibri"/>
              </a:rPr>
              <a:t>  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if</a:t>
            </a: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( </a:t>
            </a:r>
            <a:r>
              <a:rPr lang="fr-BE" sz="2000" i="1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condition </a:t>
            </a: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) </a:t>
            </a:r>
          </a:p>
          <a:p>
            <a:pPr marL="457200" lvl="0" indent="0">
              <a:spcBef>
                <a:spcPts val="600"/>
              </a:spcBef>
              <a:buNone/>
            </a:pP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{</a:t>
            </a:r>
          </a:p>
          <a:p>
            <a:pPr marL="457200" lvl="0" indent="457200">
              <a:spcBef>
                <a:spcPts val="600"/>
              </a:spcBef>
              <a:buNone/>
            </a:pP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...</a:t>
            </a:r>
          </a:p>
          <a:p>
            <a:pPr marL="457200" lvl="0" indent="0">
              <a:spcBef>
                <a:spcPts val="600"/>
              </a:spcBef>
              <a:buNone/>
            </a:pP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}</a:t>
            </a:r>
          </a:p>
          <a:p>
            <a:pPr marL="457200" lvl="0" indent="0">
              <a:spcBef>
                <a:spcPts val="600"/>
              </a:spcBef>
              <a:buNone/>
            </a:pPr>
            <a:r>
              <a:rPr lang="fr-BE" sz="2000" dirty="0" err="1">
                <a:solidFill>
                  <a:schemeClr val="accent2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else</a:t>
            </a: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 </a:t>
            </a:r>
          </a:p>
          <a:p>
            <a:pPr marL="457200" lvl="0" indent="0">
              <a:spcBef>
                <a:spcPts val="600"/>
              </a:spcBef>
              <a:buNone/>
            </a:pP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{</a:t>
            </a:r>
          </a:p>
          <a:p>
            <a:pPr marL="457200" lvl="0" indent="457200">
              <a:spcBef>
                <a:spcPts val="600"/>
              </a:spcBef>
              <a:buNone/>
            </a:pP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...</a:t>
            </a:r>
          </a:p>
          <a:p>
            <a:pPr marL="457200" lvl="0" indent="0">
              <a:spcBef>
                <a:spcPts val="600"/>
              </a:spcBef>
              <a:buNone/>
            </a:pP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}</a:t>
            </a:r>
          </a:p>
          <a:p>
            <a:endParaRPr lang="fr-BE" sz="2000" dirty="0">
              <a:sym typeface="Calibri"/>
            </a:endParaRP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BFC77CD-4CC5-4DA9-BA60-8D311B8A09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90688"/>
            <a:ext cx="5181600" cy="5167311"/>
          </a:xfrm>
        </p:spPr>
        <p:txBody>
          <a:bodyPr>
            <a:noAutofit/>
          </a:bodyPr>
          <a:lstStyle/>
          <a:p>
            <a:r>
              <a:rPr lang="fr-BE" sz="2000" dirty="0">
                <a:sym typeface="Calibri"/>
              </a:rPr>
              <a:t>Control "</a:t>
            </a:r>
            <a:r>
              <a:rPr lang="fr-BE" sz="2000" dirty="0">
                <a:solidFill>
                  <a:schemeClr val="accent2"/>
                </a:solidFill>
                <a:latin typeface="Consolas" panose="020B0609020204030204" pitchFamily="49" charset="0"/>
                <a:cs typeface="Courier New"/>
                <a:sym typeface="Calibri"/>
              </a:rPr>
              <a:t>switch</a:t>
            </a:r>
            <a:r>
              <a:rPr lang="fr-BE" sz="2000" dirty="0">
                <a:solidFill>
                  <a:schemeClr val="accent2"/>
                </a:solidFill>
                <a:latin typeface="Consolas" panose="020B0609020204030204" pitchFamily="49" charset="0"/>
                <a:sym typeface="Calibri"/>
              </a:rPr>
              <a:t> </a:t>
            </a:r>
            <a:r>
              <a:rPr lang="fr-BE" sz="2000" dirty="0">
                <a:solidFill>
                  <a:schemeClr val="accent2"/>
                </a:solidFill>
                <a:latin typeface="Consolas" panose="020B0609020204030204" pitchFamily="49" charset="0"/>
                <a:cs typeface="Courier New"/>
                <a:sym typeface="Calibri"/>
              </a:rPr>
              <a:t>case</a:t>
            </a:r>
            <a:r>
              <a:rPr lang="fr-BE" sz="2000" dirty="0">
                <a:sym typeface="Calibri"/>
              </a:rPr>
              <a:t>" :</a:t>
            </a:r>
            <a:br>
              <a:rPr lang="fr-BE" sz="2000">
                <a:sym typeface="Calibri"/>
              </a:rPr>
            </a:br>
            <a:r>
              <a:rPr lang="fr-BE" sz="2000">
                <a:sym typeface="Calibri"/>
              </a:rPr>
              <a:t>exo15-07</a:t>
            </a:r>
            <a:br>
              <a:rPr lang="fr-BE" sz="2000">
                <a:sym typeface="Calibri"/>
              </a:rPr>
            </a:br>
            <a:r>
              <a:rPr lang="fr-BE" sz="2000" b="1">
                <a:latin typeface="Consolas" panose="020B0609020204030204" pitchFamily="49" charset="0"/>
                <a:sym typeface="Calibri"/>
              </a:rPr>
              <a:t>  </a:t>
            </a:r>
            <a:r>
              <a:rPr lang="fr-BE" sz="2000">
                <a:solidFill>
                  <a:schemeClr val="accent5"/>
                </a:solidFill>
                <a:latin typeface="Consolas" panose="020B0609020204030204" pitchFamily="49" charset="0"/>
                <a:cs typeface="Courier New"/>
                <a:sym typeface="Calibri"/>
              </a:rPr>
              <a:t>const</a:t>
            </a:r>
            <a:r>
              <a:rPr lang="fr-BE" sz="2000">
                <a:latin typeface="Consolas" panose="020B0609020204030204" pitchFamily="49" charset="0"/>
                <a:sym typeface="Calibri"/>
              </a:rPr>
              <a:t> </a:t>
            </a:r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</a:rPr>
              <a:t>x </a:t>
            </a: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</a:rPr>
              <a:t>= 50 ; </a:t>
            </a:r>
          </a:p>
          <a:p>
            <a:pPr marL="457200" indent="0">
              <a:spcBef>
                <a:spcPts val="600"/>
              </a:spcBef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  <a:cs typeface="Courier New"/>
              </a:rPr>
              <a:t>switch</a:t>
            </a:r>
            <a:r>
              <a:rPr lang="fr-BE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</a:rPr>
              <a:t>(x</a:t>
            </a: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</a:rPr>
              <a:t>) {</a:t>
            </a:r>
          </a:p>
          <a:p>
            <a:pPr marL="457200" indent="0">
              <a:spcBef>
                <a:spcPts val="600"/>
              </a:spcBef>
              <a:buNone/>
            </a:pP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</a:rPr>
              <a:t>	</a:t>
            </a:r>
            <a:r>
              <a:rPr lang="fr-BE" sz="2000" dirty="0">
                <a:solidFill>
                  <a:schemeClr val="accent2"/>
                </a:solidFill>
                <a:latin typeface="Consolas" panose="020B0609020204030204" pitchFamily="49" charset="0"/>
                <a:cs typeface="Courier New"/>
              </a:rPr>
              <a:t>case</a:t>
            </a: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</a:rPr>
              <a:t> 1 :</a:t>
            </a:r>
          </a:p>
          <a:p>
            <a:pPr marL="457200" indent="0">
              <a:spcBef>
                <a:spcPts val="600"/>
              </a:spcBef>
              <a:buNone/>
            </a:pP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</a:rPr>
              <a:t>		</a:t>
            </a:r>
            <a:r>
              <a:rPr lang="fr-BE" sz="20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</a:rPr>
              <a:t>alert</a:t>
            </a: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</a:rPr>
              <a:t>('1');</a:t>
            </a:r>
          </a:p>
          <a:p>
            <a:pPr marL="457200" indent="0">
              <a:spcBef>
                <a:spcPts val="600"/>
              </a:spcBef>
              <a:buNone/>
            </a:pP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</a:rPr>
              <a:t>		</a:t>
            </a:r>
            <a:r>
              <a:rPr lang="fr-BE" sz="2000" dirty="0">
                <a:solidFill>
                  <a:schemeClr val="accent2"/>
                </a:solidFill>
                <a:latin typeface="Consolas" panose="020B0609020204030204" pitchFamily="49" charset="0"/>
                <a:cs typeface="Courier New"/>
              </a:rPr>
              <a:t>break</a:t>
            </a: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</a:rPr>
              <a:t>;</a:t>
            </a:r>
          </a:p>
          <a:p>
            <a:pPr marL="457200" indent="0">
              <a:spcBef>
                <a:spcPts val="600"/>
              </a:spcBef>
              <a:buNone/>
            </a:pP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</a:rPr>
              <a:t>	</a:t>
            </a:r>
            <a:r>
              <a:rPr lang="fr-BE" sz="2000" dirty="0">
                <a:solidFill>
                  <a:schemeClr val="accent2"/>
                </a:solidFill>
                <a:latin typeface="Consolas" panose="020B0609020204030204" pitchFamily="49" charset="0"/>
                <a:cs typeface="Courier New"/>
              </a:rPr>
              <a:t>case</a:t>
            </a: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</a:rPr>
              <a:t> 5 : </a:t>
            </a:r>
          </a:p>
          <a:p>
            <a:pPr marL="457200" indent="0">
              <a:spcBef>
                <a:spcPts val="600"/>
              </a:spcBef>
              <a:buNone/>
            </a:pP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</a:rPr>
              <a:t>		</a:t>
            </a:r>
            <a:r>
              <a:rPr lang="fr-BE" sz="20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</a:rPr>
              <a:t>alert</a:t>
            </a: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</a:rPr>
              <a:t>('5');</a:t>
            </a:r>
          </a:p>
          <a:p>
            <a:pPr marL="457200" indent="0">
              <a:spcBef>
                <a:spcPts val="600"/>
              </a:spcBef>
              <a:buNone/>
            </a:pP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</a:rPr>
              <a:t>		</a:t>
            </a:r>
            <a:r>
              <a:rPr lang="fr-BE" sz="2000" dirty="0">
                <a:solidFill>
                  <a:schemeClr val="accent2"/>
                </a:solidFill>
                <a:latin typeface="Consolas" panose="020B0609020204030204" pitchFamily="49" charset="0"/>
                <a:cs typeface="Courier New"/>
              </a:rPr>
              <a:t>break</a:t>
            </a: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</a:rPr>
              <a:t>;</a:t>
            </a:r>
          </a:p>
          <a:p>
            <a:pPr marL="457200" indent="0">
              <a:spcBef>
                <a:spcPts val="600"/>
              </a:spcBef>
              <a:buNone/>
            </a:pP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</a:rPr>
              <a:t>	</a:t>
            </a:r>
            <a:r>
              <a:rPr lang="fr-BE" sz="2000" dirty="0">
                <a:solidFill>
                  <a:schemeClr val="accent2"/>
                </a:solidFill>
                <a:latin typeface="Consolas" panose="020B0609020204030204" pitchFamily="49" charset="0"/>
                <a:cs typeface="Courier New"/>
              </a:rPr>
              <a:t>default</a:t>
            </a: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</a:rPr>
              <a:t> : </a:t>
            </a:r>
          </a:p>
          <a:p>
            <a:pPr marL="457200" indent="0">
              <a:spcBef>
                <a:spcPts val="600"/>
              </a:spcBef>
              <a:buNone/>
            </a:pP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</a:rPr>
              <a:t>		</a:t>
            </a:r>
            <a:r>
              <a:rPr lang="fr-BE" sz="20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</a:rPr>
              <a:t>alert</a:t>
            </a: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</a:rPr>
              <a:t>('default');</a:t>
            </a:r>
          </a:p>
          <a:p>
            <a:pPr marL="457200" indent="0">
              <a:spcBef>
                <a:spcPts val="600"/>
              </a:spcBef>
              <a:buNone/>
            </a:pP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</a:rPr>
              <a:t>		</a:t>
            </a:r>
            <a:r>
              <a:rPr lang="fr-BE" sz="2000" dirty="0">
                <a:solidFill>
                  <a:schemeClr val="accent2"/>
                </a:solidFill>
                <a:latin typeface="Consolas" panose="020B0609020204030204" pitchFamily="49" charset="0"/>
                <a:cs typeface="Courier New"/>
              </a:rPr>
              <a:t>break</a:t>
            </a: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</a:rPr>
              <a:t>;</a:t>
            </a:r>
          </a:p>
          <a:p>
            <a:pPr marL="457200" indent="0">
              <a:spcBef>
                <a:spcPts val="600"/>
              </a:spcBef>
              <a:buNone/>
            </a:pP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957856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2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>
                <a:sym typeface="Calibri"/>
              </a:rPr>
              <a:t>Boucle : for, </a:t>
            </a:r>
            <a:r>
              <a:rPr lang="fr-BE" dirty="0" err="1">
                <a:sym typeface="Calibri"/>
              </a:rPr>
              <a:t>while</a:t>
            </a:r>
            <a:r>
              <a:rPr lang="fr-BE" dirty="0">
                <a:sym typeface="Calibri"/>
              </a:rPr>
              <a:t> </a:t>
            </a:r>
          </a:p>
        </p:txBody>
      </p:sp>
      <p:sp>
        <p:nvSpPr>
          <p:cNvPr id="193" name="Google Shape;193;p32"/>
          <p:cNvSpPr txBox="1"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r>
              <a:rPr lang="fr-BE" sz="2400" dirty="0">
                <a:sym typeface="Calibri"/>
              </a:rPr>
              <a:t>Boucle "</a:t>
            </a:r>
            <a:r>
              <a:rPr lang="fr-BE" sz="2400" dirty="0">
                <a:solidFill>
                  <a:schemeClr val="accent2"/>
                </a:solidFill>
                <a:latin typeface="Consolas" panose="020B0609020204030204" pitchFamily="49" charset="0"/>
                <a:cs typeface="Courier New"/>
                <a:sym typeface="Calibri"/>
              </a:rPr>
              <a:t>for</a:t>
            </a:r>
            <a:r>
              <a:rPr lang="fr-BE" sz="2400" dirty="0">
                <a:sym typeface="Calibri"/>
              </a:rPr>
              <a:t>"</a:t>
            </a:r>
          </a:p>
          <a:p>
            <a:pPr marL="457189" lvl="1" indent="0">
              <a:buNone/>
            </a:pPr>
            <a:r>
              <a:rPr lang="fr-BE" sz="2400" dirty="0">
                <a:solidFill>
                  <a:schemeClr val="accent2"/>
                </a:solidFill>
                <a:latin typeface="Consolas" panose="020B0609020204030204" pitchFamily="49" charset="0"/>
                <a:cs typeface="Courier New"/>
                <a:sym typeface="Calibri"/>
              </a:rPr>
              <a:t>for</a:t>
            </a:r>
            <a: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cs typeface="Courier New"/>
                <a:sym typeface="Calibri"/>
              </a:rPr>
              <a:t>( initialisation;</a:t>
            </a:r>
            <a:b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cs typeface="Courier New"/>
                <a:sym typeface="Calibri"/>
              </a:rPr>
            </a:br>
            <a: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cs typeface="Courier New"/>
                <a:sym typeface="Calibri"/>
              </a:rPr>
              <a:t>     condition; </a:t>
            </a:r>
            <a:b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cs typeface="Courier New"/>
                <a:sym typeface="Calibri"/>
              </a:rPr>
            </a:br>
            <a: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cs typeface="Courier New"/>
                <a:sym typeface="Calibri"/>
              </a:rPr>
              <a:t>     incrémentation )</a:t>
            </a:r>
          </a:p>
          <a:p>
            <a:pPr marL="457189" lvl="1" indent="0">
              <a:buNone/>
            </a:pPr>
            <a: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cs typeface="Courier New"/>
                <a:sym typeface="Calibri"/>
              </a:rPr>
              <a:t>{</a:t>
            </a:r>
          </a:p>
          <a:p>
            <a:pPr marL="457189" lvl="1" indent="0">
              <a:buNone/>
            </a:pPr>
            <a: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cs typeface="Courier New"/>
                <a:sym typeface="Calibri"/>
              </a:rPr>
              <a:t>    ...</a:t>
            </a:r>
          </a:p>
          <a:p>
            <a:pPr marL="457189" lvl="1" indent="0">
              <a:buNone/>
            </a:pPr>
            <a: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cs typeface="Courier New"/>
                <a:sym typeface="Calibri"/>
              </a:rPr>
              <a:t>}</a:t>
            </a:r>
          </a:p>
          <a:p>
            <a:r>
              <a:rPr lang="fr-BE" sz="2400" dirty="0">
                <a:sym typeface="Calibri"/>
              </a:rPr>
              <a:t>Exemple </a:t>
            </a:r>
          </a:p>
          <a:p>
            <a:pPr marL="457189" lvl="1" indent="0">
              <a:buNone/>
            </a:pPr>
            <a:r>
              <a:rPr lang="fr-BE" sz="2400">
                <a:solidFill>
                  <a:schemeClr val="accent2"/>
                </a:solidFill>
                <a:latin typeface="Consolas" panose="020B0609020204030204" pitchFamily="49" charset="0"/>
                <a:cs typeface="Courier New"/>
                <a:sym typeface="Calibri"/>
              </a:rPr>
              <a:t>for</a:t>
            </a: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  <a:cs typeface="Courier New"/>
                <a:sym typeface="Calibri"/>
              </a:rPr>
              <a:t>(let </a:t>
            </a:r>
            <a:r>
              <a:rPr lang="fr-BE" sz="2400" dirty="0">
                <a:solidFill>
                  <a:schemeClr val="accent2"/>
                </a:solidFill>
                <a:latin typeface="Consolas" panose="020B0609020204030204" pitchFamily="49" charset="0"/>
                <a:cs typeface="Courier New"/>
                <a:sym typeface="Calibri"/>
              </a:rPr>
              <a:t>i</a:t>
            </a:r>
            <a: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cs typeface="Courier New"/>
                <a:sym typeface="Calibri"/>
              </a:rPr>
              <a:t>=0; </a:t>
            </a:r>
            <a:r>
              <a:rPr lang="fr-BE" sz="2400" dirty="0">
                <a:solidFill>
                  <a:schemeClr val="accent2"/>
                </a:solidFill>
                <a:latin typeface="Consolas" panose="020B0609020204030204" pitchFamily="49" charset="0"/>
                <a:cs typeface="Courier New"/>
                <a:sym typeface="Calibri"/>
              </a:rPr>
              <a:t>i</a:t>
            </a:r>
            <a: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cs typeface="Courier New"/>
                <a:sym typeface="Calibri"/>
              </a:rPr>
              <a:t>&lt;5; </a:t>
            </a:r>
            <a:r>
              <a:rPr lang="fr-BE" sz="2400" dirty="0">
                <a:solidFill>
                  <a:schemeClr val="accent2"/>
                </a:solidFill>
                <a:latin typeface="Consolas" panose="020B0609020204030204" pitchFamily="49" charset="0"/>
                <a:cs typeface="Courier New"/>
                <a:sym typeface="Calibri"/>
              </a:rPr>
              <a:t>i</a:t>
            </a:r>
            <a: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cs typeface="Courier New"/>
                <a:sym typeface="Calibri"/>
              </a:rPr>
              <a:t>++) </a:t>
            </a:r>
          </a:p>
          <a:p>
            <a:pPr marL="457189" lvl="1" indent="0">
              <a:buNone/>
            </a:pPr>
            <a: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cs typeface="Courier New"/>
                <a:sym typeface="Calibri"/>
              </a:rPr>
              <a:t>{</a:t>
            </a:r>
          </a:p>
          <a:p>
            <a:pPr marL="457189" lvl="1" indent="0">
              <a:buNone/>
            </a:pPr>
            <a: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cs typeface="Courier New"/>
                <a:sym typeface="Calibri"/>
              </a:rPr>
              <a:t>  </a:t>
            </a:r>
            <a:r>
              <a:rPr lang="fr-BE" sz="2400" dirty="0" err="1">
                <a:solidFill>
                  <a:srgbClr val="996633"/>
                </a:solidFill>
                <a:latin typeface="Consolas" panose="020B0609020204030204" pitchFamily="49" charset="0"/>
                <a:cs typeface="Courier New"/>
                <a:sym typeface="Calibri"/>
              </a:rPr>
              <a:t>alert</a:t>
            </a:r>
            <a: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cs typeface="Courier New"/>
                <a:sym typeface="Calibri"/>
              </a:rPr>
              <a:t>('</a:t>
            </a:r>
            <a:r>
              <a:rPr lang="fr-BE" sz="2400" dirty="0" err="1">
                <a:solidFill>
                  <a:srgbClr val="996633"/>
                </a:solidFill>
                <a:latin typeface="Consolas" panose="020B0609020204030204" pitchFamily="49" charset="0"/>
                <a:cs typeface="Courier New"/>
                <a:sym typeface="Calibri"/>
              </a:rPr>
              <a:t>Itér</a:t>
            </a:r>
            <a: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cs typeface="Courier New"/>
                <a:sym typeface="Calibri"/>
              </a:rPr>
              <a:t> n°' + </a:t>
            </a:r>
            <a:r>
              <a:rPr lang="fr-BE" sz="2400" dirty="0">
                <a:solidFill>
                  <a:schemeClr val="accent2"/>
                </a:solidFill>
                <a:latin typeface="Consolas" panose="020B0609020204030204" pitchFamily="49" charset="0"/>
                <a:cs typeface="Courier New"/>
                <a:sym typeface="Calibri"/>
              </a:rPr>
              <a:t>i</a:t>
            </a:r>
            <a: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cs typeface="Courier New"/>
                <a:sym typeface="Calibri"/>
              </a:rPr>
              <a:t>);</a:t>
            </a:r>
          </a:p>
          <a:p>
            <a:pPr marL="457189" lvl="1" indent="0">
              <a:buNone/>
            </a:pPr>
            <a: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cs typeface="Courier New"/>
                <a:sym typeface="Calibri"/>
              </a:rPr>
              <a:t>}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BFC77CD-4CC5-4DA9-BA60-8D311B8A091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fr-BE" sz="2400" dirty="0">
                <a:sym typeface="Calibri"/>
              </a:rPr>
              <a:t>Boucle "</a:t>
            </a:r>
            <a:r>
              <a:rPr lang="fr-BE" sz="24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/>
                <a:sym typeface="Calibri"/>
              </a:rPr>
              <a:t>while</a:t>
            </a:r>
            <a:r>
              <a:rPr lang="fr-BE" sz="2400" dirty="0">
                <a:sym typeface="Calibri"/>
              </a:rPr>
              <a:t>"</a:t>
            </a:r>
          </a:p>
          <a:p>
            <a:pPr marL="457189" lvl="1" indent="0">
              <a:spcBef>
                <a:spcPts val="600"/>
              </a:spcBef>
              <a:buNone/>
            </a:pPr>
            <a:r>
              <a:rPr lang="fr-BE" sz="2400" dirty="0" err="1">
                <a:solidFill>
                  <a:schemeClr val="accent2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while</a:t>
            </a:r>
            <a: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( condition ) </a:t>
            </a:r>
          </a:p>
          <a:p>
            <a:pPr marL="457189" lvl="1" indent="0">
              <a:spcBef>
                <a:spcPts val="600"/>
              </a:spcBef>
              <a:buNone/>
            </a:pPr>
            <a: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{</a:t>
            </a:r>
          </a:p>
          <a:p>
            <a:pPr marL="457189" lvl="1" indent="457200">
              <a:spcBef>
                <a:spcPts val="600"/>
              </a:spcBef>
              <a:buNone/>
            </a:pPr>
            <a: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...</a:t>
            </a:r>
          </a:p>
          <a:p>
            <a:pPr marL="457189" lvl="1" indent="0">
              <a:spcBef>
                <a:spcPts val="600"/>
              </a:spcBef>
              <a:buNone/>
            </a:pPr>
            <a: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}</a:t>
            </a:r>
          </a:p>
          <a:p>
            <a:pPr>
              <a:spcBef>
                <a:spcPts val="600"/>
              </a:spcBef>
            </a:pPr>
            <a:r>
              <a:rPr lang="fr-BE" sz="2400" dirty="0">
                <a:sym typeface="Courier New"/>
              </a:rPr>
              <a:t>Exemple</a:t>
            </a:r>
            <a:endParaRPr lang="fr-BE" sz="2400" b="1" dirty="0">
              <a:solidFill>
                <a:schemeClr val="accent6">
                  <a:lumMod val="50000"/>
                </a:schemeClr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189" lvl="1" indent="0">
              <a:spcBef>
                <a:spcPts val="600"/>
              </a:spcBef>
              <a:buNone/>
            </a:pP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  <a:ea typeface="Courier New"/>
                <a:cs typeface="Courier New" panose="02070309020205020404" pitchFamily="49" charset="0"/>
                <a:sym typeface="Courier New"/>
              </a:rPr>
              <a:t>let </a:t>
            </a:r>
            <a: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ea typeface="Courier New"/>
                <a:cs typeface="Courier New" panose="02070309020205020404" pitchFamily="49" charset="0"/>
                <a:sym typeface="Courier New"/>
              </a:rPr>
              <a:t>nombre = 0;</a:t>
            </a:r>
          </a:p>
          <a:p>
            <a:pPr marL="457189" lvl="1" indent="0">
              <a:spcBef>
                <a:spcPts val="600"/>
              </a:spcBef>
              <a:buNone/>
            </a:pPr>
            <a:r>
              <a:rPr lang="fr-BE" sz="2400" dirty="0" err="1">
                <a:solidFill>
                  <a:schemeClr val="accent2"/>
                </a:solidFill>
                <a:latin typeface="Consolas" panose="020B0609020204030204" pitchFamily="49" charset="0"/>
                <a:ea typeface="Courier New"/>
                <a:cs typeface="Courier New" panose="02070309020205020404" pitchFamily="49" charset="0"/>
                <a:sym typeface="Courier New"/>
              </a:rPr>
              <a:t>while</a:t>
            </a:r>
            <a: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ea typeface="Courier New"/>
                <a:cs typeface="Courier New" panose="02070309020205020404" pitchFamily="49" charset="0"/>
                <a:sym typeface="Courier New"/>
              </a:rPr>
              <a:t>( nombre &lt; 10 ) </a:t>
            </a:r>
          </a:p>
          <a:p>
            <a:pPr marL="457189" lvl="1" indent="0">
              <a:spcBef>
                <a:spcPts val="600"/>
              </a:spcBef>
              <a:buNone/>
            </a:pPr>
            <a: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ea typeface="Courier New"/>
                <a:cs typeface="Courier New" panose="02070309020205020404" pitchFamily="49" charset="0"/>
                <a:sym typeface="Courier New"/>
              </a:rPr>
              <a:t>{</a:t>
            </a:r>
          </a:p>
          <a:p>
            <a:pPr marL="457189" lvl="1" indent="457200">
              <a:spcBef>
                <a:spcPts val="600"/>
              </a:spcBef>
              <a:buNone/>
            </a:pPr>
            <a: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ea typeface="Courier New"/>
                <a:cs typeface="Courier New" panose="02070309020205020404" pitchFamily="49" charset="0"/>
                <a:sym typeface="Courier New"/>
              </a:rPr>
              <a:t>nombre++;</a:t>
            </a:r>
          </a:p>
          <a:p>
            <a:pPr marL="457189" lvl="1" indent="0">
              <a:spcBef>
                <a:spcPts val="600"/>
              </a:spcBef>
              <a:buNone/>
            </a:pPr>
            <a: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ea typeface="Courier New"/>
                <a:cs typeface="Courier New" panose="02070309020205020404" pitchFamily="49" charset="0"/>
                <a:sym typeface="Courier New"/>
              </a:rPr>
              <a:t>}</a:t>
            </a:r>
            <a:endParaRPr lang="fr-BE" sz="2400" dirty="0">
              <a:solidFill>
                <a:srgbClr val="996633"/>
              </a:solidFill>
              <a:latin typeface="Consolas" panose="020B0609020204030204" pitchFamily="49" charset="0"/>
              <a:cs typeface="Courier New" panose="02070309020205020404" pitchFamily="49" charset="0"/>
              <a:sym typeface="Calibri"/>
            </a:endParaRPr>
          </a:p>
          <a:p>
            <a:endParaRPr lang="fr-BE" sz="2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4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Fonctions</a:t>
            </a:r>
            <a:endParaRPr lang="fr-BE" dirty="0">
              <a:sym typeface="Calibri"/>
            </a:endParaRP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9868CB44-3B47-4C60-4760-4336E23DDE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pic>
        <p:nvPicPr>
          <p:cNvPr id="5" name="Espace réservé pour une image  5">
            <a:extLst>
              <a:ext uri="{FF2B5EF4-FFF2-40B4-BE49-F238E27FC236}">
                <a16:creationId xmlns:a16="http://schemas.microsoft.com/office/drawing/2014/main" id="{19D8063D-A902-49DF-8657-1FEDE97FA54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4506" b="14506"/>
          <a:stretch/>
        </p:blipFill>
        <p:spPr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>
                <a:sym typeface="Calibri"/>
              </a:rPr>
              <a:t>Fonctions</a:t>
            </a:r>
          </a:p>
        </p:txBody>
      </p:sp>
      <p:sp>
        <p:nvSpPr>
          <p:cNvPr id="210" name="Google Shape;210;p35"/>
          <p:cNvSpPr txBox="1"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 dirty="0"/>
              <a:t>Déclaration de la fonction</a:t>
            </a:r>
            <a:br>
              <a:rPr lang="fr-BE" dirty="0"/>
            </a:br>
            <a:br>
              <a:rPr lang="fr-BE" dirty="0"/>
            </a:br>
            <a:br>
              <a:rPr lang="fr-BE" dirty="0"/>
            </a:br>
            <a:br>
              <a:rPr lang="fr-BE" dirty="0"/>
            </a:br>
            <a:br>
              <a:rPr lang="fr-BE" dirty="0"/>
            </a:br>
            <a:br>
              <a:rPr lang="fr-BE" dirty="0"/>
            </a:br>
            <a:br>
              <a:rPr lang="fr-BE" dirty="0"/>
            </a:br>
            <a:br>
              <a:rPr lang="fr-BE" dirty="0"/>
            </a:br>
            <a:endParaRPr lang="fr-BE" dirty="0"/>
          </a:p>
          <a:p>
            <a:r>
              <a:rPr lang="fr-BE" dirty="0"/>
              <a:t>Appel de la fonction</a:t>
            </a:r>
          </a:p>
        </p:txBody>
      </p:sp>
      <p:sp>
        <p:nvSpPr>
          <p:cNvPr id="212" name="Google Shape;212;p35"/>
          <p:cNvSpPr txBox="1"/>
          <p:nvPr/>
        </p:nvSpPr>
        <p:spPr>
          <a:xfrm>
            <a:off x="3036749" y="2367750"/>
            <a:ext cx="6151800" cy="2626843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spcBef>
                <a:spcPts val="600"/>
              </a:spcBef>
            </a:pPr>
            <a:r>
              <a:rPr lang="en" sz="1800" dirty="0">
                <a:solidFill>
                  <a:srgbClr val="0000FF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function </a:t>
            </a:r>
            <a:r>
              <a:rPr lang="en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nomFonction</a:t>
            </a:r>
            <a:r>
              <a:rPr lang="en" sz="1800" dirty="0">
                <a:solidFill>
                  <a:srgbClr val="274E13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(</a:t>
            </a:r>
            <a:r>
              <a:rPr lang="en" sz="1800" i="1" dirty="0">
                <a:solidFill>
                  <a:schemeClr val="accent2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arg1</a:t>
            </a:r>
            <a:r>
              <a:rPr lang="en" sz="1800" i="1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,</a:t>
            </a:r>
            <a:r>
              <a:rPr lang="en" sz="1800" i="1" dirty="0">
                <a:solidFill>
                  <a:srgbClr val="999999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 </a:t>
            </a:r>
            <a:r>
              <a:rPr lang="en" sz="1800" i="1" dirty="0">
                <a:solidFill>
                  <a:schemeClr val="accent5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arg2</a:t>
            </a:r>
            <a:r>
              <a:rPr lang="en" sz="1800" dirty="0">
                <a:solidFill>
                  <a:srgbClr val="113E53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)</a:t>
            </a:r>
            <a:endParaRPr sz="1800" dirty="0">
              <a:solidFill>
                <a:srgbClr val="113E53"/>
              </a:solidFill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  <a:p>
            <a:pPr>
              <a:lnSpc>
                <a:spcPct val="115000"/>
              </a:lnSpc>
            </a:pPr>
            <a:r>
              <a:rPr lang="en" sz="1800" dirty="0">
                <a:solidFill>
                  <a:srgbClr val="113E53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{</a:t>
            </a:r>
            <a:endParaRPr sz="1800" dirty="0">
              <a:solidFill>
                <a:srgbClr val="113E53"/>
              </a:solidFill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  <a:p>
            <a:pPr marL="457200">
              <a:spcBef>
                <a:spcPts val="600"/>
              </a:spcBef>
            </a:pPr>
            <a:r>
              <a:rPr lang="en" sz="1800">
                <a:solidFill>
                  <a:srgbClr val="0000FF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const </a:t>
            </a:r>
            <a:r>
              <a:rPr lang="en" sz="1800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c = </a:t>
            </a:r>
            <a:r>
              <a:rPr lang="en" sz="1800" dirty="0">
                <a:solidFill>
                  <a:srgbClr val="FF0000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10</a:t>
            </a:r>
            <a:r>
              <a:rPr lang="en" sz="1800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;</a:t>
            </a:r>
            <a:endParaRPr sz="1800" dirty="0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  <a:p>
            <a:pPr marL="457200">
              <a:spcBef>
                <a:spcPts val="600"/>
              </a:spcBef>
            </a:pPr>
            <a:r>
              <a:rPr lang="en" sz="1800">
                <a:solidFill>
                  <a:srgbClr val="0000FF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const </a:t>
            </a:r>
            <a:r>
              <a:rPr lang="en" sz="1800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result;</a:t>
            </a:r>
            <a:endParaRPr sz="1800" dirty="0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  <a:p>
            <a:pPr marL="457200">
              <a:spcBef>
                <a:spcPts val="600"/>
              </a:spcBef>
            </a:pPr>
            <a:r>
              <a:rPr lang="en" sz="1800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result = (</a:t>
            </a:r>
            <a:r>
              <a:rPr lang="en" sz="1800" dirty="0">
                <a:solidFill>
                  <a:schemeClr val="accent2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arg1</a:t>
            </a:r>
            <a:r>
              <a:rPr lang="en" sz="1800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 + </a:t>
            </a:r>
            <a:r>
              <a:rPr lang="en" sz="1800" dirty="0">
                <a:solidFill>
                  <a:schemeClr val="accent5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arg2</a:t>
            </a:r>
            <a:r>
              <a:rPr lang="en" sz="1800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) * c;</a:t>
            </a:r>
            <a:endParaRPr sz="1800" dirty="0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  <a:p>
            <a:pPr marL="457200">
              <a:spcBef>
                <a:spcPts val="600"/>
              </a:spcBef>
            </a:pPr>
            <a:r>
              <a:rPr lang="en" sz="1800" dirty="0">
                <a:solidFill>
                  <a:srgbClr val="0000FF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return </a:t>
            </a:r>
            <a:r>
              <a:rPr lang="en" sz="1800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result;</a:t>
            </a:r>
            <a:endParaRPr sz="1800" i="1" dirty="0">
              <a:solidFill>
                <a:srgbClr val="113E53"/>
              </a:solidFill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  <a:p>
            <a:pPr>
              <a:spcBef>
                <a:spcPts val="600"/>
              </a:spcBef>
            </a:pPr>
            <a:r>
              <a:rPr lang="en" sz="1800" dirty="0">
                <a:solidFill>
                  <a:srgbClr val="113E53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};</a:t>
            </a:r>
            <a:endParaRPr dirty="0">
              <a:latin typeface="Consolas" panose="020B0609020204030204" pitchFamily="49" charset="0"/>
            </a:endParaRPr>
          </a:p>
        </p:txBody>
      </p:sp>
      <p:cxnSp>
        <p:nvCxnSpPr>
          <p:cNvPr id="213" name="Google Shape;213;p35"/>
          <p:cNvCxnSpPr>
            <a:cxnSpLocks/>
            <a:endCxn id="215" idx="1"/>
          </p:cNvCxnSpPr>
          <p:nvPr/>
        </p:nvCxnSpPr>
        <p:spPr>
          <a:xfrm flipV="1">
            <a:off x="5532599" y="1179497"/>
            <a:ext cx="520720" cy="1299554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 useBgFill="1">
        <p:nvSpPr>
          <p:cNvPr id="215" name="Google Shape;215;p35"/>
          <p:cNvSpPr txBox="1"/>
          <p:nvPr/>
        </p:nvSpPr>
        <p:spPr>
          <a:xfrm>
            <a:off x="6053319" y="902513"/>
            <a:ext cx="2757306" cy="55396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" dirty="0"/>
              <a:t>Nom de la fonction</a:t>
            </a:r>
            <a:endParaRPr dirty="0"/>
          </a:p>
        </p:txBody>
      </p:sp>
      <p:sp>
        <p:nvSpPr>
          <p:cNvPr id="216" name="Google Shape;216;p35"/>
          <p:cNvSpPr/>
          <p:nvPr/>
        </p:nvSpPr>
        <p:spPr>
          <a:xfrm rot="5400000">
            <a:off x="5749794" y="1304024"/>
            <a:ext cx="225600" cy="3219900"/>
          </a:xfrm>
          <a:prstGeom prst="rightBrace">
            <a:avLst>
              <a:gd name="adj1" fmla="val 97719"/>
              <a:gd name="adj2" fmla="val 36580"/>
            </a:avLst>
          </a:prstGeom>
          <a:ln>
            <a:headEnd type="none" w="sm" len="sm"/>
            <a:tailEnd type="none" w="sm" len="sm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217" name="Google Shape;217;p35"/>
          <p:cNvSpPr/>
          <p:nvPr/>
        </p:nvSpPr>
        <p:spPr>
          <a:xfrm>
            <a:off x="6321358" y="3058964"/>
            <a:ext cx="3539566" cy="305914"/>
          </a:xfrm>
          <a:custGeom>
            <a:avLst/>
            <a:gdLst/>
            <a:ahLst/>
            <a:cxnLst/>
            <a:rect l="l" t="t" r="r" b="b"/>
            <a:pathLst>
              <a:path w="34773" h="65682" extrusionOk="0">
                <a:moveTo>
                  <a:pt x="0" y="0"/>
                </a:moveTo>
                <a:cubicBezTo>
                  <a:pt x="2147" y="7942"/>
                  <a:pt x="7084" y="36705"/>
                  <a:pt x="12879" y="47652"/>
                </a:cubicBezTo>
                <a:cubicBezTo>
                  <a:pt x="18675" y="58599"/>
                  <a:pt x="31124" y="62677"/>
                  <a:pt x="34773" y="65682"/>
                </a:cubicBez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/>
          <a:lstStyle/>
          <a:p>
            <a:endParaRPr lang="fr-BE"/>
          </a:p>
        </p:txBody>
      </p:sp>
      <p:sp>
        <p:nvSpPr>
          <p:cNvPr id="218" name="Google Shape;218;p35"/>
          <p:cNvSpPr txBox="1"/>
          <p:nvPr/>
        </p:nvSpPr>
        <p:spPr>
          <a:xfrm>
            <a:off x="9974723" y="2722831"/>
            <a:ext cx="1776989" cy="895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dirty="0"/>
              <a:t>Signature de la fonction</a:t>
            </a:r>
            <a:endParaRPr dirty="0"/>
          </a:p>
        </p:txBody>
      </p:sp>
      <p:sp>
        <p:nvSpPr>
          <p:cNvPr id="219" name="Google Shape;219;p35"/>
          <p:cNvSpPr/>
          <p:nvPr/>
        </p:nvSpPr>
        <p:spPr>
          <a:xfrm>
            <a:off x="2875054" y="3235820"/>
            <a:ext cx="467100" cy="1255735"/>
          </a:xfrm>
          <a:prstGeom prst="leftBrace">
            <a:avLst>
              <a:gd name="adj1" fmla="val 31022"/>
              <a:gd name="adj2" fmla="val 51867"/>
            </a:avLst>
          </a:prstGeom>
          <a:ln>
            <a:headEnd type="none" w="sm" len="sm"/>
            <a:tailEnd type="none" w="sm" len="sm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spcFirstLastPara="1" wrap="square" lIns="91425" tIns="91425" rIns="91425" bIns="91425" anchor="ctr" anchorCtr="0">
            <a:noAutofit/>
          </a:bodyPr>
          <a:lstStyle/>
          <a:p>
            <a:endParaRPr/>
          </a:p>
        </p:txBody>
      </p:sp>
      <p:sp>
        <p:nvSpPr>
          <p:cNvPr id="221" name="Google Shape;221;p35"/>
          <p:cNvSpPr txBox="1"/>
          <p:nvPr/>
        </p:nvSpPr>
        <p:spPr>
          <a:xfrm>
            <a:off x="1346040" y="3367277"/>
            <a:ext cx="1529014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" dirty="0"/>
              <a:t>Corps de</a:t>
            </a:r>
            <a:endParaRPr dirty="0"/>
          </a:p>
          <a:p>
            <a:r>
              <a:rPr lang="en" dirty="0"/>
              <a:t>la fonction</a:t>
            </a:r>
            <a:endParaRPr dirty="0"/>
          </a:p>
        </p:txBody>
      </p:sp>
      <p:sp>
        <p:nvSpPr>
          <p:cNvPr id="222" name="Google Shape;222;p35"/>
          <p:cNvSpPr txBox="1"/>
          <p:nvPr/>
        </p:nvSpPr>
        <p:spPr>
          <a:xfrm>
            <a:off x="4745032" y="5213460"/>
            <a:ext cx="3624300" cy="1600408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spcBef>
                <a:spcPts val="600"/>
              </a:spcBef>
            </a:pPr>
            <a:r>
              <a:rPr lang="en" sz="1800">
                <a:solidFill>
                  <a:srgbClr val="0000FF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let </a:t>
            </a:r>
            <a:r>
              <a:rPr lang="en" sz="1800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a = </a:t>
            </a:r>
            <a:r>
              <a:rPr lang="en" sz="1800" dirty="0">
                <a:solidFill>
                  <a:srgbClr val="FF0000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1</a:t>
            </a:r>
            <a:r>
              <a:rPr lang="en" sz="1800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;</a:t>
            </a:r>
            <a:endParaRPr sz="1800" dirty="0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  <a:p>
            <a:pPr>
              <a:spcBef>
                <a:spcPts val="600"/>
              </a:spcBef>
            </a:pPr>
            <a:r>
              <a:rPr lang="en" sz="1800">
                <a:solidFill>
                  <a:srgbClr val="0000FF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let </a:t>
            </a:r>
            <a:r>
              <a:rPr lang="en" sz="1800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b = </a:t>
            </a:r>
            <a:r>
              <a:rPr lang="en" sz="1800" dirty="0">
                <a:solidFill>
                  <a:srgbClr val="FF0000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2</a:t>
            </a:r>
            <a:r>
              <a:rPr lang="en" sz="1800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;</a:t>
            </a:r>
            <a:endParaRPr sz="1800" dirty="0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  <a:p>
            <a:pPr>
              <a:spcBef>
                <a:spcPts val="600"/>
              </a:spcBef>
            </a:pPr>
            <a:r>
              <a:rPr lang="en" sz="1800">
                <a:solidFill>
                  <a:srgbClr val="0000FF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let </a:t>
            </a:r>
            <a:r>
              <a:rPr lang="en" sz="1800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res;</a:t>
            </a:r>
            <a:endParaRPr sz="1800" dirty="0"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  <a:p>
            <a:pPr>
              <a:spcBef>
                <a:spcPts val="600"/>
              </a:spcBef>
            </a:pPr>
            <a:r>
              <a:rPr lang="en" sz="1800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res = </a:t>
            </a:r>
            <a:r>
              <a:rPr lang="en" sz="1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nomFonction</a:t>
            </a:r>
            <a:r>
              <a:rPr lang="en" sz="1800" dirty="0"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(a, b)</a:t>
            </a:r>
            <a:r>
              <a:rPr lang="en" sz="1800" dirty="0">
                <a:solidFill>
                  <a:srgbClr val="113E53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;</a:t>
            </a:r>
            <a:endParaRPr sz="1800" dirty="0">
              <a:solidFill>
                <a:srgbClr val="113E53"/>
              </a:solidFill>
              <a:latin typeface="Consolas" panose="020B0609020204030204" pitchFamily="49" charset="0"/>
              <a:ea typeface="Courier New"/>
              <a:cs typeface="Courier New"/>
              <a:sym typeface="Courier New"/>
            </a:endParaRPr>
          </a:p>
        </p:txBody>
      </p:sp>
      <p:sp>
        <p:nvSpPr>
          <p:cNvPr id="223" name="Google Shape;223;p35"/>
          <p:cNvSpPr/>
          <p:nvPr/>
        </p:nvSpPr>
        <p:spPr>
          <a:xfrm rot="10800000">
            <a:off x="5162550" y="3348897"/>
            <a:ext cx="4822950" cy="960291"/>
          </a:xfrm>
          <a:custGeom>
            <a:avLst/>
            <a:gdLst/>
            <a:ahLst/>
            <a:cxnLst/>
            <a:rect l="l" t="t" r="r" b="b"/>
            <a:pathLst>
              <a:path w="34773" h="65682" extrusionOk="0">
                <a:moveTo>
                  <a:pt x="0" y="0"/>
                </a:moveTo>
                <a:cubicBezTo>
                  <a:pt x="2147" y="7942"/>
                  <a:pt x="7084" y="36705"/>
                  <a:pt x="12879" y="47652"/>
                </a:cubicBezTo>
                <a:cubicBezTo>
                  <a:pt x="18675" y="58599"/>
                  <a:pt x="31124" y="62677"/>
                  <a:pt x="34773" y="65682"/>
                </a:cubicBezTo>
              </a:path>
            </a:pathLst>
          </a:custGeom>
          <a:ln>
            <a:headEnd type="triangl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/>
          <a:lstStyle/>
          <a:p>
            <a:endParaRPr lang="fr-BE"/>
          </a:p>
        </p:txBody>
      </p:sp>
      <p:sp>
        <p:nvSpPr>
          <p:cNvPr id="224" name="Google Shape;224;p35"/>
          <p:cNvSpPr txBox="1"/>
          <p:nvPr/>
        </p:nvSpPr>
        <p:spPr>
          <a:xfrm>
            <a:off x="10042400" y="3974170"/>
            <a:ext cx="13683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" dirty="0"/>
              <a:t>Variable locale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8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Document </a:t>
            </a:r>
            <a:r>
              <a:rPr lang="fr-BE" dirty="0">
                <a:sym typeface="Calibri"/>
              </a:rPr>
              <a:t>Object Model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5180C8CD-5AA2-AC02-152C-41BF042B92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pic>
        <p:nvPicPr>
          <p:cNvPr id="5" name="Espace réservé pour une image  5">
            <a:extLst>
              <a:ext uri="{FF2B5EF4-FFF2-40B4-BE49-F238E27FC236}">
                <a16:creationId xmlns:a16="http://schemas.microsoft.com/office/drawing/2014/main" id="{554FADEE-A67B-4700-B86B-FAE5FD4B8C9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4506" b="14506"/>
          <a:stretch/>
        </p:blipFill>
        <p:spPr>
          <a:prstGeom prst="rect">
            <a:avLst/>
          </a:prstGeom>
        </p:spPr>
      </p:pic>
      <p:pic>
        <p:nvPicPr>
          <p:cNvPr id="4" name="Google Shape;257;p40">
            <a:extLst>
              <a:ext uri="{FF2B5EF4-FFF2-40B4-BE49-F238E27FC236}">
                <a16:creationId xmlns:a16="http://schemas.microsoft.com/office/drawing/2014/main" id="{4A4B9BCD-38D0-1A42-71C9-ADBCAB9E3B89}"/>
              </a:ext>
            </a:extLst>
          </p:cNvPr>
          <p:cNvPicPr preferRelativeResize="0"/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artisticPastelsSmooth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4458" y="4589464"/>
            <a:ext cx="3311013" cy="20937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9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Document Object Model</a:t>
            </a:r>
          </a:p>
        </p:txBody>
      </p:sp>
      <p:sp>
        <p:nvSpPr>
          <p:cNvPr id="250" name="Google Shape;250;p39"/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>
                <a:sym typeface="Calibri"/>
              </a:rPr>
              <a:t>L’API du DOM (Document Object Model) permet d’accéder à une page Web et de manipuler son contenu, sa structure et ses styles.</a:t>
            </a:r>
          </a:p>
          <a:p>
            <a:r>
              <a:rPr lang="fr-BE" dirty="0">
                <a:sym typeface="Calibri"/>
              </a:rPr>
              <a:t>DOM présente un document sous la forme d'un arbre de nœuds.</a:t>
            </a:r>
          </a:p>
          <a:p>
            <a:r>
              <a:rPr lang="fr-BE" dirty="0">
                <a:sym typeface="Calibri"/>
                <a:hlinkClick r:id="rId3"/>
              </a:rPr>
              <a:t>https://developer.mozilla.org/en-US/docs/DOM/DOM_Reference</a:t>
            </a:r>
            <a:br>
              <a:rPr lang="fr-BE" dirty="0">
                <a:sym typeface="Calibri"/>
              </a:rPr>
            </a:br>
            <a:endParaRPr lang="fr-BE" dirty="0">
              <a:sym typeface="Calibri"/>
            </a:endParaRPr>
          </a:p>
          <a:p>
            <a:endParaRPr lang="fr-BE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40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Exemple</a:t>
            </a:r>
          </a:p>
        </p:txBody>
      </p:sp>
      <p:pic>
        <p:nvPicPr>
          <p:cNvPr id="257" name="Google Shape;257;p40"/>
          <p:cNvPicPr preferRelativeResize="0"/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4935" y="1460157"/>
            <a:ext cx="8802129" cy="51136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Objets du DOM</a:t>
            </a:r>
          </a:p>
        </p:txBody>
      </p:sp>
      <p:sp>
        <p:nvSpPr>
          <p:cNvPr id="263" name="Google Shape;263;p41"/>
          <p:cNvSpPr txBox="1"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BE" dirty="0">
                <a:sym typeface="Calibri"/>
              </a:rPr>
              <a:t>DOM Document</a:t>
            </a:r>
          </a:p>
          <a:p>
            <a:pPr lvl="1"/>
            <a:r>
              <a:rPr lang="fr-BE" dirty="0">
                <a:sym typeface="Calibri"/>
              </a:rPr>
              <a:t>Nœud racine du document HTML</a:t>
            </a:r>
          </a:p>
          <a:p>
            <a:r>
              <a:rPr lang="fr-BE" dirty="0">
                <a:sym typeface="Calibri"/>
              </a:rPr>
              <a:t>DOM Node</a:t>
            </a:r>
          </a:p>
          <a:p>
            <a:pPr lvl="1"/>
            <a:r>
              <a:rPr lang="fr-BE" dirty="0">
                <a:sym typeface="Calibri"/>
              </a:rPr>
              <a:t>Arborescence du document HTML</a:t>
            </a:r>
          </a:p>
          <a:p>
            <a:r>
              <a:rPr lang="fr-BE" dirty="0">
                <a:sym typeface="Calibri"/>
              </a:rPr>
              <a:t>DOM </a:t>
            </a:r>
            <a:r>
              <a:rPr lang="fr-BE" dirty="0" err="1">
                <a:sym typeface="Calibri"/>
              </a:rPr>
              <a:t>Element</a:t>
            </a:r>
            <a:endParaRPr lang="fr-BE" dirty="0">
              <a:sym typeface="Calibri"/>
            </a:endParaRPr>
          </a:p>
          <a:p>
            <a:pPr lvl="1"/>
            <a:r>
              <a:rPr lang="fr-BE" dirty="0">
                <a:sym typeface="Calibri"/>
              </a:rPr>
              <a:t>Contenu d'un nœud DOM</a:t>
            </a:r>
          </a:p>
          <a:p>
            <a:pPr lvl="1"/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p, div, a, table,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sym typeface="Calibri"/>
              </a:rPr>
              <a:t> …</a:t>
            </a:r>
          </a:p>
          <a:p>
            <a:r>
              <a:rPr lang="fr-BE" dirty="0">
                <a:sym typeface="Calibri"/>
              </a:rPr>
              <a:t>DOM </a:t>
            </a:r>
            <a:r>
              <a:rPr lang="fr-BE" dirty="0" err="1">
                <a:sym typeface="Calibri"/>
              </a:rPr>
              <a:t>Attribute</a:t>
            </a:r>
            <a:endParaRPr lang="fr-BE" dirty="0">
              <a:sym typeface="Calibri"/>
            </a:endParaRPr>
          </a:p>
          <a:p>
            <a:pPr lvl="1"/>
            <a:r>
              <a:rPr lang="fr-BE" dirty="0">
                <a:sym typeface="Calibri"/>
              </a:rPr>
              <a:t>Attribut d'un élément HTML</a:t>
            </a:r>
          </a:p>
          <a:p>
            <a:pPr lvl="1"/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href, id, class, …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42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Open Sans"/>
              </a:rPr>
              <a:t>DOM Document</a:t>
            </a:r>
          </a:p>
        </p:txBody>
      </p:sp>
      <p:sp>
        <p:nvSpPr>
          <p:cNvPr id="269" name="Google Shape;269;p42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>
                <a:sym typeface="Calibri"/>
              </a:rPr>
              <a:t>L'objet Document est l'élément racine d'un document (ex. page web, document XML)</a:t>
            </a:r>
          </a:p>
          <a:p>
            <a:r>
              <a:rPr lang="fr-BE" dirty="0">
                <a:sym typeface="Calibri"/>
              </a:rPr>
              <a:t>Il hérite des méthodes et propriétés de l'objet Noeud (cf. slides suivants)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3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DOM Document - Méthode</a:t>
            </a:r>
          </a:p>
        </p:txBody>
      </p:sp>
      <p:sp>
        <p:nvSpPr>
          <p:cNvPr id="275" name="Google Shape;275;p43"/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getElementById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(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elementID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)</a:t>
            </a:r>
          </a:p>
          <a:p>
            <a:pPr lvl="1"/>
            <a:r>
              <a:rPr lang="fr-BE" dirty="0">
                <a:sym typeface="Open Sans"/>
              </a:rPr>
              <a:t>Retourner l'élément ayant l'attribut id spécifié</a:t>
            </a:r>
          </a:p>
          <a:p>
            <a:pPr lvl="1"/>
            <a:r>
              <a:rPr lang="fr-BE" dirty="0">
                <a:sym typeface="Open Sans"/>
              </a:rPr>
              <a:t>Param :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elementID</a:t>
            </a:r>
            <a:r>
              <a:rPr lang="fr-BE" dirty="0">
                <a:sym typeface="Open Sans"/>
              </a:rPr>
              <a:t> : string</a:t>
            </a:r>
          </a:p>
          <a:p>
            <a:pPr lvl="1"/>
            <a:r>
              <a:rPr lang="fr-BE" dirty="0">
                <a:sym typeface="Open Sans"/>
              </a:rPr>
              <a:t>Return: un élément</a:t>
            </a:r>
          </a:p>
          <a:p>
            <a:r>
              <a:rPr lang="fr-BE" dirty="0">
                <a:sym typeface="Open Sans"/>
              </a:rPr>
              <a:t>Exemple:</a:t>
            </a:r>
          </a:p>
          <a:p>
            <a:pPr marL="457189" lvl="1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let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o =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document.</a:t>
            </a:r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getElementById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("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demo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");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4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DOM Document - Méthode</a:t>
            </a:r>
          </a:p>
        </p:txBody>
      </p:sp>
      <p:sp>
        <p:nvSpPr>
          <p:cNvPr id="281" name="Google Shape;281;p44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11353800" cy="4351339"/>
          </a:xfrm>
        </p:spPr>
        <p:txBody>
          <a:bodyPr>
            <a:normAutofit fontScale="92500" lnSpcReduction="20000"/>
          </a:bodyPr>
          <a:lstStyle/>
          <a:p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getElementsByTagName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(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tagName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)</a:t>
            </a:r>
          </a:p>
          <a:p>
            <a:pPr lvl="1"/>
            <a:r>
              <a:rPr lang="fr-BE" dirty="0">
                <a:sym typeface="Open Sans"/>
              </a:rPr>
              <a:t>Retourner une collection d'éléments ayant le nom spécifié</a:t>
            </a:r>
          </a:p>
          <a:p>
            <a:pPr lvl="1"/>
            <a:r>
              <a:rPr lang="fr-BE" dirty="0">
                <a:sym typeface="Open Sans"/>
              </a:rPr>
              <a:t>Param :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tagName</a:t>
            </a:r>
            <a:r>
              <a:rPr lang="fr-BE" dirty="0">
                <a:sym typeface="Open Sans"/>
              </a:rPr>
              <a:t>: string</a:t>
            </a:r>
          </a:p>
          <a:p>
            <a:pPr lvl="1"/>
            <a:r>
              <a:rPr lang="fr-BE" dirty="0">
                <a:sym typeface="Open Sans"/>
              </a:rPr>
              <a:t>Return : liste d'éléments </a:t>
            </a:r>
          </a:p>
          <a:p>
            <a:r>
              <a:rPr lang="fr-BE" dirty="0">
                <a:sym typeface="Open Sans"/>
              </a:rPr>
              <a:t>Exemple:</a:t>
            </a:r>
          </a:p>
          <a:p>
            <a:pPr marL="457189" lvl="1" indent="0">
              <a:buNone/>
            </a:pP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var 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nl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= 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document.</a:t>
            </a:r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getElementsByTagName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("div");</a:t>
            </a:r>
          </a:p>
          <a:p>
            <a:pPr marL="457189" lvl="1" indent="0">
              <a:buNone/>
            </a:pP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for( var 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cle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in 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nl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)</a:t>
            </a:r>
          </a:p>
          <a:p>
            <a:pPr marL="457189" lvl="1" indent="0">
              <a:buNone/>
            </a:pP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{</a:t>
            </a:r>
          </a:p>
          <a:p>
            <a:pPr marL="457189" lvl="1" indent="0">
              <a:buNone/>
            </a:pP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	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alert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 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cle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+ ": " + 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nl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[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cle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].id );</a:t>
            </a:r>
          </a:p>
          <a:p>
            <a:pPr marL="457189" lvl="1" indent="0">
              <a:buNone/>
            </a:pP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}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5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DOM Document - Méthode</a:t>
            </a:r>
          </a:p>
        </p:txBody>
      </p:sp>
      <p:sp>
        <p:nvSpPr>
          <p:cNvPr id="287" name="Google Shape;287;p45"/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querySelector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(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cssSelector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)</a:t>
            </a:r>
          </a:p>
          <a:p>
            <a:pPr lvl="1"/>
            <a:r>
              <a:rPr lang="fr-BE" dirty="0">
                <a:sym typeface="Open Sans"/>
              </a:rPr>
              <a:t>Retourner l'élément répondant au sélecteur spécifié</a:t>
            </a:r>
          </a:p>
          <a:p>
            <a:pPr lvl="1"/>
            <a:r>
              <a:rPr lang="fr-BE" dirty="0">
                <a:sym typeface="Open Sans"/>
              </a:rPr>
              <a:t>Param :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cssSelector</a:t>
            </a:r>
            <a:r>
              <a:rPr lang="fr-BE" dirty="0">
                <a:sym typeface="Open Sans"/>
              </a:rPr>
              <a:t> : string</a:t>
            </a:r>
          </a:p>
          <a:p>
            <a:pPr lvl="1"/>
            <a:r>
              <a:rPr lang="fr-BE" dirty="0">
                <a:sym typeface="Open Sans"/>
              </a:rPr>
              <a:t>Return : un élément</a:t>
            </a:r>
          </a:p>
          <a:p>
            <a:r>
              <a:rPr lang="fr-BE" dirty="0">
                <a:sym typeface="Open Sans"/>
              </a:rPr>
              <a:t>Exemple :</a:t>
            </a:r>
          </a:p>
          <a:p>
            <a:pPr marL="457189" lvl="1" indent="0">
              <a:buNone/>
            </a:pP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document.</a:t>
            </a:r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querySelector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(".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exampleclass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");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6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DOM Document - Méthode</a:t>
            </a:r>
          </a:p>
        </p:txBody>
      </p:sp>
      <p:sp>
        <p:nvSpPr>
          <p:cNvPr id="293" name="Google Shape;293;p46"/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querySelectorAll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(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cssSelector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)</a:t>
            </a:r>
          </a:p>
          <a:p>
            <a:pPr lvl="1"/>
            <a:r>
              <a:rPr lang="fr-BE" dirty="0">
                <a:sym typeface="Open Sans"/>
              </a:rPr>
              <a:t>Retourne une collection d'éléments répondant au sélecteur CSS</a:t>
            </a:r>
          </a:p>
          <a:p>
            <a:pPr lvl="1"/>
            <a:r>
              <a:rPr lang="fr-BE" dirty="0">
                <a:sym typeface="Open Sans"/>
              </a:rPr>
              <a:t>Param :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cssSelector</a:t>
            </a:r>
            <a:r>
              <a:rPr lang="fr-BE" dirty="0">
                <a:sym typeface="Open Sans"/>
              </a:rPr>
              <a:t>: string</a:t>
            </a:r>
          </a:p>
          <a:p>
            <a:pPr lvl="1"/>
            <a:r>
              <a:rPr lang="fr-BE" dirty="0">
                <a:sym typeface="Open Sans"/>
              </a:rPr>
              <a:t>Return : liste d'éléments </a:t>
            </a:r>
          </a:p>
          <a:p>
            <a:r>
              <a:rPr lang="fr-BE" dirty="0">
                <a:sym typeface="Open Sans"/>
              </a:rPr>
              <a:t>Exemple:</a:t>
            </a:r>
          </a:p>
          <a:p>
            <a:pPr marL="457189" lvl="1" indent="0">
              <a:buNone/>
            </a:pP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document.</a:t>
            </a:r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querySelectorAll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("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div.red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h1");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47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DOM Document - Méthode</a:t>
            </a:r>
          </a:p>
        </p:txBody>
      </p:sp>
      <p:sp>
        <p:nvSpPr>
          <p:cNvPr id="299" name="Google Shape;299;p47"/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createElement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(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nodeName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)</a:t>
            </a:r>
          </a:p>
          <a:p>
            <a:pPr lvl="1"/>
            <a:r>
              <a:rPr lang="fr-BE" dirty="0">
                <a:sym typeface="Open Sans"/>
              </a:rPr>
              <a:t>Créer un élément et le retourner</a:t>
            </a:r>
          </a:p>
          <a:p>
            <a:pPr lvl="1"/>
            <a:r>
              <a:rPr lang="fr-BE" dirty="0">
                <a:sym typeface="Open Sans"/>
              </a:rPr>
              <a:t>Param :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nodeName</a:t>
            </a:r>
            <a:r>
              <a:rPr lang="fr-BE" dirty="0">
                <a:sym typeface="Open Sans"/>
              </a:rPr>
              <a:t> : string</a:t>
            </a:r>
          </a:p>
          <a:p>
            <a:pPr lvl="1"/>
            <a:r>
              <a:rPr lang="fr-BE" dirty="0">
                <a:sym typeface="Open Sans"/>
              </a:rPr>
              <a:t>Return : un élément</a:t>
            </a:r>
          </a:p>
          <a:p>
            <a:r>
              <a:rPr lang="fr-BE" dirty="0">
                <a:sym typeface="Open Sans"/>
              </a:rPr>
              <a:t>Exemple:</a:t>
            </a:r>
          </a:p>
          <a:p>
            <a:pPr marL="457189" lvl="1" indent="0">
              <a:buNone/>
            </a:pP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var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btn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=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document.</a:t>
            </a:r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createElement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("h1");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8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DOM Node</a:t>
            </a:r>
          </a:p>
        </p:txBody>
      </p:sp>
      <p:sp>
        <p:nvSpPr>
          <p:cNvPr id="305" name="Google Shape;305;p48"/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>
                <a:sym typeface="Open Sans"/>
              </a:rPr>
              <a:t>Représenter un nœud dans un document HTML</a:t>
            </a:r>
          </a:p>
          <a:p>
            <a:r>
              <a:rPr lang="fr-BE" dirty="0">
                <a:sym typeface="Open Sans"/>
              </a:rPr>
              <a:t>Il existe 12 types de nœuds HTML, dont:</a:t>
            </a:r>
          </a:p>
          <a:p>
            <a:pPr lvl="1"/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Element</a:t>
            </a:r>
            <a:endParaRPr lang="fr-BE" dirty="0">
              <a:solidFill>
                <a:srgbClr val="996633"/>
              </a:solidFill>
              <a:latin typeface="Consolas" panose="020B0609020204030204" pitchFamily="49" charset="0"/>
              <a:cs typeface="Courier New" panose="02070309020205020404" pitchFamily="49" charset="0"/>
              <a:sym typeface="Open Sans"/>
            </a:endParaRPr>
          </a:p>
          <a:p>
            <a:pPr lvl="1"/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Attr</a:t>
            </a:r>
            <a:endParaRPr lang="fr-BE" dirty="0">
              <a:solidFill>
                <a:srgbClr val="996633"/>
              </a:solidFill>
              <a:latin typeface="Consolas" panose="020B0609020204030204" pitchFamily="49" charset="0"/>
              <a:cs typeface="Courier New" panose="02070309020205020404" pitchFamily="49" charset="0"/>
              <a:sym typeface="Open Sans"/>
            </a:endParaRPr>
          </a:p>
          <a:p>
            <a:pPr lvl="1"/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Text</a:t>
            </a:r>
            <a:endParaRPr lang="fr-BE" dirty="0">
              <a:solidFill>
                <a:srgbClr val="996633"/>
              </a:solidFill>
              <a:latin typeface="Consolas" panose="020B0609020204030204" pitchFamily="49" charset="0"/>
              <a:cs typeface="Courier New" panose="02070309020205020404" pitchFamily="49" charset="0"/>
              <a:sym typeface="Open Sans"/>
            </a:endParaRPr>
          </a:p>
          <a:p>
            <a:pPr lvl="1"/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Comment</a:t>
            </a:r>
          </a:p>
          <a:p>
            <a:r>
              <a:rPr lang="fr-BE" dirty="0">
                <a:sym typeface="Open Sans"/>
                <a:hlinkClick r:id="rId3"/>
              </a:rPr>
              <a:t>https://developer.mozilla.org/en-US/docs/Web/API/Node.nodeType</a:t>
            </a:r>
            <a:endParaRPr lang="fr-BE" dirty="0">
              <a:sym typeface="Open Sans"/>
            </a:endParaRPr>
          </a:p>
          <a:p>
            <a:endParaRPr lang="fr-BE" dirty="0">
              <a:sym typeface="Open Sans"/>
            </a:endParaRPr>
          </a:p>
        </p:txBody>
      </p:sp>
      <p:pic>
        <p:nvPicPr>
          <p:cNvPr id="4" name="Google Shape;257;p40">
            <a:extLst>
              <a:ext uri="{FF2B5EF4-FFF2-40B4-BE49-F238E27FC236}">
                <a16:creationId xmlns:a16="http://schemas.microsoft.com/office/drawing/2014/main" id="{9ED62194-80C7-43E4-87AB-11D86B4CEFC6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6082" y="185125"/>
            <a:ext cx="2168841" cy="126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9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DOM Node - Propriétés</a:t>
            </a:r>
          </a:p>
        </p:txBody>
      </p:sp>
      <p:sp>
        <p:nvSpPr>
          <p:cNvPr id="311" name="Google Shape;311;p49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textContent</a:t>
            </a:r>
            <a:endParaRPr lang="fr-BE" dirty="0">
              <a:solidFill>
                <a:schemeClr val="accent2"/>
              </a:solidFill>
              <a:latin typeface="Consolas" panose="020B0609020204030204" pitchFamily="49" charset="0"/>
              <a:cs typeface="Courier New" panose="02070309020205020404" pitchFamily="49" charset="0"/>
              <a:sym typeface="Open Sans"/>
            </a:endParaRPr>
          </a:p>
          <a:p>
            <a:pPr lvl="1"/>
            <a:r>
              <a:rPr lang="fr-BE" dirty="0">
                <a:sym typeface="Open Sans"/>
              </a:rPr>
              <a:t>Retourner le texte d'un nœud et de ses descendants</a:t>
            </a:r>
          </a:p>
        </p:txBody>
      </p:sp>
      <p:pic>
        <p:nvPicPr>
          <p:cNvPr id="4" name="Google Shape;257;p40">
            <a:extLst>
              <a:ext uri="{FF2B5EF4-FFF2-40B4-BE49-F238E27FC236}">
                <a16:creationId xmlns:a16="http://schemas.microsoft.com/office/drawing/2014/main" id="{B76F68D9-E8CF-4237-A334-C367A0BD4961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6082" y="185125"/>
            <a:ext cx="2168841" cy="126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50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DOM Node - Méthode</a:t>
            </a:r>
          </a:p>
        </p:txBody>
      </p:sp>
      <p:sp>
        <p:nvSpPr>
          <p:cNvPr id="317" name="Google Shape;317;p50"/>
          <p:cNvSpPr txBox="1">
            <a:spLocks noGrp="1"/>
          </p:cNvSpPr>
          <p:nvPr>
            <p:ph idx="1"/>
          </p:nvPr>
        </p:nvSpPr>
        <p:spPr>
          <a:xfrm>
            <a:off x="838200" y="1445125"/>
            <a:ext cx="11353800" cy="4731839"/>
          </a:xfrm>
        </p:spPr>
        <p:txBody>
          <a:bodyPr>
            <a:normAutofit/>
          </a:bodyPr>
          <a:lstStyle/>
          <a:p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appendChild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(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node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)</a:t>
            </a:r>
          </a:p>
          <a:p>
            <a:pPr lvl="1"/>
            <a:r>
              <a:rPr lang="fr-BE" dirty="0">
                <a:sym typeface="Open Sans"/>
              </a:rPr>
              <a:t>Ajouter un nœud en tant que dernier enfant</a:t>
            </a:r>
          </a:p>
          <a:p>
            <a:pPr lvl="1"/>
            <a:r>
              <a:rPr lang="fr-BE" dirty="0">
                <a:sym typeface="Open Sans"/>
              </a:rPr>
              <a:t>Param :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node</a:t>
            </a:r>
            <a:r>
              <a:rPr lang="fr-BE" dirty="0">
                <a:sym typeface="Open Sans"/>
              </a:rPr>
              <a:t> : un nœud</a:t>
            </a:r>
          </a:p>
          <a:p>
            <a:pPr lvl="1"/>
            <a:r>
              <a:rPr lang="fr-BE" dirty="0">
                <a:sym typeface="Open Sans"/>
              </a:rPr>
              <a:t>Return : un nœud</a:t>
            </a:r>
          </a:p>
          <a:p>
            <a:r>
              <a:rPr lang="fr-BE" dirty="0">
                <a:sym typeface="Open Sans"/>
              </a:rPr>
              <a:t>Exemple 1 :</a:t>
            </a:r>
          </a:p>
          <a:p>
            <a:pPr marL="457189" lvl="1" indent="0">
              <a:buNone/>
            </a:pP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const </a:t>
            </a:r>
            <a:r>
              <a:rPr lang="fr-BE" sz="28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=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document.createElement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("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div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");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.innerHTML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= "je suis un nouvel élément";</a:t>
            </a:r>
            <a:b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const </a:t>
            </a:r>
            <a:r>
              <a:rPr lang="fr-BE" sz="2800" dirty="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b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= </a:t>
            </a:r>
            <a:r>
              <a:rPr lang="fr-BE" sz="28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document</a:t>
            </a: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.</a:t>
            </a:r>
            <a:r>
              <a:rPr lang="fr-BE" sz="28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body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b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.</a:t>
            </a:r>
            <a:r>
              <a:rPr lang="fr-BE" sz="2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appendChild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</a:t>
            </a:r>
            <a:r>
              <a:rPr lang="fr-BE" sz="28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);</a:t>
            </a:r>
          </a:p>
        </p:txBody>
      </p:sp>
      <p:pic>
        <p:nvPicPr>
          <p:cNvPr id="4" name="Google Shape;257;p40">
            <a:extLst>
              <a:ext uri="{FF2B5EF4-FFF2-40B4-BE49-F238E27FC236}">
                <a16:creationId xmlns:a16="http://schemas.microsoft.com/office/drawing/2014/main" id="{DB48F766-1B53-4171-A6DC-A6584D712E65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6082" y="185125"/>
            <a:ext cx="2168841" cy="126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50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DOM Node - Méthode</a:t>
            </a:r>
          </a:p>
        </p:txBody>
      </p:sp>
      <p:sp>
        <p:nvSpPr>
          <p:cNvPr id="317" name="Google Shape;317;p50"/>
          <p:cNvSpPr txBox="1">
            <a:spLocks noGrp="1"/>
          </p:cNvSpPr>
          <p:nvPr>
            <p:ph idx="1"/>
          </p:nvPr>
        </p:nvSpPr>
        <p:spPr>
          <a:xfrm>
            <a:off x="838199" y="1445125"/>
            <a:ext cx="11106665" cy="5412875"/>
          </a:xfrm>
        </p:spPr>
        <p:txBody>
          <a:bodyPr>
            <a:normAutofit/>
          </a:bodyPr>
          <a:lstStyle/>
          <a:p>
            <a:r>
              <a:rPr lang="fr-BE" dirty="0">
                <a:sym typeface="Open Sans"/>
              </a:rPr>
              <a:t>Que fait le code JS suivant ? Exemple 2</a:t>
            </a:r>
          </a:p>
          <a:p>
            <a:pPr marL="457189" lvl="1" indent="0">
              <a:buNone/>
            </a:pP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div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id="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div1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"&gt;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 &lt;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id="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p1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"&gt;This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is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a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paragraph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.&lt;/p&gt;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 &lt;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id="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p2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"&gt;This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is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another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paragraph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.&lt;/p&gt;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&lt;/div&gt;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&lt;script&gt;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 var </a:t>
            </a:r>
            <a:r>
              <a:rPr lang="fr-BE" sz="28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para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=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document.createElement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("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");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 </a:t>
            </a:r>
            <a:r>
              <a:rPr lang="fr-BE" sz="2800" dirty="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para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.innerHTML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= "This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is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not new.";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 var </a:t>
            </a:r>
            <a:r>
              <a:rPr lang="fr-BE" sz="2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element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=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document.getElementById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("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div1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");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 </a:t>
            </a:r>
            <a:r>
              <a:rPr lang="fr-BE" sz="2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element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.</a:t>
            </a:r>
            <a:r>
              <a:rPr lang="fr-BE" sz="2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appendChild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</a:t>
            </a:r>
            <a:r>
              <a:rPr lang="fr-BE" sz="28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para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);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&lt;/script&gt;</a:t>
            </a:r>
          </a:p>
          <a:p>
            <a:r>
              <a:rPr lang="fr-BE" dirty="0">
                <a:sym typeface="Courier New"/>
              </a:rPr>
              <a:t>https://www.w3schools.com/js/js_htmldom_nodes.asp</a:t>
            </a:r>
            <a:endParaRPr lang="fr-BE" sz="3200" b="1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  <a:sym typeface="Courier New"/>
            </a:endParaRPr>
          </a:p>
        </p:txBody>
      </p:sp>
      <p:pic>
        <p:nvPicPr>
          <p:cNvPr id="4" name="Google Shape;257;p40">
            <a:extLst>
              <a:ext uri="{FF2B5EF4-FFF2-40B4-BE49-F238E27FC236}">
                <a16:creationId xmlns:a16="http://schemas.microsoft.com/office/drawing/2014/main" id="{B83C6A15-5C74-4999-A5FF-3324EA2B9A8C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6082" y="185125"/>
            <a:ext cx="2168841" cy="126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719186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5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DOM Node - Méthode</a:t>
            </a:r>
          </a:p>
        </p:txBody>
      </p:sp>
      <p:sp>
        <p:nvSpPr>
          <p:cNvPr id="323" name="Google Shape;323;p51"/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insertBefore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(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newNode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,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existingNode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)</a:t>
            </a:r>
          </a:p>
          <a:p>
            <a:pPr lvl="1"/>
            <a:r>
              <a:rPr lang="fr-BE" dirty="0">
                <a:sym typeface="Open Sans"/>
              </a:rPr>
              <a:t>Ajouter un nœud juste avant le nœud enfant spécifié</a:t>
            </a:r>
          </a:p>
          <a:p>
            <a:pPr lvl="1"/>
            <a:r>
              <a:rPr lang="fr-BE" dirty="0">
                <a:sym typeface="Open Sans"/>
              </a:rPr>
              <a:t>Param :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newNode</a:t>
            </a:r>
            <a:r>
              <a:rPr lang="fr-BE" dirty="0">
                <a:sym typeface="Open Sans"/>
              </a:rPr>
              <a:t>: un </a:t>
            </a:r>
            <a:r>
              <a:rPr lang="fr-BE" dirty="0" err="1">
                <a:sym typeface="Open Sans"/>
              </a:rPr>
              <a:t>noeud</a:t>
            </a:r>
            <a:endParaRPr lang="fr-BE" dirty="0">
              <a:sym typeface="Open Sans"/>
            </a:endParaRPr>
          </a:p>
          <a:p>
            <a:pPr lvl="1"/>
            <a:r>
              <a:rPr lang="fr-BE" dirty="0">
                <a:sym typeface="Open Sans"/>
              </a:rPr>
              <a:t>Param </a:t>
            </a:r>
            <a:r>
              <a:rPr lang="fr-BE">
                <a:sym typeface="Open Sans"/>
              </a:rPr>
              <a:t>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existingNode</a:t>
            </a:r>
            <a:r>
              <a:rPr lang="fr-BE">
                <a:sym typeface="Open Sans"/>
              </a:rPr>
              <a:t>: </a:t>
            </a:r>
            <a:r>
              <a:rPr lang="fr-BE" dirty="0">
                <a:sym typeface="Open Sans"/>
              </a:rPr>
              <a:t>un </a:t>
            </a:r>
            <a:r>
              <a:rPr lang="fr-BE" dirty="0" err="1">
                <a:sym typeface="Open Sans"/>
              </a:rPr>
              <a:t>noeud</a:t>
            </a:r>
            <a:endParaRPr lang="fr-BE" dirty="0">
              <a:sym typeface="Open Sans"/>
            </a:endParaRPr>
          </a:p>
          <a:p>
            <a:pPr lvl="1"/>
            <a:r>
              <a:rPr lang="fr-BE" dirty="0">
                <a:sym typeface="Open Sans"/>
              </a:rPr>
              <a:t>Return : un </a:t>
            </a:r>
            <a:r>
              <a:rPr lang="fr-BE" dirty="0" err="1">
                <a:sym typeface="Open Sans"/>
              </a:rPr>
              <a:t>noeud</a:t>
            </a:r>
            <a:endParaRPr lang="fr-BE" dirty="0">
              <a:sym typeface="Open Sans"/>
            </a:endParaRPr>
          </a:p>
          <a:p>
            <a:endParaRPr lang="fr-BE" dirty="0">
              <a:sym typeface="Open Sans"/>
            </a:endParaRPr>
          </a:p>
          <a:p>
            <a:endParaRPr lang="fr-BE" dirty="0">
              <a:sym typeface="Courier New"/>
            </a:endParaRPr>
          </a:p>
        </p:txBody>
      </p:sp>
      <p:pic>
        <p:nvPicPr>
          <p:cNvPr id="4" name="Google Shape;257;p40">
            <a:extLst>
              <a:ext uri="{FF2B5EF4-FFF2-40B4-BE49-F238E27FC236}">
                <a16:creationId xmlns:a16="http://schemas.microsoft.com/office/drawing/2014/main" id="{C18117D2-F2EE-4767-B0D0-DD54AE1B4994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6082" y="185125"/>
            <a:ext cx="2168841" cy="126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50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DOM Node - Méthode</a:t>
            </a:r>
          </a:p>
        </p:txBody>
      </p:sp>
      <p:sp>
        <p:nvSpPr>
          <p:cNvPr id="317" name="Google Shape;317;p50"/>
          <p:cNvSpPr txBox="1">
            <a:spLocks noGrp="1"/>
          </p:cNvSpPr>
          <p:nvPr>
            <p:ph idx="1"/>
          </p:nvPr>
        </p:nvSpPr>
        <p:spPr>
          <a:xfrm>
            <a:off x="838199" y="1445125"/>
            <a:ext cx="11106665" cy="5412875"/>
          </a:xfrm>
        </p:spPr>
        <p:txBody>
          <a:bodyPr>
            <a:normAutofit fontScale="92500" lnSpcReduction="20000"/>
          </a:bodyPr>
          <a:lstStyle/>
          <a:p>
            <a:r>
              <a:rPr lang="fr-BE" dirty="0">
                <a:sym typeface="Open Sans"/>
              </a:rPr>
              <a:t>Que fait le code JS suivant ? Exemple 3</a:t>
            </a:r>
          </a:p>
          <a:p>
            <a:pPr marL="457189" lvl="1" indent="0">
              <a:lnSpc>
                <a:spcPct val="120000"/>
              </a:lnSpc>
              <a:buNone/>
            </a:pP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div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id="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div1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"&gt;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 &lt;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id="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p1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"&gt;This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is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a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paragraph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.&lt;/p&gt;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 &lt;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id="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p2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"&gt;This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is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another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paragraph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.&lt;/p&gt;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&lt;/div&gt;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&lt;script&gt;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 var </a:t>
            </a:r>
            <a:r>
              <a:rPr lang="fr-BE" sz="28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para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=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document.createElement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("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");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 </a:t>
            </a:r>
            <a:r>
              <a:rPr lang="fr-BE" sz="2800" dirty="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para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.innerHTML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= "This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is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not new.";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 var </a:t>
            </a:r>
            <a:r>
              <a:rPr lang="fr-BE" sz="2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element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=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document.getElementById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("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div1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");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 </a:t>
            </a:r>
            <a:r>
              <a:rPr lang="fr-BE" sz="2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element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.appendChild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</a:t>
            </a:r>
            <a:r>
              <a:rPr lang="fr-BE" sz="28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para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);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 var </a:t>
            </a:r>
            <a:r>
              <a:rPr lang="fr-BE" sz="2800" dirty="0" err="1">
                <a:solidFill>
                  <a:schemeClr val="accent1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child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=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document.getElementById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("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p1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");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element.</a:t>
            </a:r>
            <a:r>
              <a:rPr lang="fr-BE" sz="2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insertBefore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</a:t>
            </a:r>
            <a:r>
              <a:rPr lang="fr-BE" sz="28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para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, </a:t>
            </a:r>
            <a:r>
              <a:rPr lang="fr-BE" sz="2800" dirty="0" err="1">
                <a:solidFill>
                  <a:schemeClr val="accent1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child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);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&lt;/script&gt;</a:t>
            </a:r>
          </a:p>
        </p:txBody>
      </p:sp>
      <p:pic>
        <p:nvPicPr>
          <p:cNvPr id="4" name="Google Shape;257;p40">
            <a:extLst>
              <a:ext uri="{FF2B5EF4-FFF2-40B4-BE49-F238E27FC236}">
                <a16:creationId xmlns:a16="http://schemas.microsoft.com/office/drawing/2014/main" id="{53F7AF21-90D5-401F-8D16-47ED8584C227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6082" y="185125"/>
            <a:ext cx="2168841" cy="126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03668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52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DOM Node - Méthode</a:t>
            </a:r>
          </a:p>
        </p:txBody>
      </p:sp>
      <p:sp>
        <p:nvSpPr>
          <p:cNvPr id="329" name="Google Shape;329;p52"/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removeChild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(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node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)</a:t>
            </a:r>
          </a:p>
          <a:p>
            <a:pPr lvl="1"/>
            <a:r>
              <a:rPr lang="fr-BE" dirty="0">
                <a:sym typeface="Open Sans"/>
              </a:rPr>
              <a:t>Supprimer le nœud enfant spécifié</a:t>
            </a:r>
          </a:p>
          <a:p>
            <a:pPr lvl="1"/>
            <a:r>
              <a:rPr lang="fr-BE" dirty="0">
                <a:sym typeface="Open Sans"/>
              </a:rPr>
              <a:t>Param :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node</a:t>
            </a:r>
            <a:r>
              <a:rPr lang="fr-BE" dirty="0">
                <a:sym typeface="Open Sans"/>
              </a:rPr>
              <a:t> : un nœud</a:t>
            </a:r>
          </a:p>
          <a:p>
            <a:pPr lvl="1"/>
            <a:r>
              <a:rPr lang="fr-BE" dirty="0">
                <a:sym typeface="Open Sans"/>
              </a:rPr>
              <a:t>Return : un nœud</a:t>
            </a:r>
          </a:p>
          <a:p>
            <a:r>
              <a:rPr lang="fr-BE" dirty="0">
                <a:sym typeface="Open Sans"/>
              </a:rPr>
              <a:t>Exemple :</a:t>
            </a:r>
          </a:p>
          <a:p>
            <a:pPr marL="457189" lvl="1" indent="0">
              <a:buNone/>
            </a:pPr>
            <a:r>
              <a:rPr lang="fr-BE" sz="28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var o=</a:t>
            </a:r>
            <a:r>
              <a:rPr lang="fr-BE" sz="280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document.getElementById</a:t>
            </a:r>
            <a:r>
              <a:rPr lang="fr-BE" sz="28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("</a:t>
            </a:r>
            <a:r>
              <a:rPr lang="fr-BE" sz="280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myList</a:t>
            </a:r>
            <a:r>
              <a:rPr lang="fr-BE" sz="28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");</a:t>
            </a:r>
          </a:p>
          <a:p>
            <a:pPr marL="457189" lvl="1" indent="0">
              <a:buNone/>
            </a:pPr>
            <a:r>
              <a:rPr lang="fr-BE" sz="280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o.</a:t>
            </a:r>
            <a:r>
              <a:rPr lang="fr-BE" sz="2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removeChild</a:t>
            </a:r>
            <a:r>
              <a:rPr lang="fr-BE" sz="28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</a:t>
            </a:r>
            <a:r>
              <a:rPr lang="fr-BE" sz="280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o.childNodes</a:t>
            </a:r>
            <a:r>
              <a:rPr lang="fr-BE" sz="28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[0]);</a:t>
            </a:r>
          </a:p>
        </p:txBody>
      </p:sp>
      <p:pic>
        <p:nvPicPr>
          <p:cNvPr id="4" name="Google Shape;257;p40">
            <a:extLst>
              <a:ext uri="{FF2B5EF4-FFF2-40B4-BE49-F238E27FC236}">
                <a16:creationId xmlns:a16="http://schemas.microsoft.com/office/drawing/2014/main" id="{CC5FEBB6-8F12-4F60-A453-EB1F459EBB97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6082" y="185125"/>
            <a:ext cx="2168841" cy="126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3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DOM </a:t>
            </a:r>
            <a:r>
              <a:rPr lang="fr-BE" dirty="0" err="1"/>
              <a:t>Element</a:t>
            </a:r>
            <a:endParaRPr lang="fr-BE" dirty="0"/>
          </a:p>
        </p:txBody>
      </p:sp>
      <p:sp>
        <p:nvSpPr>
          <p:cNvPr id="335" name="Google Shape;335;p53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>
                <a:sym typeface="Open Sans"/>
              </a:rPr>
              <a:t>Manipuler les attributs</a:t>
            </a:r>
          </a:p>
          <a:p>
            <a:endParaRPr lang="fr-BE" dirty="0">
              <a:sym typeface="Courier New"/>
            </a:endParaRPr>
          </a:p>
        </p:txBody>
      </p:sp>
      <p:pic>
        <p:nvPicPr>
          <p:cNvPr id="336" name="Google Shape;336;p53"/>
          <p:cNvPicPr preferRelativeResize="0"/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038" y="2582560"/>
            <a:ext cx="11598875" cy="28214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54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DOM Element - Propriétés</a:t>
            </a:r>
          </a:p>
        </p:txBody>
      </p:sp>
      <p:sp>
        <p:nvSpPr>
          <p:cNvPr id="342" name="Google Shape;342;p54"/>
          <p:cNvSpPr txBox="1"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&lt;n&gt;.</a:t>
            </a:r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setAttribute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attrName,attrValue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pPr lvl="1"/>
            <a:r>
              <a:rPr lang="fr-BE" dirty="0">
                <a:sym typeface="Open Sans"/>
              </a:rPr>
              <a:t>Ajouter l'attribut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attrName</a:t>
            </a:r>
            <a:r>
              <a:rPr lang="fr-BE" dirty="0"/>
              <a:t> avec la valeur </a:t>
            </a:r>
            <a:r>
              <a:rPr lang="fr-BE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attrValue</a:t>
            </a:r>
            <a:r>
              <a:rPr lang="fr-BE"/>
              <a:t> </a:t>
            </a:r>
            <a:br>
              <a:rPr lang="fr-BE"/>
            </a:br>
            <a:r>
              <a:rPr lang="fr-BE"/>
              <a:t>au </a:t>
            </a:r>
            <a:r>
              <a:rPr lang="fr-BE" dirty="0"/>
              <a:t>nœud 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&lt;n&gt;</a:t>
            </a:r>
            <a:r>
              <a:rPr lang="fr-BE" dirty="0"/>
              <a:t>.</a:t>
            </a:r>
          </a:p>
          <a:p>
            <a:pPr lvl="1"/>
            <a:r>
              <a:rPr lang="fr-BE" dirty="0">
                <a:sym typeface="Open Sans"/>
              </a:rPr>
              <a:t>Param :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attrName</a:t>
            </a:r>
            <a:r>
              <a:rPr lang="fr-BE" dirty="0">
                <a:sym typeface="Open Sans"/>
              </a:rPr>
              <a:t> : le nom de l'attribut</a:t>
            </a:r>
          </a:p>
          <a:p>
            <a:pPr lvl="1"/>
            <a:r>
              <a:rPr lang="fr-BE" dirty="0">
                <a:sym typeface="Open Sans"/>
              </a:rPr>
              <a:t>Param :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attrValue</a:t>
            </a:r>
            <a:r>
              <a:rPr lang="fr-BE" dirty="0">
                <a:sym typeface="Open Sans"/>
              </a:rPr>
              <a:t> : la valeur de l'attribut</a:t>
            </a:r>
          </a:p>
          <a:p>
            <a:r>
              <a:rPr lang="fr-BE" dirty="0">
                <a:sym typeface="Open Sans"/>
              </a:rPr>
              <a:t>Exemple : </a:t>
            </a:r>
            <a:r>
              <a:rPr lang="fr-BE" dirty="0"/>
              <a:t>Pour appliquer la classe "</a:t>
            </a:r>
            <a:r>
              <a:rPr lang="fr-BE" dirty="0" err="1"/>
              <a:t>democlass</a:t>
            </a:r>
            <a:r>
              <a:rPr lang="fr-BE" dirty="0"/>
              <a:t>" au premier élément H1 du document</a:t>
            </a:r>
          </a:p>
          <a:p>
            <a:pPr marL="457189" lvl="1" indent="0">
              <a:buNone/>
            </a:pP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document.getElementsByTagName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("H1")[0].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setAttribute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("</a:t>
            </a:r>
            <a:r>
              <a:rPr lang="fr-BE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class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", "</a:t>
            </a:r>
            <a:r>
              <a:rPr lang="fr-BE" dirty="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democlass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");</a:t>
            </a:r>
            <a:endParaRPr lang="fr-BE" dirty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  <a:sym typeface="Open Sans"/>
            </a:endParaRPr>
          </a:p>
          <a:p>
            <a:endParaRPr lang="fr-BE" dirty="0">
              <a:sym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54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DOM Element - Propriétés</a:t>
            </a:r>
          </a:p>
        </p:txBody>
      </p:sp>
      <p:sp>
        <p:nvSpPr>
          <p:cNvPr id="342" name="Google Shape;342;p54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previousElementSibling</a:t>
            </a:r>
            <a:endParaRPr lang="fr-BE" dirty="0">
              <a:solidFill>
                <a:schemeClr val="accent2"/>
              </a:solidFill>
              <a:latin typeface="Consolas" panose="020B0609020204030204" pitchFamily="49" charset="0"/>
              <a:cs typeface="Courier New" panose="02070309020205020404" pitchFamily="49" charset="0"/>
              <a:sym typeface="Open Sans"/>
            </a:endParaRPr>
          </a:p>
          <a:p>
            <a:pPr lvl="1"/>
            <a:r>
              <a:rPr lang="fr-BE" dirty="0">
                <a:sym typeface="Open Sans"/>
              </a:rPr>
              <a:t>Retourner le nœud élément "frère" précédent </a:t>
            </a:r>
            <a:br>
              <a:rPr lang="fr-BE" dirty="0">
                <a:sym typeface="Open Sans"/>
              </a:rPr>
            </a:br>
            <a:r>
              <a:rPr lang="fr-BE" dirty="0">
                <a:sym typeface="Open Sans"/>
              </a:rPr>
              <a:t>(du niveau identique au nœud courant)</a:t>
            </a:r>
          </a:p>
          <a:p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nextElementSibling</a:t>
            </a:r>
            <a:endParaRPr lang="fr-BE" dirty="0">
              <a:solidFill>
                <a:schemeClr val="accent2"/>
              </a:solidFill>
              <a:latin typeface="Consolas" panose="020B0609020204030204" pitchFamily="49" charset="0"/>
              <a:cs typeface="Courier New" panose="02070309020205020404" pitchFamily="49" charset="0"/>
              <a:sym typeface="Open Sans"/>
            </a:endParaRPr>
          </a:p>
          <a:p>
            <a:pPr lvl="1"/>
            <a:r>
              <a:rPr lang="fr-BE" dirty="0">
                <a:sym typeface="Open Sans"/>
              </a:rPr>
              <a:t>Retourner le nœud élément "frère" suivant </a:t>
            </a:r>
            <a:br>
              <a:rPr lang="fr-BE" dirty="0">
                <a:sym typeface="Open Sans"/>
              </a:rPr>
            </a:br>
            <a:r>
              <a:rPr lang="fr-BE" dirty="0">
                <a:sym typeface="Open Sans"/>
              </a:rPr>
              <a:t>(du niveau identique au nœud courant)</a:t>
            </a:r>
          </a:p>
          <a:p>
            <a:endParaRPr lang="fr-BE" dirty="0"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5379923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50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DOM </a:t>
            </a:r>
            <a:r>
              <a:rPr lang="fr-BE" dirty="0" err="1"/>
              <a:t>Element</a:t>
            </a:r>
            <a:r>
              <a:rPr lang="fr-BE" dirty="0"/>
              <a:t> - Propriétés</a:t>
            </a:r>
          </a:p>
        </p:txBody>
      </p:sp>
      <p:sp>
        <p:nvSpPr>
          <p:cNvPr id="317" name="Google Shape;317;p50"/>
          <p:cNvSpPr txBox="1">
            <a:spLocks noGrp="1"/>
          </p:cNvSpPr>
          <p:nvPr>
            <p:ph idx="1"/>
          </p:nvPr>
        </p:nvSpPr>
        <p:spPr>
          <a:xfrm>
            <a:off x="838199" y="1445125"/>
            <a:ext cx="11106665" cy="4731839"/>
          </a:xfrm>
        </p:spPr>
        <p:txBody>
          <a:bodyPr>
            <a:normAutofit lnSpcReduction="10000"/>
          </a:bodyPr>
          <a:lstStyle/>
          <a:p>
            <a:r>
              <a:rPr lang="fr-BE" dirty="0">
                <a:sym typeface="Open Sans"/>
              </a:rPr>
              <a:t>Que fait le code JS suivant ? Exemple 4</a:t>
            </a:r>
          </a:p>
          <a:p>
            <a:pPr marL="457189" lvl="1" indent="0">
              <a:buNone/>
            </a:pP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div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id="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div1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"&gt;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 &lt;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id="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p1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"&gt;This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is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a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paragraph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.&lt;/p&gt;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 &lt;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id="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p2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"&gt;This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is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another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paragraph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.&lt;/p&gt;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&lt;/div&gt;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&lt;script&gt;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 var </a:t>
            </a:r>
            <a:r>
              <a:rPr lang="fr-BE" sz="2800" dirty="0">
                <a:solidFill>
                  <a:schemeClr val="accent1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e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=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document.getElementById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("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p1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");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 var f = </a:t>
            </a:r>
            <a:r>
              <a:rPr lang="fr-BE" sz="2800" dirty="0" err="1">
                <a:solidFill>
                  <a:schemeClr val="accent1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e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.</a:t>
            </a:r>
            <a:r>
              <a:rPr lang="fr-BE" sz="2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nextElementSibling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 </a:t>
            </a:r>
            <a:r>
              <a:rPr lang="fr-BE" sz="2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f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.innerHTML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= "This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is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a new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text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"; 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 var </a:t>
            </a:r>
            <a:r>
              <a:rPr lang="fr-BE" sz="28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g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= </a:t>
            </a:r>
            <a:r>
              <a:rPr lang="fr-BE" sz="2800" dirty="0" err="1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f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.</a:t>
            </a:r>
            <a:r>
              <a:rPr lang="fr-BE" sz="2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previousElementSibling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 </a:t>
            </a:r>
            <a:r>
              <a:rPr lang="fr-BE" sz="2800" dirty="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g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.innerHTML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= "This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is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not a new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text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&lt;/script&gt;</a:t>
            </a:r>
          </a:p>
        </p:txBody>
      </p:sp>
    </p:spTree>
    <p:extLst>
      <p:ext uri="{BB962C8B-B14F-4D97-AF65-F5344CB8AC3E}">
        <p14:creationId xmlns:p14="http://schemas.microsoft.com/office/powerpoint/2010/main" val="946911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5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DOM Element - Propriétés</a:t>
            </a:r>
          </a:p>
        </p:txBody>
      </p:sp>
      <p:sp>
        <p:nvSpPr>
          <p:cNvPr id="348" name="Google Shape;348;p55"/>
          <p:cNvSpPr txBox="1"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childElementCount</a:t>
            </a:r>
            <a:endParaRPr lang="fr-BE" dirty="0">
              <a:solidFill>
                <a:schemeClr val="accent2"/>
              </a:solidFill>
              <a:latin typeface="Consolas" panose="020B0609020204030204" pitchFamily="49" charset="0"/>
              <a:cs typeface="Courier New" panose="02070309020205020404" pitchFamily="49" charset="0"/>
              <a:sym typeface="Open Sans"/>
            </a:endParaRPr>
          </a:p>
          <a:p>
            <a:pPr lvl="1"/>
            <a:r>
              <a:rPr lang="fr-BE" dirty="0">
                <a:sym typeface="Open Sans"/>
              </a:rPr>
              <a:t>Retourner le nombre d’éléments enfants</a:t>
            </a:r>
          </a:p>
          <a:p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firstElementChild</a:t>
            </a:r>
            <a:endParaRPr lang="fr-BE" dirty="0">
              <a:solidFill>
                <a:schemeClr val="accent2"/>
              </a:solidFill>
              <a:latin typeface="Consolas" panose="020B0609020204030204" pitchFamily="49" charset="0"/>
              <a:cs typeface="Courier New" panose="02070309020205020404" pitchFamily="49" charset="0"/>
              <a:sym typeface="Open Sans"/>
            </a:endParaRPr>
          </a:p>
          <a:p>
            <a:pPr lvl="1"/>
            <a:r>
              <a:rPr lang="fr-BE" dirty="0">
                <a:sym typeface="Open Sans"/>
              </a:rPr>
              <a:t>Retourner le premier élément enfant d'un </a:t>
            </a:r>
            <a:r>
              <a:rPr lang="fr-BE" dirty="0" err="1">
                <a:sym typeface="Open Sans"/>
              </a:rPr>
              <a:t>noeud</a:t>
            </a:r>
            <a:endParaRPr lang="fr-BE" dirty="0">
              <a:sym typeface="Open Sans"/>
            </a:endParaRPr>
          </a:p>
          <a:p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lastElementChild</a:t>
            </a:r>
            <a:endParaRPr lang="fr-BE" dirty="0">
              <a:solidFill>
                <a:schemeClr val="accent2"/>
              </a:solidFill>
              <a:latin typeface="Consolas" panose="020B0609020204030204" pitchFamily="49" charset="0"/>
              <a:cs typeface="Courier New" panose="02070309020205020404" pitchFamily="49" charset="0"/>
              <a:sym typeface="Open Sans"/>
            </a:endParaRPr>
          </a:p>
          <a:p>
            <a:pPr lvl="1"/>
            <a:r>
              <a:rPr lang="fr-BE" dirty="0">
                <a:sym typeface="Open Sans"/>
              </a:rPr>
              <a:t>Retourner le dernier élément enfant d'un </a:t>
            </a:r>
            <a:r>
              <a:rPr lang="fr-BE" dirty="0" err="1">
                <a:sym typeface="Open Sans"/>
              </a:rPr>
              <a:t>noeud</a:t>
            </a:r>
            <a:endParaRPr lang="fr-BE" dirty="0">
              <a:sym typeface="Open Sans"/>
            </a:endParaRPr>
          </a:p>
          <a:p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children</a:t>
            </a:r>
            <a:endParaRPr lang="fr-BE" dirty="0">
              <a:solidFill>
                <a:schemeClr val="accent2"/>
              </a:solidFill>
              <a:latin typeface="Consolas" panose="020B0609020204030204" pitchFamily="49" charset="0"/>
              <a:cs typeface="Courier New" panose="02070309020205020404" pitchFamily="49" charset="0"/>
              <a:sym typeface="Open Sans"/>
            </a:endParaRPr>
          </a:p>
          <a:p>
            <a:pPr lvl="1"/>
            <a:r>
              <a:rPr lang="fr-BE" dirty="0">
                <a:sym typeface="Open Sans"/>
              </a:rPr>
              <a:t>Retourner une collection (</a:t>
            </a:r>
            <a:r>
              <a:rPr lang="fr-BE" dirty="0" err="1">
                <a:sym typeface="Open Sans"/>
              </a:rPr>
              <a:t>HTMLCollection</a:t>
            </a:r>
            <a:r>
              <a:rPr lang="fr-BE" dirty="0">
                <a:sym typeface="Open Sans"/>
              </a:rPr>
              <a:t>) contenant les éléments enfants d'un élément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50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DOM </a:t>
            </a:r>
            <a:r>
              <a:rPr lang="fr-BE" dirty="0" err="1"/>
              <a:t>Element</a:t>
            </a:r>
            <a:r>
              <a:rPr lang="fr-BE" dirty="0"/>
              <a:t> - Propriétés</a:t>
            </a:r>
          </a:p>
        </p:txBody>
      </p:sp>
      <p:sp>
        <p:nvSpPr>
          <p:cNvPr id="317" name="Google Shape;317;p50"/>
          <p:cNvSpPr txBox="1">
            <a:spLocks noGrp="1"/>
          </p:cNvSpPr>
          <p:nvPr>
            <p:ph idx="1"/>
          </p:nvPr>
        </p:nvSpPr>
        <p:spPr>
          <a:xfrm>
            <a:off x="838199" y="1445125"/>
            <a:ext cx="11106665" cy="4731839"/>
          </a:xfrm>
        </p:spPr>
        <p:txBody>
          <a:bodyPr>
            <a:normAutofit/>
          </a:bodyPr>
          <a:lstStyle/>
          <a:p>
            <a:r>
              <a:rPr lang="fr-BE" dirty="0">
                <a:sym typeface="Open Sans"/>
              </a:rPr>
              <a:t>Que fait le code JS suivant ? Exemple 5</a:t>
            </a:r>
          </a:p>
          <a:p>
            <a:pPr marL="457189" lvl="1" indent="0">
              <a:buNone/>
            </a:pP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div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id="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div1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"&gt;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 &lt;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id="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p1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"&gt;This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is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a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paragraph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.&lt;/p&gt;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 &lt;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id="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p2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"&gt;This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is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another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paragraph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.&lt;/p&gt;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</a:t>
            </a:r>
            <a:r>
              <a:rPr lang="en-US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&lt;</a:t>
            </a:r>
            <a:r>
              <a:rPr lang="en-US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</a:t>
            </a:r>
            <a:r>
              <a:rPr lang="en-US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id="</a:t>
            </a:r>
            <a:r>
              <a:rPr lang="en-US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p3</a:t>
            </a:r>
            <a:r>
              <a:rPr lang="en-US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"&gt;This is a third paragraph.&lt;/p&gt; </a:t>
            </a:r>
            <a:br>
              <a:rPr lang="en-US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&lt;/div&gt;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&lt;script&gt;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 var </a:t>
            </a:r>
            <a:r>
              <a:rPr lang="fr-BE" sz="2800" dirty="0">
                <a:solidFill>
                  <a:schemeClr val="accent1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e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=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document.getElementById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("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div1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");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 var </a:t>
            </a:r>
            <a:r>
              <a:rPr lang="fr-BE" sz="28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n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=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e.</a:t>
            </a:r>
            <a:r>
              <a:rPr lang="fr-BE" sz="2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childElementCount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 </a:t>
            </a:r>
            <a:r>
              <a:rPr lang="fr-BE" sz="2800" dirty="0" err="1">
                <a:solidFill>
                  <a:schemeClr val="accent1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e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.children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[</a:t>
            </a:r>
            <a:r>
              <a:rPr lang="fr-BE" sz="28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n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-2].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innerHTML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= "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this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is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new";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&lt;/script&gt;</a:t>
            </a:r>
          </a:p>
        </p:txBody>
      </p:sp>
    </p:spTree>
    <p:extLst>
      <p:ext uri="{BB962C8B-B14F-4D97-AF65-F5344CB8AC3E}">
        <p14:creationId xmlns:p14="http://schemas.microsoft.com/office/powerpoint/2010/main" val="283290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56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DOM HTML Element</a:t>
            </a:r>
          </a:p>
        </p:txBody>
      </p:sp>
      <p:sp>
        <p:nvSpPr>
          <p:cNvPr id="354" name="Google Shape;354;p56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innerHTML</a:t>
            </a:r>
            <a:endParaRPr lang="fr-BE" dirty="0">
              <a:solidFill>
                <a:schemeClr val="accent2"/>
              </a:solidFill>
              <a:latin typeface="Consolas" panose="020B0609020204030204" pitchFamily="49" charset="0"/>
              <a:cs typeface="Courier New" panose="02070309020205020404" pitchFamily="49" charset="0"/>
              <a:sym typeface="Open Sans"/>
            </a:endParaRPr>
          </a:p>
          <a:p>
            <a:pPr lvl="1"/>
            <a:r>
              <a:rPr lang="fr-BE" dirty="0">
                <a:sym typeface="Open Sans"/>
              </a:rPr>
              <a:t>Accéder ou remplacer complètement le contenu d’un élément par celui spécifié dans une chaîne de caractères.</a:t>
            </a:r>
          </a:p>
          <a:p>
            <a:endParaRPr lang="fr-BE" dirty="0">
              <a:sym typeface="Courier New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9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DOM NodeList - Propriété</a:t>
            </a:r>
          </a:p>
        </p:txBody>
      </p:sp>
      <p:sp>
        <p:nvSpPr>
          <p:cNvPr id="373" name="Google Shape;373;p59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Open Sans"/>
              </a:rPr>
              <a:t>length</a:t>
            </a:r>
            <a:endParaRPr lang="fr-BE" dirty="0">
              <a:solidFill>
                <a:schemeClr val="accent2"/>
              </a:solidFill>
              <a:latin typeface="Consolas" panose="020B0609020204030204" pitchFamily="49" charset="0"/>
              <a:cs typeface="Courier New" panose="02070309020205020404" pitchFamily="49" charset="0"/>
              <a:sym typeface="Open Sans"/>
            </a:endParaRPr>
          </a:p>
          <a:p>
            <a:pPr lvl="1"/>
            <a:r>
              <a:rPr lang="fr-BE" dirty="0">
                <a:sym typeface="Open Sans"/>
              </a:rPr>
              <a:t>Retourner le nombre de </a:t>
            </a:r>
            <a:r>
              <a:rPr lang="fr-BE" dirty="0" err="1">
                <a:sym typeface="Open Sans"/>
              </a:rPr>
              <a:t>noeud</a:t>
            </a:r>
            <a:r>
              <a:rPr lang="fr-BE" dirty="0">
                <a:sym typeface="Open Sans"/>
              </a:rPr>
              <a:t> dans une collection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57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Application : tableur : </a:t>
            </a:r>
            <a:r>
              <a:rPr lang="fr-BE"/>
              <a:t>exercice 21</a:t>
            </a:r>
            <a:endParaRPr lang="fr-BE" dirty="0"/>
          </a:p>
        </p:txBody>
      </p:sp>
      <p:sp>
        <p:nvSpPr>
          <p:cNvPr id="360" name="Google Shape;360;p57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Fichier </a:t>
            </a:r>
            <a:r>
              <a:rPr lang="fr-BE"/>
              <a:t>: exo21</a:t>
            </a:r>
            <a:r>
              <a:rPr lang="fr-BE" dirty="0"/>
              <a:t>_start.php </a:t>
            </a:r>
          </a:p>
          <a:p>
            <a:r>
              <a:rPr lang="fr-BE" dirty="0"/>
              <a:t>Développez un tableur en javascript </a:t>
            </a:r>
            <a:br>
              <a:rPr lang="fr-BE" dirty="0"/>
            </a:br>
            <a:r>
              <a:rPr lang="fr-BE" dirty="0"/>
              <a:t>… qui doit seulement faire l’addition de trois cellules. </a:t>
            </a:r>
          </a:p>
          <a:p>
            <a:r>
              <a:rPr lang="fr-BE" dirty="0"/>
              <a:t>Le total doit être remis à jour automatiquement si une des trois cellules est  modifiée.</a:t>
            </a:r>
          </a:p>
        </p:txBody>
      </p:sp>
      <p:pic>
        <p:nvPicPr>
          <p:cNvPr id="361" name="Google Shape;361;p57"/>
          <p:cNvPicPr preferRelativeResize="0"/>
          <p:nvPr/>
        </p:nvPicPr>
        <p:blipFill rotWithShape="1">
          <a:blip r:embed="rId3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42900" y="4691558"/>
            <a:ext cx="5083261" cy="216644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raphique 10" descr="Visage noir inquiet">
            <a:extLst>
              <a:ext uri="{FF2B5EF4-FFF2-40B4-BE49-F238E27FC236}">
                <a16:creationId xmlns:a16="http://schemas.microsoft.com/office/drawing/2014/main" id="{0E498CAD-BEBD-4715-B6C6-BE30FA0B2DA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58790" y="2166442"/>
            <a:ext cx="360000" cy="360000"/>
          </a:xfrm>
          <a:prstGeom prst="rect">
            <a:avLst/>
          </a:prstGeom>
        </p:spPr>
      </p:pic>
      <p:pic>
        <p:nvPicPr>
          <p:cNvPr id="13" name="Graphique 12" descr="Visage blanc portant des lunettes de soleil">
            <a:extLst>
              <a:ext uri="{FF2B5EF4-FFF2-40B4-BE49-F238E27FC236}">
                <a16:creationId xmlns:a16="http://schemas.microsoft.com/office/drawing/2014/main" id="{5D044837-048B-4AFD-9E60-4434A5E17B4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90886" y="2615918"/>
            <a:ext cx="360000" cy="360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B22E69-EE5C-40B0-937E-70EB75211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Application : le "div filler" </a:t>
            </a:r>
            <a:r>
              <a:rPr lang="fr-BE"/>
              <a:t>: exo 22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4073FF-9BD9-45E8-973E-402E790913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Fichier </a:t>
            </a:r>
            <a:r>
              <a:rPr lang="fr-BE"/>
              <a:t>: exo22_</a:t>
            </a:r>
            <a:r>
              <a:rPr lang="fr-BE" dirty="0"/>
              <a:t>start.html </a:t>
            </a:r>
          </a:p>
          <a:p>
            <a:r>
              <a:rPr lang="fr-BE" dirty="0"/>
              <a:t>Affichez dans une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alert</a:t>
            </a:r>
            <a:r>
              <a:rPr lang="fr-BE" dirty="0"/>
              <a:t> la liste des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id</a:t>
            </a:r>
            <a:r>
              <a:rPr lang="fr-BE" dirty="0"/>
              <a:t> des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div</a:t>
            </a:r>
            <a:r>
              <a:rPr lang="fr-BE" dirty="0"/>
              <a:t>. </a:t>
            </a:r>
          </a:p>
          <a:p>
            <a:r>
              <a:rPr lang="fr-BE" dirty="0"/>
              <a:t>Créez par Javascript </a:t>
            </a:r>
          </a:p>
          <a:p>
            <a:pPr lvl="1"/>
            <a:r>
              <a:rPr lang="fr-BE" dirty="0"/>
              <a:t>un nouveau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div</a:t>
            </a:r>
            <a:r>
              <a:rPr lang="fr-BE" dirty="0"/>
              <a:t> à la fin du document </a:t>
            </a:r>
          </a:p>
          <a:p>
            <a:pPr lvl="1"/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id</a:t>
            </a:r>
            <a:r>
              <a:rPr lang="fr-BE" dirty="0"/>
              <a:t> : "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nouveau</a:t>
            </a:r>
            <a:r>
              <a:rPr lang="fr-BE" dirty="0"/>
              <a:t>" </a:t>
            </a:r>
          </a:p>
          <a:p>
            <a:pPr lvl="1"/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innerHTML</a:t>
            </a:r>
            <a:r>
              <a:rPr lang="fr-BE" dirty="0"/>
              <a:t> : "je suis un nouvel élément"</a:t>
            </a:r>
          </a:p>
          <a:p>
            <a:r>
              <a:rPr lang="fr-BE" dirty="0"/>
              <a:t>Faites que le bouton "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ajouter</a:t>
            </a:r>
            <a:r>
              <a:rPr lang="fr-BE" dirty="0"/>
              <a:t>" ajoute le contenu de l'input "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ifContenu</a:t>
            </a:r>
            <a:r>
              <a:rPr lang="fr-BE" dirty="0"/>
              <a:t>" au div "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nouveau</a:t>
            </a:r>
            <a:r>
              <a:rPr lang="fr-BE" dirty="0"/>
              <a:t>".</a:t>
            </a:r>
          </a:p>
        </p:txBody>
      </p:sp>
    </p:spTree>
    <p:extLst>
      <p:ext uri="{BB962C8B-B14F-4D97-AF65-F5344CB8AC3E}">
        <p14:creationId xmlns:p14="http://schemas.microsoft.com/office/powerpoint/2010/main" val="27959114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B9D82-219F-4E36-A049-76B30F9BD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Sibling </a:t>
            </a:r>
            <a:r>
              <a:rPr lang="fr-BE"/>
              <a:t>: exo 24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147B068-C6F3-4A8F-8C96-5C660A5B9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Fichier </a:t>
            </a:r>
            <a:r>
              <a:rPr lang="fr-BE"/>
              <a:t>: exo24</a:t>
            </a:r>
            <a:r>
              <a:rPr lang="fr-BE" dirty="0"/>
              <a:t>_start.html </a:t>
            </a:r>
          </a:p>
          <a:p>
            <a:r>
              <a:rPr lang="fr-BE" dirty="0"/>
              <a:t>Voici en image ce qui doit se passer quand on clique sur le bouton : inversion du contenu des deux </a:t>
            </a: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div</a:t>
            </a:r>
            <a:r>
              <a:rPr lang="fr-BE" dirty="0"/>
              <a:t>.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3C5F58A-C069-4002-9E05-9F78D5FF3B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0414" y="3642961"/>
            <a:ext cx="2330890" cy="1547398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02CCE6A5-C671-4577-9FA6-5126BFDD31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6348" y="3678680"/>
            <a:ext cx="2427565" cy="147596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404FE946-0541-4E56-9472-B345C9E5D4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8957" y="3642961"/>
            <a:ext cx="2330890" cy="1547398"/>
          </a:xfrm>
          <a:prstGeom prst="rect">
            <a:avLst/>
          </a:prstGeom>
        </p:spPr>
      </p:pic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27154312-7679-4760-8866-A118594E4C01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3711304" y="4416660"/>
            <a:ext cx="775044" cy="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1D60EEE9-1E8C-47F2-9C86-44B8F209EE2C}"/>
              </a:ext>
            </a:extLst>
          </p:cNvPr>
          <p:cNvCxnSpPr>
            <a:cxnSpLocks/>
          </p:cNvCxnSpPr>
          <p:nvPr/>
        </p:nvCxnSpPr>
        <p:spPr>
          <a:xfrm>
            <a:off x="6936039" y="4450107"/>
            <a:ext cx="75291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4965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4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Évènement</a:t>
            </a:r>
            <a:endParaRPr lang="fr-BE" dirty="0">
              <a:sym typeface="Calibri"/>
            </a:endParaRP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2EEEE57-044A-A5A6-C61D-5F9184FD3C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pic>
        <p:nvPicPr>
          <p:cNvPr id="5" name="Espace réservé pour une image  5">
            <a:extLst>
              <a:ext uri="{FF2B5EF4-FFF2-40B4-BE49-F238E27FC236}">
                <a16:creationId xmlns:a16="http://schemas.microsoft.com/office/drawing/2014/main" id="{CF071C5F-9794-4599-A849-B32DE52AA06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4506" b="14506"/>
          <a:stretch/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451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69D559-7273-432F-96C1-0A4F8BD86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>
                <a:sym typeface="Calibri"/>
              </a:rPr>
              <a:t>Evènement : le focus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11702E7-F3BE-49B7-BF99-969C1D2A2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 dirty="0"/>
              <a:t>Propriété d'un élément </a:t>
            </a:r>
            <a:r>
              <a:rPr lang="fr-BE" dirty="0">
                <a:solidFill>
                  <a:schemeClr val="accent2"/>
                </a:solidFill>
              </a:rPr>
              <a:t>ciblé</a:t>
            </a:r>
          </a:p>
          <a:p>
            <a:r>
              <a:rPr lang="fr-BE" dirty="0"/>
              <a:t>Un élément ciblé reçoit tous les événements de votre clavier.</a:t>
            </a:r>
          </a:p>
          <a:p>
            <a:pPr lvl="1"/>
            <a:r>
              <a:rPr lang="fr-BE" dirty="0"/>
              <a:t>Seulement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&lt;input&gt;</a:t>
            </a:r>
            <a:r>
              <a:rPr lang="fr-BE" dirty="0"/>
              <a:t>,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&lt;select&gt;</a:t>
            </a:r>
            <a:r>
              <a:rPr lang="fr-BE" dirty="0"/>
              <a:t>,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textarea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fr-BE" dirty="0"/>
              <a:t> et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&lt;a&gt;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</a:rPr>
              <a:t> </a:t>
            </a:r>
            <a:r>
              <a:rPr lang="fr-BE" dirty="0"/>
              <a:t>(et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button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fr-BE" dirty="0"/>
              <a:t>)</a:t>
            </a:r>
            <a:endParaRPr lang="fr-BE" dirty="0">
              <a:solidFill>
                <a:srgbClr val="996633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 dirty="0"/>
              <a:t>Exemple :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&lt;input&gt;</a:t>
            </a:r>
          </a:p>
          <a:p>
            <a:pPr lvl="1"/>
            <a:r>
              <a:rPr lang="fr-BE" dirty="0"/>
              <a:t>si vous cliquez dessus alors l'input possède le </a:t>
            </a:r>
            <a:r>
              <a:rPr lang="fr-BE" dirty="0">
                <a:solidFill>
                  <a:schemeClr val="accent2"/>
                </a:solidFill>
              </a:rPr>
              <a:t>focus</a:t>
            </a:r>
          </a:p>
          <a:p>
            <a:pPr lvl="1"/>
            <a:r>
              <a:rPr lang="fr-BE" dirty="0"/>
              <a:t>si vous tapez des caractères sur votre clavier, </a:t>
            </a:r>
            <a:br>
              <a:rPr lang="fr-BE" dirty="0"/>
            </a:br>
            <a:r>
              <a:rPr lang="fr-BE" dirty="0"/>
              <a:t>alors vous les voyez s'afficher dans l'input en question.</a:t>
            </a:r>
          </a:p>
        </p:txBody>
      </p:sp>
    </p:spTree>
    <p:extLst>
      <p:ext uri="{BB962C8B-B14F-4D97-AF65-F5344CB8AC3E}">
        <p14:creationId xmlns:p14="http://schemas.microsoft.com/office/powerpoint/2010/main" val="34364247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>
                <a:sym typeface="Calibri"/>
              </a:rPr>
              <a:t>Evènement : les types</a:t>
            </a:r>
          </a:p>
        </p:txBody>
      </p:sp>
      <p:graphicFrame>
        <p:nvGraphicFramePr>
          <p:cNvPr id="231" name="Google Shape;231;p36"/>
          <p:cNvGraphicFramePr/>
          <p:nvPr>
            <p:extLst>
              <p:ext uri="{D42A27DB-BD31-4B8C-83A1-F6EECF244321}">
                <p14:modId xmlns:p14="http://schemas.microsoft.com/office/powerpoint/2010/main" val="1798164829"/>
              </p:ext>
            </p:extLst>
          </p:nvPr>
        </p:nvGraphicFramePr>
        <p:xfrm>
          <a:off x="106107" y="1709095"/>
          <a:ext cx="5854598" cy="4792315"/>
        </p:xfrm>
        <a:graphic>
          <a:graphicData uri="http://schemas.openxmlformats.org/drawingml/2006/table">
            <a:tbl>
              <a:tblPr>
                <a:solidFill>
                  <a:srgbClr val="FFFFFF"/>
                </a:solidFill>
              </a:tblPr>
              <a:tblGrid>
                <a:gridCol w="964184">
                  <a:extLst>
                    <a:ext uri="{9D8B030D-6E8A-4147-A177-3AD203B41FA5}">
                      <a16:colId xmlns:a16="http://schemas.microsoft.com/office/drawing/2014/main" val="2305631316"/>
                    </a:ext>
                  </a:extLst>
                </a:gridCol>
                <a:gridCol w="1558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14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4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BE" b="1" dirty="0">
                          <a:solidFill>
                            <a:srgbClr val="FFFFFF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Nom</a:t>
                      </a:r>
                      <a:endParaRPr b="1" dirty="0">
                        <a:solidFill>
                          <a:srgbClr val="FFFFFF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D85C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>
                          <a:solidFill>
                            <a:srgbClr val="FFFFFF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Attribut</a:t>
                      </a:r>
                      <a:endParaRPr b="1" dirty="0">
                        <a:solidFill>
                          <a:srgbClr val="FFFFFF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D85C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BE" b="1" dirty="0">
                          <a:solidFill>
                            <a:srgbClr val="FFFFFF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Action </a:t>
                      </a:r>
                      <a:r>
                        <a:rPr lang="fr-BE" b="1" dirty="0" err="1">
                          <a:solidFill>
                            <a:srgbClr val="FFFFFF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déclencheuse</a:t>
                      </a:r>
                      <a:endParaRPr b="1" dirty="0">
                        <a:solidFill>
                          <a:srgbClr val="FFFFFF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D85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6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BE" b="1" dirty="0">
                          <a:solidFill>
                            <a:schemeClr val="accent2"/>
                          </a:solidFill>
                          <a:sym typeface="Calibri"/>
                        </a:rPr>
                        <a:t>Click</a:t>
                      </a: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0" i="0" u="none" dirty="0">
                          <a:solidFill>
                            <a:srgbClr val="996633"/>
                          </a:solidFill>
                          <a:latin typeface="Consolas" panose="020B0609020204030204" pitchFamily="49" charset="0"/>
                          <a:ea typeface="Calibri"/>
                          <a:cs typeface="Courier New" panose="02070309020205020404" pitchFamily="49" charset="0"/>
                          <a:sym typeface="Calibri"/>
                        </a:rPr>
                        <a:t>onclick</a:t>
                      </a:r>
                      <a:endParaRPr b="0" i="0" u="none" dirty="0">
                        <a:solidFill>
                          <a:srgbClr val="996633"/>
                        </a:solidFill>
                        <a:latin typeface="Consolas" panose="020B0609020204030204" pitchFamily="49" charset="0"/>
                        <a:ea typeface="Calibri"/>
                        <a:cs typeface="Courier New" panose="02070309020205020404" pitchFamily="49" charset="0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Click de souris sur un élément</a:t>
                      </a:r>
                      <a:endParaRPr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6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BE" dirty="0" err="1">
                          <a:sym typeface="Calibri"/>
                        </a:rPr>
                        <a:t>Dblclick</a:t>
                      </a:r>
                      <a:endParaRPr lang="fr-BE" dirty="0"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0" i="0" u="none" dirty="0">
                          <a:solidFill>
                            <a:srgbClr val="996633"/>
                          </a:solidFill>
                          <a:latin typeface="Consolas" panose="020B0609020204030204" pitchFamily="49" charset="0"/>
                          <a:ea typeface="Calibri"/>
                          <a:cs typeface="Courier New" panose="02070309020205020404" pitchFamily="49" charset="0"/>
                          <a:sym typeface="Calibri"/>
                        </a:rPr>
                        <a:t>ondblclick</a:t>
                      </a:r>
                      <a:endParaRPr b="0" i="0" u="none" dirty="0">
                        <a:solidFill>
                          <a:srgbClr val="996633"/>
                        </a:solidFill>
                        <a:latin typeface="Consolas" panose="020B0609020204030204" pitchFamily="49" charset="0"/>
                        <a:ea typeface="Calibri"/>
                        <a:cs typeface="Courier New" panose="02070309020205020404" pitchFamily="49" charset="0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Double click sur un élément</a:t>
                      </a:r>
                      <a:endParaRPr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6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BE" b="1" dirty="0">
                          <a:solidFill>
                            <a:schemeClr val="accent2"/>
                          </a:solidFill>
                          <a:sym typeface="Calibri"/>
                        </a:rPr>
                        <a:t>Focus</a:t>
                      </a: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0" i="0" u="none" kern="1200" dirty="0">
                          <a:solidFill>
                            <a:srgbClr val="996633"/>
                          </a:solidFill>
                          <a:latin typeface="Consolas" panose="020B0609020204030204" pitchFamily="49" charset="0"/>
                          <a:ea typeface="Calibri"/>
                          <a:cs typeface="Courier New" panose="02070309020205020404" pitchFamily="49" charset="0"/>
                          <a:sym typeface="Calibri"/>
                        </a:rPr>
                        <a:t>onfocus</a:t>
                      </a:r>
                      <a:endParaRPr sz="1800" b="0" i="0" u="none" kern="1200" dirty="0">
                        <a:solidFill>
                          <a:srgbClr val="996633"/>
                        </a:solidFill>
                        <a:latin typeface="Consolas" panose="020B0609020204030204" pitchFamily="49" charset="0"/>
                        <a:ea typeface="Calibri"/>
                        <a:cs typeface="Courier New" panose="02070309020205020404" pitchFamily="49" charset="0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L'élément reçoit le focus</a:t>
                      </a:r>
                      <a:endParaRPr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26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BE" b="1" dirty="0" err="1">
                          <a:solidFill>
                            <a:schemeClr val="accent2"/>
                          </a:solidFill>
                          <a:sym typeface="Calibri"/>
                        </a:rPr>
                        <a:t>Blur</a:t>
                      </a:r>
                      <a:endParaRPr lang="fr-BE" b="1" dirty="0">
                        <a:solidFill>
                          <a:schemeClr val="accent2"/>
                        </a:solidFill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0" i="0" u="none" kern="1200" dirty="0">
                          <a:solidFill>
                            <a:srgbClr val="996633"/>
                          </a:solidFill>
                          <a:latin typeface="Consolas" panose="020B0609020204030204" pitchFamily="49" charset="0"/>
                          <a:ea typeface="Calibri"/>
                          <a:cs typeface="Courier New" panose="02070309020205020404" pitchFamily="49" charset="0"/>
                          <a:sym typeface="Calibri"/>
                        </a:rPr>
                        <a:t>onblur</a:t>
                      </a:r>
                      <a:endParaRPr sz="1800" b="0" i="0" u="none" kern="1200" dirty="0">
                        <a:solidFill>
                          <a:srgbClr val="996633"/>
                        </a:solidFill>
                        <a:latin typeface="Consolas" panose="020B0609020204030204" pitchFamily="49" charset="0"/>
                        <a:ea typeface="Calibri"/>
                        <a:cs typeface="Courier New" panose="02070309020205020404" pitchFamily="49" charset="0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L'élément perd le focus</a:t>
                      </a:r>
                      <a:endParaRPr dirty="0"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1054201"/>
                  </a:ext>
                </a:extLst>
              </a:tr>
              <a:tr h="3826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BE" b="1" dirty="0">
                          <a:solidFill>
                            <a:schemeClr val="accent2"/>
                          </a:solidFill>
                          <a:sym typeface="Calibri"/>
                        </a:rPr>
                        <a:t>Change</a:t>
                      </a: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0" i="0" u="none" kern="1200" dirty="0">
                          <a:solidFill>
                            <a:srgbClr val="996633"/>
                          </a:solidFill>
                          <a:latin typeface="Consolas" panose="020B0609020204030204" pitchFamily="49" charset="0"/>
                          <a:ea typeface="Calibri"/>
                          <a:cs typeface="Courier New" panose="02070309020205020404" pitchFamily="49" charset="0"/>
                          <a:sym typeface="Calibri"/>
                        </a:rPr>
                        <a:t>onchange</a:t>
                      </a:r>
                      <a:endParaRPr sz="1800" b="0" i="0" u="none" kern="1200" dirty="0">
                        <a:solidFill>
                          <a:srgbClr val="996633"/>
                        </a:solidFill>
                        <a:latin typeface="Consolas" panose="020B0609020204030204" pitchFamily="49" charset="0"/>
                        <a:ea typeface="Calibri"/>
                        <a:cs typeface="Courier New" panose="02070309020205020404" pitchFamily="49" charset="0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Le contenu d'un champ </a:t>
                      </a:r>
                      <a:r>
                        <a:rPr lang="fr-B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est modifié</a:t>
                      </a:r>
                      <a:r>
                        <a:rPr lang="en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fr-B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élément SELECT RADIO)</a:t>
                      </a:r>
                      <a:endParaRPr dirty="0"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2716047"/>
                  </a:ext>
                </a:extLst>
              </a:tr>
              <a:tr h="3826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BE" dirty="0"/>
                        <a:t>Input</a:t>
                      </a:r>
                      <a:endParaRPr lang="fr-BE" dirty="0"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 u="none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Courier New" panose="02070309020205020404" pitchFamily="49" charset="0"/>
                        <a:ea typeface="Calibri"/>
                        <a:cs typeface="Courier New" panose="02070309020205020404" pitchFamily="49" charset="0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BE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Taper un caractère dans un champ de texte</a:t>
                      </a:r>
                      <a:endParaRPr dirty="0"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4345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BE" b="1" dirty="0">
                          <a:solidFill>
                            <a:schemeClr val="accent2"/>
                          </a:solidFill>
                          <a:sym typeface="Calibri"/>
                        </a:rPr>
                        <a:t>Select</a:t>
                      </a: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0" i="0" u="none" dirty="0">
                          <a:solidFill>
                            <a:srgbClr val="996633"/>
                          </a:solidFill>
                          <a:latin typeface="Consolas" panose="020B0609020204030204" pitchFamily="49" charset="0"/>
                          <a:ea typeface="Calibri"/>
                          <a:cs typeface="Courier New" panose="02070309020205020404" pitchFamily="49" charset="0"/>
                          <a:sym typeface="Calibri"/>
                        </a:rPr>
                        <a:t>onselect</a:t>
                      </a:r>
                      <a:endParaRPr b="0" i="0" u="none" dirty="0">
                        <a:solidFill>
                          <a:srgbClr val="996633"/>
                        </a:solidFill>
                        <a:latin typeface="Consolas" panose="020B0609020204030204" pitchFamily="49" charset="0"/>
                        <a:ea typeface="Calibri"/>
                        <a:cs typeface="Courier New" panose="02070309020205020404" pitchFamily="49" charset="0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Du texte est sélectionné (</a:t>
                      </a:r>
                      <a:r>
                        <a:rPr lang="fr-B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élément INPUT, TEXTAREA)</a:t>
                      </a:r>
                      <a:endParaRPr dirty="0"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5613162"/>
                  </a:ext>
                </a:extLst>
              </a:tr>
              <a:tr h="3826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BE" dirty="0" err="1">
                          <a:sym typeface="Calibri"/>
                        </a:rPr>
                        <a:t>Keydown</a:t>
                      </a:r>
                      <a:endParaRPr lang="fr-BE" dirty="0"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0" i="0" u="none" dirty="0">
                          <a:solidFill>
                            <a:srgbClr val="996633"/>
                          </a:solidFill>
                          <a:latin typeface="Consolas" panose="020B0609020204030204" pitchFamily="49" charset="0"/>
                          <a:ea typeface="Calibri"/>
                          <a:cs typeface="Courier New" panose="02070309020205020404" pitchFamily="49" charset="0"/>
                          <a:sym typeface="Calibri"/>
                        </a:rPr>
                        <a:t>onkeydown</a:t>
                      </a:r>
                      <a:endParaRPr b="0" i="0" u="none" dirty="0">
                        <a:solidFill>
                          <a:srgbClr val="996633"/>
                        </a:solidFill>
                        <a:latin typeface="Consolas" panose="020B0609020204030204" pitchFamily="49" charset="0"/>
                        <a:ea typeface="Calibri"/>
                        <a:cs typeface="Courier New" panose="02070309020205020404" pitchFamily="49" charset="0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Une touche est pressée</a:t>
                      </a:r>
                      <a:endParaRPr dirty="0"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BE" dirty="0" err="1">
                          <a:sym typeface="Calibri"/>
                        </a:rPr>
                        <a:t>Keypress</a:t>
                      </a:r>
                      <a:endParaRPr lang="fr-BE" dirty="0"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0" i="0" u="none" dirty="0">
                          <a:solidFill>
                            <a:srgbClr val="996633"/>
                          </a:solidFill>
                          <a:latin typeface="Consolas" panose="020B0609020204030204" pitchFamily="49" charset="0"/>
                          <a:ea typeface="Calibri"/>
                          <a:cs typeface="Courier New" panose="02070309020205020404" pitchFamily="49" charset="0"/>
                          <a:sym typeface="Calibri"/>
                        </a:rPr>
                        <a:t>onkeypress</a:t>
                      </a:r>
                      <a:endParaRPr b="0" i="0" u="none" dirty="0">
                        <a:solidFill>
                          <a:srgbClr val="996633"/>
                        </a:solidFill>
                        <a:latin typeface="Consolas" panose="020B0609020204030204" pitchFamily="49" charset="0"/>
                        <a:ea typeface="Calibri"/>
                        <a:cs typeface="Courier New" panose="02070309020205020404" pitchFamily="49" charset="0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Une touche de caractère est pressée</a:t>
                      </a:r>
                      <a:endParaRPr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26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BE" dirty="0" err="1">
                          <a:sym typeface="Calibri"/>
                        </a:rPr>
                        <a:t>Keyup</a:t>
                      </a:r>
                      <a:endParaRPr lang="fr-BE" dirty="0"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0" i="0" u="none" dirty="0">
                          <a:solidFill>
                            <a:srgbClr val="996633"/>
                          </a:solidFill>
                          <a:latin typeface="Consolas" panose="020B0609020204030204" pitchFamily="49" charset="0"/>
                          <a:ea typeface="Calibri"/>
                          <a:cs typeface="Courier New" panose="02070309020205020404" pitchFamily="49" charset="0"/>
                          <a:sym typeface="Calibri"/>
                        </a:rPr>
                        <a:t>onkeyup</a:t>
                      </a:r>
                      <a:endParaRPr b="0" i="0" u="none" dirty="0">
                        <a:solidFill>
                          <a:srgbClr val="996633"/>
                        </a:solidFill>
                        <a:latin typeface="Consolas" panose="020B0609020204030204" pitchFamily="49" charset="0"/>
                        <a:ea typeface="Calibri"/>
                        <a:cs typeface="Courier New" panose="02070309020205020404" pitchFamily="49" charset="0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Une touche est relâchée</a:t>
                      </a:r>
                      <a:endParaRPr dirty="0"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232" name="Google Shape;232;p36"/>
          <p:cNvGraphicFramePr/>
          <p:nvPr>
            <p:extLst>
              <p:ext uri="{D42A27DB-BD31-4B8C-83A1-F6EECF244321}">
                <p14:modId xmlns:p14="http://schemas.microsoft.com/office/powerpoint/2010/main" val="3135093700"/>
              </p:ext>
            </p:extLst>
          </p:nvPr>
        </p:nvGraphicFramePr>
        <p:xfrm>
          <a:off x="6096000" y="1690688"/>
          <a:ext cx="5930589" cy="4964020"/>
        </p:xfrm>
        <a:graphic>
          <a:graphicData uri="http://schemas.openxmlformats.org/drawingml/2006/table">
            <a:tbl>
              <a:tblPr>
                <a:solidFill>
                  <a:srgbClr val="FFFFFF"/>
                </a:solidFill>
              </a:tblPr>
              <a:tblGrid>
                <a:gridCol w="1208278">
                  <a:extLst>
                    <a:ext uri="{9D8B030D-6E8A-4147-A177-3AD203B41FA5}">
                      <a16:colId xmlns:a16="http://schemas.microsoft.com/office/drawing/2014/main" val="1015095895"/>
                    </a:ext>
                  </a:extLst>
                </a:gridCol>
                <a:gridCol w="1695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68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2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BE" b="1" dirty="0">
                          <a:solidFill>
                            <a:srgbClr val="FFFFFF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Nom</a:t>
                      </a:r>
                      <a:endParaRPr b="1" dirty="0">
                        <a:solidFill>
                          <a:srgbClr val="FFFFFF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D85C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>
                          <a:solidFill>
                            <a:srgbClr val="FFFFFF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Attribut</a:t>
                      </a:r>
                      <a:endParaRPr b="1" dirty="0">
                        <a:solidFill>
                          <a:srgbClr val="FFFFFF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D85C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BE" b="1" dirty="0">
                          <a:solidFill>
                            <a:srgbClr val="FFFFFF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Action </a:t>
                      </a:r>
                      <a:r>
                        <a:rPr lang="fr-BE" b="1" dirty="0" err="1">
                          <a:solidFill>
                            <a:srgbClr val="FFFFFF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déclencheuse</a:t>
                      </a:r>
                      <a:endParaRPr b="1" dirty="0">
                        <a:solidFill>
                          <a:srgbClr val="FFFFFF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D85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BE" sz="1800" b="1" u="none" kern="1200" dirty="0" err="1">
                          <a:solidFill>
                            <a:schemeClr val="accent2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Load</a:t>
                      </a:r>
                      <a:endParaRPr sz="1800" b="1" u="none" kern="1200" dirty="0">
                        <a:solidFill>
                          <a:schemeClr val="accent2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0" i="0" dirty="0">
                          <a:solidFill>
                            <a:srgbClr val="996633"/>
                          </a:solidFill>
                          <a:latin typeface="Consolas" panose="020B0609020204030204" pitchFamily="49" charset="0"/>
                          <a:cs typeface="Courier New" panose="02070309020205020404" pitchFamily="49" charset="0"/>
                          <a:sym typeface="Calibri"/>
                        </a:rPr>
                        <a:t>onload</a:t>
                      </a:r>
                      <a:endParaRPr b="0" i="0" dirty="0">
                        <a:solidFill>
                          <a:srgbClr val="996633"/>
                        </a:solidFill>
                        <a:latin typeface="Consolas" panose="020B0609020204030204" pitchFamily="49" charset="0"/>
                        <a:cs typeface="Courier New" panose="02070309020205020404" pitchFamily="49" charset="0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La page ou l'image est chargée</a:t>
                      </a:r>
                      <a:endParaRPr dirty="0"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BE" u="none" dirty="0" err="1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Unload</a:t>
                      </a:r>
                      <a:endParaRPr u="none" dirty="0"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0" i="0" dirty="0">
                          <a:solidFill>
                            <a:srgbClr val="996633"/>
                          </a:solidFill>
                          <a:latin typeface="Consolas" panose="020B0609020204030204" pitchFamily="49" charset="0"/>
                          <a:cs typeface="Courier New" panose="02070309020205020404" pitchFamily="49" charset="0"/>
                          <a:sym typeface="Calibri"/>
                        </a:rPr>
                        <a:t>onunload</a:t>
                      </a:r>
                      <a:endParaRPr b="0" i="0" dirty="0">
                        <a:solidFill>
                          <a:srgbClr val="996633"/>
                        </a:solidFill>
                        <a:latin typeface="Consolas" panose="020B0609020204030204" pitchFamily="49" charset="0"/>
                        <a:cs typeface="Courier New" panose="02070309020205020404" pitchFamily="49" charset="0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L'utilisateur sort de la page</a:t>
                      </a:r>
                      <a:endParaRPr dirty="0"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6672560"/>
                  </a:ext>
                </a:extLst>
              </a:tr>
              <a:tr h="431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BE" u="none" dirty="0" err="1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Resize</a:t>
                      </a:r>
                      <a:endParaRPr u="none" dirty="0"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0" i="0" dirty="0">
                          <a:solidFill>
                            <a:srgbClr val="996633"/>
                          </a:solidFill>
                          <a:latin typeface="Consolas" panose="020B0609020204030204" pitchFamily="49" charset="0"/>
                          <a:cs typeface="Courier New" panose="02070309020205020404" pitchFamily="49" charset="0"/>
                          <a:sym typeface="Calibri"/>
                        </a:rPr>
                        <a:t>onresize</a:t>
                      </a:r>
                      <a:endParaRPr b="0" i="0" dirty="0">
                        <a:solidFill>
                          <a:srgbClr val="996633"/>
                        </a:solidFill>
                        <a:latin typeface="Consolas" panose="020B0609020204030204" pitchFamily="49" charset="0"/>
                        <a:cs typeface="Courier New" panose="02070309020205020404" pitchFamily="49" charset="0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La taille de la fenêtre est réajustée</a:t>
                      </a:r>
                      <a:endParaRPr dirty="0"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9734764"/>
                  </a:ext>
                </a:extLst>
              </a:tr>
              <a:tr h="431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BE" u="none" dirty="0" err="1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Mousedown</a:t>
                      </a:r>
                      <a:endParaRPr u="none" dirty="0"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0" i="0" dirty="0">
                          <a:solidFill>
                            <a:srgbClr val="996633"/>
                          </a:solidFill>
                          <a:latin typeface="Consolas" panose="020B0609020204030204" pitchFamily="49" charset="0"/>
                          <a:cs typeface="Courier New" panose="02070309020205020404" pitchFamily="49" charset="0"/>
                          <a:sym typeface="Calibri"/>
                        </a:rPr>
                        <a:t>onmousedown</a:t>
                      </a:r>
                      <a:endParaRPr b="0" i="0" dirty="0">
                        <a:solidFill>
                          <a:srgbClr val="996633"/>
                        </a:solidFill>
                        <a:latin typeface="Consolas" panose="020B0609020204030204" pitchFamily="49" charset="0"/>
                        <a:cs typeface="Courier New" panose="02070309020205020404" pitchFamily="49" charset="0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Le bouton de la souris est pressé</a:t>
                      </a:r>
                      <a:endParaRPr dirty="0"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BE" u="none" dirty="0" err="1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Mousemove</a:t>
                      </a:r>
                      <a:endParaRPr u="none" dirty="0"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0" i="0" dirty="0">
                          <a:solidFill>
                            <a:srgbClr val="996633"/>
                          </a:solidFill>
                          <a:latin typeface="Consolas" panose="020B0609020204030204" pitchFamily="49" charset="0"/>
                          <a:cs typeface="Courier New" panose="02070309020205020404" pitchFamily="49" charset="0"/>
                          <a:sym typeface="Calibri"/>
                        </a:rPr>
                        <a:t>onmousemove</a:t>
                      </a:r>
                      <a:endParaRPr b="0" i="0" dirty="0">
                        <a:solidFill>
                          <a:srgbClr val="996633"/>
                        </a:solidFill>
                        <a:latin typeface="Consolas" panose="020B0609020204030204" pitchFamily="49" charset="0"/>
                        <a:cs typeface="Courier New" panose="02070309020205020404" pitchFamily="49" charset="0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La souris est bougée</a:t>
                      </a:r>
                      <a:endParaRPr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1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BE" u="none" dirty="0" err="1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Mouseout</a:t>
                      </a:r>
                      <a:endParaRPr u="none" dirty="0"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0" i="0" dirty="0">
                          <a:solidFill>
                            <a:srgbClr val="996633"/>
                          </a:solidFill>
                          <a:latin typeface="Consolas" panose="020B0609020204030204" pitchFamily="49" charset="0"/>
                          <a:cs typeface="Courier New" panose="02070309020205020404" pitchFamily="49" charset="0"/>
                          <a:sym typeface="Calibri"/>
                        </a:rPr>
                        <a:t>onmouseout</a:t>
                      </a:r>
                      <a:endParaRPr b="0" i="0" dirty="0">
                        <a:solidFill>
                          <a:srgbClr val="996633"/>
                        </a:solidFill>
                        <a:latin typeface="Consolas" panose="020B0609020204030204" pitchFamily="49" charset="0"/>
                        <a:cs typeface="Courier New" panose="02070309020205020404" pitchFamily="49" charset="0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La souris sort d'un élément</a:t>
                      </a:r>
                      <a:endParaRPr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6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BE" sz="1800" b="1" u="none" kern="1200" dirty="0" err="1">
                          <a:solidFill>
                            <a:schemeClr val="accent2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Mouseover</a:t>
                      </a:r>
                      <a:endParaRPr sz="1800" b="1" u="none" kern="1200" dirty="0">
                        <a:solidFill>
                          <a:schemeClr val="accent2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0" i="0" dirty="0">
                          <a:solidFill>
                            <a:srgbClr val="996633"/>
                          </a:solidFill>
                          <a:latin typeface="Consolas" panose="020B0609020204030204" pitchFamily="49" charset="0"/>
                          <a:cs typeface="Courier New" panose="02070309020205020404" pitchFamily="49" charset="0"/>
                          <a:sym typeface="Calibri"/>
                        </a:rPr>
                        <a:t>onmouseover</a:t>
                      </a:r>
                      <a:endParaRPr b="0" i="0" dirty="0">
                        <a:solidFill>
                          <a:srgbClr val="996633"/>
                        </a:solidFill>
                        <a:latin typeface="Consolas" panose="020B0609020204030204" pitchFamily="49" charset="0"/>
                        <a:cs typeface="Courier New" panose="02070309020205020404" pitchFamily="49" charset="0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La souris survole un élément</a:t>
                      </a:r>
                      <a:endParaRPr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1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BE" u="none" dirty="0" err="1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Mouseup</a:t>
                      </a:r>
                      <a:endParaRPr u="none" dirty="0"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0" i="0" dirty="0">
                          <a:solidFill>
                            <a:srgbClr val="996633"/>
                          </a:solidFill>
                          <a:latin typeface="Consolas" panose="020B0609020204030204" pitchFamily="49" charset="0"/>
                          <a:cs typeface="Courier New" panose="02070309020205020404" pitchFamily="49" charset="0"/>
                          <a:sym typeface="Calibri"/>
                        </a:rPr>
                        <a:t>onmouseup</a:t>
                      </a:r>
                      <a:endParaRPr b="0" i="0" dirty="0">
                        <a:solidFill>
                          <a:srgbClr val="996633"/>
                        </a:solidFill>
                        <a:latin typeface="Consolas" panose="020B0609020204030204" pitchFamily="49" charset="0"/>
                        <a:cs typeface="Courier New" panose="02070309020205020404" pitchFamily="49" charset="0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Le bouton de la souris est relaché</a:t>
                      </a:r>
                      <a:endParaRPr dirty="0"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1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BE" u="none" dirty="0" err="1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Error</a:t>
                      </a:r>
                      <a:endParaRPr u="none" dirty="0"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0" i="0" dirty="0">
                          <a:solidFill>
                            <a:srgbClr val="996633"/>
                          </a:solidFill>
                          <a:latin typeface="Consolas" panose="020B0609020204030204" pitchFamily="49" charset="0"/>
                          <a:cs typeface="Courier New" panose="02070309020205020404" pitchFamily="49" charset="0"/>
                          <a:sym typeface="Calibri"/>
                        </a:rPr>
                        <a:t>onerror</a:t>
                      </a:r>
                      <a:endParaRPr b="0" i="0" dirty="0">
                        <a:solidFill>
                          <a:srgbClr val="996633"/>
                        </a:solidFill>
                        <a:latin typeface="Consolas" panose="020B0609020204030204" pitchFamily="49" charset="0"/>
                        <a:cs typeface="Courier New" panose="02070309020205020404" pitchFamily="49" charset="0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Si une erreur apparaît lors du chargement de la page, d'une image...</a:t>
                      </a:r>
                      <a:endParaRPr dirty="0"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8575" marR="28575" marT="28575" marB="28575">
                    <a:lnL w="9525" cap="flat" cmpd="sng" algn="ctr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85C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0529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3687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>
                <a:sym typeface="Calibri"/>
              </a:rPr>
              <a:t>Evènement &amp; HTML</a:t>
            </a:r>
          </a:p>
        </p:txBody>
      </p:sp>
      <p:sp>
        <p:nvSpPr>
          <p:cNvPr id="229" name="Google Shape;229;p36"/>
          <p:cNvSpPr txBox="1"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BE"/>
              <a:t>Méthode historique mais pédagogique</a:t>
            </a:r>
          </a:p>
          <a:p>
            <a:pPr lvl="1"/>
            <a:r>
              <a:rPr lang="fr-BE"/>
              <a:t>Attribut </a:t>
            </a:r>
            <a:r>
              <a:rPr lang="fr-BE" dirty="0"/>
              <a:t>spécifique à placer dans chaque élément soumis à un évènement </a:t>
            </a:r>
          </a:p>
          <a:p>
            <a:r>
              <a:rPr lang="fr-BE" dirty="0"/>
              <a:t>Exemple</a:t>
            </a:r>
          </a:p>
          <a:p>
            <a:pPr marL="457189" lvl="1" indent="0">
              <a:buNone/>
            </a:pP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&lt;button </a:t>
            </a:r>
            <a:r>
              <a:rPr lang="fr-BE" sz="2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onclick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=”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maFunction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()”&gt;</a:t>
            </a:r>
          </a:p>
          <a:p>
            <a:pPr marL="457189" lvl="1" indent="0">
              <a:buNone/>
            </a:pP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	…</a:t>
            </a:r>
          </a:p>
          <a:p>
            <a:pPr marL="457189" lvl="1" indent="0">
              <a:buNone/>
            </a:pP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&lt;/button&gt;</a:t>
            </a:r>
            <a:endParaRPr lang="fr-BE" sz="2800" dirty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  <a:sym typeface="Courier New"/>
            </a:endParaRPr>
          </a:p>
          <a:p>
            <a:r>
              <a:rPr lang="fr-BE" dirty="0">
                <a:sym typeface="Courier New"/>
              </a:rPr>
              <a:t>Exemple avec </a:t>
            </a:r>
            <a:r>
              <a:rPr lang="fr-BE" sz="320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this</a:t>
            </a:r>
            <a:endParaRPr lang="fr-BE" sz="3200" dirty="0">
              <a:solidFill>
                <a:srgbClr val="996633"/>
              </a:solidFill>
              <a:latin typeface="Consolas" panose="020B0609020204030204" pitchFamily="49" charset="0"/>
              <a:cs typeface="Courier New" panose="02070309020205020404" pitchFamily="49" charset="0"/>
              <a:sym typeface="Courier New"/>
            </a:endParaRPr>
          </a:p>
          <a:p>
            <a:pPr marL="457189" lvl="1" indent="0">
              <a:buNone/>
            </a:pP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&lt;button </a:t>
            </a:r>
            <a:r>
              <a:rPr lang="fr-BE" sz="2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onclick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="</a:t>
            </a:r>
            <a:r>
              <a:rPr lang="fr-BE" sz="2800" dirty="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alert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('Voici le contenu de l\'élément que vous avez cliqué :\n\n' + </a:t>
            </a:r>
            <a:r>
              <a:rPr lang="fr-BE" sz="2800" dirty="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this.innerHTML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);"&gt;</a:t>
            </a:r>
          </a:p>
          <a:p>
            <a:pPr marL="457189" lvl="1" indent="0">
              <a:buNone/>
            </a:pP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	Cliquez-moi !</a:t>
            </a:r>
          </a:p>
          <a:p>
            <a:pPr marL="457189" lvl="1" indent="0">
              <a:buNone/>
            </a:pP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&lt;/button&gt;</a:t>
            </a:r>
            <a:endParaRPr lang="fr-BE" sz="2800" dirty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  <a:sym typeface="Courier New"/>
            </a:endParaRPr>
          </a:p>
          <a:p>
            <a:endParaRPr lang="fr-BE" sz="3200" b="1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  <a:sym typeface="Courier New"/>
            </a:endParaRPr>
          </a:p>
          <a:p>
            <a:endParaRPr lang="fr-BE" sz="3200" b="1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  <a:sym typeface="Courier New"/>
            </a:endParaRPr>
          </a:p>
          <a:p>
            <a:pPr lvl="1"/>
            <a:endParaRPr lang="fr-BE" sz="40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7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>
                <a:sym typeface="Calibri"/>
              </a:rPr>
              <a:t>Evènement </a:t>
            </a:r>
            <a:r>
              <a:rPr lang="fr-BE">
                <a:sym typeface="Calibri"/>
              </a:rPr>
              <a:t>: exo 26</a:t>
            </a:r>
            <a:endParaRPr lang="fr-BE" dirty="0">
              <a:sym typeface="Calibri"/>
            </a:endParaRPr>
          </a:p>
        </p:txBody>
      </p:sp>
      <p:sp>
        <p:nvSpPr>
          <p:cNvPr id="237" name="Google Shape;237;p37"/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>
                <a:sym typeface="Calibri"/>
              </a:rPr>
              <a:t>Fichier </a:t>
            </a:r>
            <a:r>
              <a:rPr lang="fr-BE">
                <a:sym typeface="Calibri"/>
              </a:rPr>
              <a:t>: exo26_</a:t>
            </a:r>
            <a:r>
              <a:rPr lang="fr-BE" dirty="0">
                <a:sym typeface="Calibri"/>
              </a:rPr>
              <a:t>start.php</a:t>
            </a:r>
          </a:p>
          <a:p>
            <a:r>
              <a:rPr lang="fr-BE" dirty="0">
                <a:sym typeface="Calibri"/>
              </a:rPr>
              <a:t>Start : l'utilisateur peut appuyer sur "</a:t>
            </a:r>
            <a:r>
              <a:rPr lang="fr-BE" dirty="0" err="1">
                <a:sym typeface="Calibri"/>
              </a:rPr>
              <a:t>validate</a:t>
            </a:r>
            <a:r>
              <a:rPr lang="fr-BE" dirty="0">
                <a:sym typeface="Calibri"/>
              </a:rPr>
              <a:t>" même avec l'input non rempli.</a:t>
            </a:r>
          </a:p>
          <a:p>
            <a:r>
              <a:rPr lang="fr-BE" dirty="0">
                <a:sym typeface="Calibri"/>
              </a:rPr>
              <a:t>Solution : vérifier que l'utilisateur a bien renseigné une adresse mail dès qu'il clique sur le bouton "</a:t>
            </a:r>
            <a:r>
              <a:rPr lang="fr-BE" dirty="0" err="1">
                <a:sym typeface="Calibri"/>
              </a:rPr>
              <a:t>validate</a:t>
            </a:r>
            <a:r>
              <a:rPr lang="fr-BE" dirty="0">
                <a:sym typeface="Calibri"/>
              </a:rPr>
              <a:t>".</a:t>
            </a:r>
          </a:p>
          <a:p>
            <a:r>
              <a:rPr lang="fr-BE" dirty="0">
                <a:sym typeface="Calibri"/>
              </a:rPr>
              <a:t>Tuyau :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onblur</a:t>
            </a:r>
            <a:endParaRPr lang="fr-BE" dirty="0">
              <a:solidFill>
                <a:srgbClr val="996633"/>
              </a:solidFill>
              <a:latin typeface="Consolas" panose="020B0609020204030204" pitchFamily="49" charset="0"/>
              <a:cs typeface="Courier New" panose="02070309020205020404" pitchFamily="49" charset="0"/>
              <a:sym typeface="Calibri"/>
            </a:endParaRPr>
          </a:p>
          <a:p>
            <a:endParaRPr lang="fr-BE" dirty="0"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7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>
                <a:sym typeface="Calibri"/>
              </a:rPr>
              <a:t>Conflit entre évènements </a:t>
            </a:r>
            <a:r>
              <a:rPr lang="fr-BE">
                <a:sym typeface="Calibri"/>
              </a:rPr>
              <a:t>: exo 27</a:t>
            </a:r>
            <a:endParaRPr lang="fr-BE" dirty="0">
              <a:sym typeface="Calibri"/>
            </a:endParaRPr>
          </a:p>
        </p:txBody>
      </p:sp>
      <p:sp>
        <p:nvSpPr>
          <p:cNvPr id="237" name="Google Shape;237;p37"/>
          <p:cNvSpPr txBox="1"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fr-BE" dirty="0">
                <a:sym typeface="Calibri"/>
              </a:rPr>
              <a:t>Déterminez dans le code ci-dessous si l'utilisateur atterrira sur le site indiqué ou non. </a:t>
            </a:r>
          </a:p>
          <a:p>
            <a:r>
              <a:rPr lang="fr-BE" dirty="0">
                <a:sym typeface="Calibri"/>
              </a:rPr>
              <a:t>C-à-d : A votre avis, cliquer sur le lien revient-il </a:t>
            </a:r>
          </a:p>
          <a:p>
            <a:pPr lvl="1"/>
            <a:r>
              <a:rPr lang="fr-BE" dirty="0">
                <a:sym typeface="Calibri"/>
              </a:rPr>
              <a:t>À suivre le lien ?</a:t>
            </a:r>
          </a:p>
          <a:p>
            <a:pPr lvl="1"/>
            <a:r>
              <a:rPr lang="fr-BE" dirty="0">
                <a:sym typeface="Calibri"/>
              </a:rPr>
              <a:t>À exécuter le code JS ?</a:t>
            </a:r>
          </a:p>
          <a:p>
            <a:pPr lvl="1"/>
            <a:r>
              <a:rPr lang="fr-BE" dirty="0">
                <a:sym typeface="Calibri"/>
              </a:rPr>
              <a:t>À faire les deux ? Mais alors, dans quel ordre ?</a:t>
            </a:r>
          </a:p>
          <a:p>
            <a:r>
              <a:rPr lang="fr-BE" dirty="0">
                <a:sym typeface="Calibri"/>
              </a:rPr>
              <a:t>Déduisez-en le sens de </a:t>
            </a:r>
            <a:r>
              <a:rPr lang="fr-BE" sz="28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return</a:t>
            </a:r>
            <a:r>
              <a:rPr lang="fr-BE" dirty="0">
                <a:sym typeface="Calibri"/>
              </a:rPr>
              <a:t>. </a:t>
            </a:r>
          </a:p>
          <a:p>
            <a:pPr lvl="1"/>
            <a:endParaRPr lang="fr-BE" dirty="0">
              <a:sym typeface="Calibri"/>
            </a:endParaRPr>
          </a:p>
          <a:p>
            <a:pPr marL="457189" lvl="1" indent="0">
              <a:buNone/>
            </a:pP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&lt;a  </a:t>
            </a:r>
            <a:r>
              <a:rPr lang="fr-BE" sz="28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href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=</a:t>
            </a:r>
            <a:r>
              <a:rPr lang="fr-BE" sz="28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"http://www.burotix.be"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    </a:t>
            </a:r>
            <a:r>
              <a:rPr lang="fr-BE" sz="2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onclick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=</a:t>
            </a:r>
            <a:r>
              <a:rPr lang="fr-BE" sz="28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"</a:t>
            </a:r>
            <a:r>
              <a:rPr lang="fr-BE" sz="2800" dirty="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alert</a:t>
            </a:r>
            <a:r>
              <a:rPr lang="fr-BE" sz="28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('Clic !'); return false;"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&gt;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	Lien vers burotix.be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&lt;/a&gt;</a:t>
            </a:r>
          </a:p>
        </p:txBody>
      </p:sp>
    </p:spTree>
    <p:extLst>
      <p:ext uri="{BB962C8B-B14F-4D97-AF65-F5344CB8AC3E}">
        <p14:creationId xmlns:p14="http://schemas.microsoft.com/office/powerpoint/2010/main" val="420067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4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Évènement </a:t>
            </a:r>
            <a:r>
              <a:rPr lang="fr-BE" dirty="0">
                <a:sym typeface="Calibri"/>
              </a:rPr>
              <a:t>&amp; DOM-0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ACC6A3E2-1203-2B27-C511-4D0F37230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pic>
        <p:nvPicPr>
          <p:cNvPr id="5" name="Espace réservé pour une image  5">
            <a:extLst>
              <a:ext uri="{FF2B5EF4-FFF2-40B4-BE49-F238E27FC236}">
                <a16:creationId xmlns:a16="http://schemas.microsoft.com/office/drawing/2014/main" id="{07FA35DC-8914-4941-AC99-257E94F567A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4506" b="14506"/>
          <a:stretch/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570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2B372C82-7204-471C-A7CA-99A86A917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DOM-0 par l'exemple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FB9F88EB-2568-4FC3-85C3-FBF5234431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44595" y="1389020"/>
            <a:ext cx="10515600" cy="4351339"/>
          </a:xfrm>
        </p:spPr>
        <p:txBody>
          <a:bodyPr>
            <a:normAutofit/>
          </a:bodyPr>
          <a:lstStyle/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&lt;button </a:t>
            </a:r>
            <a:r>
              <a:rPr lang="fr-FR" altLang="fr-FR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id="</a:t>
            </a:r>
            <a:r>
              <a:rPr lang="fr-FR" altLang="fr-FR" sz="24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clickme</a:t>
            </a:r>
            <a:r>
              <a:rPr lang="fr-FR" altLang="fr-FR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"&gt;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Cliquez-moi !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&lt;/button&gt;</a:t>
            </a:r>
            <a:endParaRPr lang="fr-FR" altLang="fr-FR" sz="2400" dirty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…………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&lt;script&gt;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var </a:t>
            </a:r>
            <a:r>
              <a:rPr lang="fr-FR" altLang="fr-FR" sz="2400" dirty="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element</a:t>
            </a:r>
            <a:r>
              <a:rPr lang="fr-FR" altLang="fr-FR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fr-FR" altLang="fr-FR" sz="24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document.getElementById</a:t>
            </a:r>
            <a:r>
              <a:rPr lang="fr-FR" altLang="fr-FR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FR" altLang="fr-FR" sz="24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</a:t>
            </a:r>
            <a:r>
              <a:rPr lang="fr-FR" altLang="fr-FR" sz="24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clickme</a:t>
            </a:r>
            <a:r>
              <a:rPr lang="fr-FR" altLang="fr-FR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');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dirty="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element.</a:t>
            </a:r>
            <a:r>
              <a:rPr lang="fr-FR" altLang="fr-FR" sz="2400" dirty="0" err="1">
                <a:solidFill>
                  <a:schemeClr val="accent1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onclick</a:t>
            </a:r>
            <a:r>
              <a:rPr lang="fr-FR" altLang="fr-FR" sz="24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fr-FR" altLang="fr-FR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 </a:t>
            </a:r>
            <a:r>
              <a:rPr lang="fr-FR" altLang="fr-FR" sz="2400" dirty="0" err="1">
                <a:solidFill>
                  <a:schemeClr val="accent1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function</a:t>
            </a:r>
            <a:r>
              <a:rPr lang="fr-FR" altLang="fr-FR" sz="2400" dirty="0">
                <a:solidFill>
                  <a:schemeClr val="accent1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FR" altLang="fr-FR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{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fr-FR" altLang="fr-FR" sz="24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alert</a:t>
            </a:r>
            <a:r>
              <a:rPr lang="fr-FR" altLang="fr-FR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("Vous m'avez cliqué !");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};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&lt;/script&gt;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fr-FR" altLang="fr-FR" sz="4800" b="1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68339D0E-86E8-46C6-A0CC-44B383A913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863548" y="4841144"/>
            <a:ext cx="7298724" cy="2016856"/>
          </a:xfr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r>
              <a:rPr lang="fr-BE" sz="2800" dirty="0"/>
              <a:t>On récupère tout d'abord l'élément HTML dont l'ID est "</a:t>
            </a:r>
            <a:r>
              <a:rPr lang="fr-BE" sz="2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clickme</a:t>
            </a:r>
            <a:r>
              <a:rPr lang="fr-BE" sz="2800" dirty="0"/>
              <a:t>";</a:t>
            </a:r>
          </a:p>
          <a:p>
            <a:r>
              <a:rPr lang="fr-BE" sz="2800" dirty="0"/>
              <a:t>On accède ensuite à sa propriété </a:t>
            </a:r>
            <a:r>
              <a:rPr lang="fr-BE" sz="2800" dirty="0" err="1">
                <a:solidFill>
                  <a:schemeClr val="accent1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onclick</a:t>
            </a:r>
            <a:r>
              <a:rPr lang="fr-BE" sz="2800" dirty="0"/>
              <a:t> à laquelle on assigne une fonction anonyme ;</a:t>
            </a:r>
          </a:p>
        </p:txBody>
      </p:sp>
      <p:sp>
        <p:nvSpPr>
          <p:cNvPr id="11" name="Accolade ouvrante 10">
            <a:extLst>
              <a:ext uri="{FF2B5EF4-FFF2-40B4-BE49-F238E27FC236}">
                <a16:creationId xmlns:a16="http://schemas.microsoft.com/office/drawing/2014/main" id="{F9E96837-56A4-4114-879D-B19B793B4FD8}"/>
              </a:ext>
            </a:extLst>
          </p:cNvPr>
          <p:cNvSpPr/>
          <p:nvPr/>
        </p:nvSpPr>
        <p:spPr>
          <a:xfrm>
            <a:off x="1311465" y="1443683"/>
            <a:ext cx="233130" cy="114823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2" name="Accolade ouvrante 11">
            <a:extLst>
              <a:ext uri="{FF2B5EF4-FFF2-40B4-BE49-F238E27FC236}">
                <a16:creationId xmlns:a16="http://schemas.microsoft.com/office/drawing/2014/main" id="{0B37352E-26A7-491B-8ED1-B2A6AB71823F}"/>
              </a:ext>
            </a:extLst>
          </p:cNvPr>
          <p:cNvSpPr/>
          <p:nvPr/>
        </p:nvSpPr>
        <p:spPr>
          <a:xfrm>
            <a:off x="1311465" y="2950652"/>
            <a:ext cx="233130" cy="2258753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8CFD1E9-BDC8-4055-BC4B-2234D6DB36AF}"/>
              </a:ext>
            </a:extLst>
          </p:cNvPr>
          <p:cNvSpPr txBox="1"/>
          <p:nvPr/>
        </p:nvSpPr>
        <p:spPr>
          <a:xfrm>
            <a:off x="270795" y="1807858"/>
            <a:ext cx="10406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fr-BE" dirty="0"/>
              <a:t>HTML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E3379FC7-7D12-4E1F-BB72-6C2C620D42C1}"/>
              </a:ext>
            </a:extLst>
          </p:cNvPr>
          <p:cNvSpPr txBox="1"/>
          <p:nvPr/>
        </p:nvSpPr>
        <p:spPr>
          <a:xfrm>
            <a:off x="876731" y="3849195"/>
            <a:ext cx="4347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fr-BE" dirty="0"/>
              <a:t>JS</a:t>
            </a:r>
          </a:p>
        </p:txBody>
      </p: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21AC78BF-10D1-4296-A3DA-2D9B77B28386}"/>
              </a:ext>
            </a:extLst>
          </p:cNvPr>
          <p:cNvCxnSpPr/>
          <p:nvPr/>
        </p:nvCxnSpPr>
        <p:spPr>
          <a:xfrm flipV="1">
            <a:off x="3863548" y="2269523"/>
            <a:ext cx="2141836" cy="15034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ZoneTexte 16">
            <a:extLst>
              <a:ext uri="{FF2B5EF4-FFF2-40B4-BE49-F238E27FC236}">
                <a16:creationId xmlns:a16="http://schemas.microsoft.com/office/drawing/2014/main" id="{0ED7F28C-D696-4257-A637-0F7934446F0A}"/>
              </a:ext>
            </a:extLst>
          </p:cNvPr>
          <p:cNvSpPr txBox="1"/>
          <p:nvPr/>
        </p:nvSpPr>
        <p:spPr>
          <a:xfrm>
            <a:off x="6096000" y="1990565"/>
            <a:ext cx="14574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sz="2800" dirty="0">
                <a:solidFill>
                  <a:schemeClr val="accent1"/>
                </a:solidFill>
              </a:rPr>
              <a:t>propriété</a:t>
            </a:r>
          </a:p>
        </p:txBody>
      </p:sp>
    </p:spTree>
    <p:extLst>
      <p:ext uri="{BB962C8B-B14F-4D97-AF65-F5344CB8AC3E}">
        <p14:creationId xmlns:p14="http://schemas.microsoft.com/office/powerpoint/2010/main" val="935212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92DE0C-8CF3-4CFA-8195-56C13AA3F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DOM-0 par le principe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1083A6E1-2E9B-4F51-89C8-C4E88B537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 dirty="0"/>
              <a:t>On définit les événements non plus dans le code HTML mais directement en JavaScript. </a:t>
            </a:r>
          </a:p>
          <a:p>
            <a:r>
              <a:rPr lang="fr-BE" dirty="0"/>
              <a:t>Un évènement de chaque événement standard se traduit par une propriété dudit élément dont le nom est précédé par les deux lettres « on ». </a:t>
            </a:r>
          </a:p>
          <a:p>
            <a:r>
              <a:rPr lang="fr-BE" dirty="0"/>
              <a:t>Cette propriété prend pour valeur</a:t>
            </a:r>
          </a:p>
          <a:p>
            <a:pPr lvl="1"/>
            <a:r>
              <a:rPr lang="fr-BE" dirty="0"/>
              <a:t>soit le nom d'une fonction</a:t>
            </a:r>
          </a:p>
          <a:p>
            <a:pPr lvl="1"/>
            <a:r>
              <a:rPr lang="fr-BE" dirty="0"/>
              <a:t>soit une fonction anonyme avec un code fourni immédiatement</a:t>
            </a:r>
          </a:p>
        </p:txBody>
      </p:sp>
    </p:spTree>
    <p:extLst>
      <p:ext uri="{BB962C8B-B14F-4D97-AF65-F5344CB8AC3E}">
        <p14:creationId xmlns:p14="http://schemas.microsoft.com/office/powerpoint/2010/main" val="2410248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1BB6F1-EEF7-4EBE-8AB2-86CFB7001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DOM-0 : évaluation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B877D3-AB36-423E-A929-FEABAF44C82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BE" dirty="0">
                <a:solidFill>
                  <a:schemeClr val="accent2"/>
                </a:solidFill>
                <a:highlight>
                  <a:srgbClr val="00FF00"/>
                </a:highlight>
              </a:rPr>
              <a:t>+</a:t>
            </a:r>
          </a:p>
          <a:p>
            <a:r>
              <a:rPr lang="fr-BE" dirty="0">
                <a:solidFill>
                  <a:schemeClr val="accent2"/>
                </a:solidFill>
              </a:rPr>
              <a:t>Pratique et simple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747ABE8-10E6-40D9-A9A0-C7012D47F10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BE" dirty="0">
                <a:solidFill>
                  <a:schemeClr val="accent6">
                    <a:lumMod val="50000"/>
                  </a:schemeClr>
                </a:solidFill>
                <a:highlight>
                  <a:srgbClr val="FF0000"/>
                </a:highlight>
              </a:rPr>
              <a:t>-</a:t>
            </a:r>
          </a:p>
          <a:p>
            <a:r>
              <a:rPr lang="fr-BE" dirty="0">
                <a:solidFill>
                  <a:schemeClr val="accent6">
                    <a:lumMod val="50000"/>
                  </a:schemeClr>
                </a:solidFill>
              </a:rPr>
              <a:t>Vieux (sic)</a:t>
            </a:r>
          </a:p>
          <a:p>
            <a:r>
              <a:rPr lang="fr-BE" dirty="0">
                <a:solidFill>
                  <a:schemeClr val="accent6">
                    <a:lumMod val="50000"/>
                  </a:schemeClr>
                </a:solidFill>
              </a:rPr>
              <a:t>Impossible de créer plusieurs fois le même événement</a:t>
            </a:r>
          </a:p>
        </p:txBody>
      </p:sp>
    </p:spTree>
    <p:extLst>
      <p:ext uri="{BB962C8B-B14F-4D97-AF65-F5344CB8AC3E}">
        <p14:creationId xmlns:p14="http://schemas.microsoft.com/office/powerpoint/2010/main" val="848345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4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Evènement </a:t>
            </a:r>
            <a:r>
              <a:rPr lang="fr-BE" dirty="0">
                <a:sym typeface="Calibri"/>
              </a:rPr>
              <a:t>&amp; DOM-2</a:t>
            </a:r>
          </a:p>
        </p:txBody>
      </p:sp>
      <p:pic>
        <p:nvPicPr>
          <p:cNvPr id="5" name="Espace réservé pour une image  5">
            <a:extLst>
              <a:ext uri="{FF2B5EF4-FFF2-40B4-BE49-F238E27FC236}">
                <a16:creationId xmlns:a16="http://schemas.microsoft.com/office/drawing/2014/main" id="{A54AE313-8398-48CD-BB61-56731EC2C97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4480" b="14480"/>
          <a:stretch>
            <a:fillRect/>
          </a:stretch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332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2B372C82-7204-471C-A7CA-99A86A917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DOM-2 par l'exemple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FB9F88EB-2568-4FC3-85C3-FBF5234431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44595" y="1389020"/>
            <a:ext cx="10515600" cy="4351339"/>
          </a:xfrm>
        </p:spPr>
        <p:txBody>
          <a:bodyPr>
            <a:normAutofit/>
          </a:bodyPr>
          <a:lstStyle/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&lt;button </a:t>
            </a: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id="</a:t>
            </a:r>
            <a:r>
              <a:rPr lang="fr-FR" altLang="fr-FR" sz="2400" b="1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clickme</a:t>
            </a: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"&gt;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Cliquez-moi !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&lt;/button&gt;</a:t>
            </a:r>
            <a:endParaRPr lang="fr-FR" altLang="fr-FR" sz="2400" b="1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…………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&lt;script&gt;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var </a:t>
            </a:r>
            <a:r>
              <a:rPr lang="fr-FR" altLang="fr-FR" sz="2400" b="1" dirty="0" err="1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element</a:t>
            </a: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altLang="fr-FR" sz="2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document.getElementById</a:t>
            </a: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altLang="fr-FR" sz="24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fr-FR" altLang="fr-FR" sz="2400" b="1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clickme</a:t>
            </a: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');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b="1" dirty="0" err="1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element</a:t>
            </a:r>
            <a:r>
              <a:rPr lang="fr-FR" altLang="fr-FR" sz="2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FR" altLang="fr-FR" sz="2400" b="1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addEventListener</a:t>
            </a: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altLang="fr-FR" sz="2400" b="1" dirty="0">
                <a:solidFill>
                  <a:schemeClr val="accent6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"click"</a:t>
            </a: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altLang="fr-FR" sz="2400" b="1" dirty="0" err="1">
                <a:solidFill>
                  <a:schemeClr val="accent6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  <a:r>
              <a:rPr lang="fr-FR" altLang="fr-FR" sz="2400" b="1" dirty="0">
                <a:solidFill>
                  <a:schemeClr val="accent6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altLang="fr-FR" sz="2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alert</a:t>
            </a: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("Vous m'avez cliqué !");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});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&lt;/script&gt;</a:t>
            </a:r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68339D0E-86E8-46C6-A0CC-44B383A913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657599" y="4389120"/>
            <a:ext cx="8534401" cy="2468881"/>
          </a:xfr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r>
              <a:rPr lang="fr-BE" sz="2800" dirty="0"/>
              <a:t>On récupère l'élément HTML dont l'ID est "</a:t>
            </a:r>
            <a:r>
              <a:rPr lang="fr-BE" sz="2800" b="1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clickme</a:t>
            </a:r>
            <a:r>
              <a:rPr lang="fr-BE" sz="2800" dirty="0"/>
              <a:t>";</a:t>
            </a:r>
          </a:p>
          <a:p>
            <a:r>
              <a:rPr lang="fr-BE" sz="2800" dirty="0"/>
              <a:t>On utilise la méthode </a:t>
            </a:r>
            <a:r>
              <a:rPr lang="fr-BE" sz="2800" b="1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addEventListener</a:t>
            </a:r>
            <a:r>
              <a:rPr lang="fr-BE" sz="28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fr-BE" sz="2800" dirty="0"/>
              <a:t> avec comme paramètres</a:t>
            </a:r>
          </a:p>
          <a:p>
            <a:pPr lvl="1"/>
            <a:r>
              <a:rPr lang="fr-BE" sz="2400" dirty="0"/>
              <a:t>nom de l'événement (sans les lettres « on ») ;  p.ex.: </a:t>
            </a:r>
            <a:r>
              <a:rPr lang="fr-BE" sz="2400" dirty="0">
                <a:solidFill>
                  <a:schemeClr val="accent6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fr-BE" sz="2400" b="1" dirty="0">
                <a:solidFill>
                  <a:schemeClr val="accent6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click</a:t>
            </a:r>
            <a:r>
              <a:rPr lang="fr-BE" sz="2400" dirty="0">
                <a:solidFill>
                  <a:schemeClr val="accent6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lvl="1"/>
            <a:r>
              <a:rPr lang="fr-BE" sz="2400" dirty="0"/>
              <a:t>fonction à exécuter (nommée ou anonyme);</a:t>
            </a:r>
          </a:p>
        </p:txBody>
      </p:sp>
      <p:sp>
        <p:nvSpPr>
          <p:cNvPr id="11" name="Accolade ouvrante 10">
            <a:extLst>
              <a:ext uri="{FF2B5EF4-FFF2-40B4-BE49-F238E27FC236}">
                <a16:creationId xmlns:a16="http://schemas.microsoft.com/office/drawing/2014/main" id="{F9E96837-56A4-4114-879D-B19B793B4FD8}"/>
              </a:ext>
            </a:extLst>
          </p:cNvPr>
          <p:cNvSpPr/>
          <p:nvPr/>
        </p:nvSpPr>
        <p:spPr>
          <a:xfrm>
            <a:off x="1311465" y="1443683"/>
            <a:ext cx="233130" cy="114823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2" name="Accolade ouvrante 11">
            <a:extLst>
              <a:ext uri="{FF2B5EF4-FFF2-40B4-BE49-F238E27FC236}">
                <a16:creationId xmlns:a16="http://schemas.microsoft.com/office/drawing/2014/main" id="{0B37352E-26A7-491B-8ED1-B2A6AB71823F}"/>
              </a:ext>
            </a:extLst>
          </p:cNvPr>
          <p:cNvSpPr/>
          <p:nvPr/>
        </p:nvSpPr>
        <p:spPr>
          <a:xfrm>
            <a:off x="1311465" y="2950652"/>
            <a:ext cx="233130" cy="2258753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8CFD1E9-BDC8-4055-BC4B-2234D6DB36AF}"/>
              </a:ext>
            </a:extLst>
          </p:cNvPr>
          <p:cNvSpPr txBox="1"/>
          <p:nvPr/>
        </p:nvSpPr>
        <p:spPr>
          <a:xfrm>
            <a:off x="270795" y="1807858"/>
            <a:ext cx="10406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fr-BE" dirty="0"/>
              <a:t>HTML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E3379FC7-7D12-4E1F-BB72-6C2C620D42C1}"/>
              </a:ext>
            </a:extLst>
          </p:cNvPr>
          <p:cNvSpPr txBox="1"/>
          <p:nvPr/>
        </p:nvSpPr>
        <p:spPr>
          <a:xfrm>
            <a:off x="876731" y="3849195"/>
            <a:ext cx="4347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fr-BE" dirty="0"/>
              <a:t>JS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03C9EF08-337F-48C9-A0F8-6AF646C8B249}"/>
              </a:ext>
            </a:extLst>
          </p:cNvPr>
          <p:cNvCxnSpPr/>
          <p:nvPr/>
        </p:nvCxnSpPr>
        <p:spPr>
          <a:xfrm flipV="1">
            <a:off x="3863548" y="2269523"/>
            <a:ext cx="2141836" cy="15034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>
            <a:extLst>
              <a:ext uri="{FF2B5EF4-FFF2-40B4-BE49-F238E27FC236}">
                <a16:creationId xmlns:a16="http://schemas.microsoft.com/office/drawing/2014/main" id="{0BD6679A-71FD-4A27-9A8D-9488CF865702}"/>
              </a:ext>
            </a:extLst>
          </p:cNvPr>
          <p:cNvSpPr txBox="1"/>
          <p:nvPr/>
        </p:nvSpPr>
        <p:spPr>
          <a:xfrm>
            <a:off x="6096000" y="1980940"/>
            <a:ext cx="14093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sz="2800" dirty="0">
                <a:solidFill>
                  <a:schemeClr val="accent1"/>
                </a:solidFill>
              </a:rPr>
              <a:t>méthode</a:t>
            </a:r>
          </a:p>
        </p:txBody>
      </p:sp>
    </p:spTree>
    <p:extLst>
      <p:ext uri="{BB962C8B-B14F-4D97-AF65-F5344CB8AC3E}">
        <p14:creationId xmlns:p14="http://schemas.microsoft.com/office/powerpoint/2010/main" val="32348717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2B372C82-7204-471C-A7CA-99A86A917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DOM-2 par l'exemple, une alternative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FB9F88EB-2568-4FC3-85C3-FBF5234431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44595" y="1389020"/>
            <a:ext cx="10515600" cy="4351339"/>
          </a:xfrm>
        </p:spPr>
        <p:txBody>
          <a:bodyPr>
            <a:normAutofit/>
          </a:bodyPr>
          <a:lstStyle/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&lt;button </a:t>
            </a: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id="</a:t>
            </a:r>
            <a:r>
              <a:rPr lang="fr-FR" altLang="fr-FR" sz="2400" b="1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clickme</a:t>
            </a: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"&gt;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Cliquez-moi !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&lt;/button&gt;</a:t>
            </a:r>
            <a:endParaRPr lang="fr-FR" altLang="fr-FR" sz="2400" b="1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…………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&lt;script&gt;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var </a:t>
            </a:r>
            <a:r>
              <a:rPr lang="fr-FR" altLang="fr-FR" sz="2400" b="1" dirty="0" err="1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element</a:t>
            </a: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altLang="fr-FR" sz="2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document.getElementById</a:t>
            </a: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altLang="fr-FR" sz="24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fr-FR" altLang="fr-FR" sz="2400" b="1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clickme</a:t>
            </a: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');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var </a:t>
            </a:r>
            <a:r>
              <a:rPr lang="fr-FR" altLang="fr-FR" sz="2400" b="1" dirty="0" err="1">
                <a:solidFill>
                  <a:schemeClr val="accent6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monEvenement</a:t>
            </a: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altLang="fr-FR" sz="2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altLang="fr-FR" sz="2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alert</a:t>
            </a: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("Vous m'avez cliqué !");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b="1" dirty="0" err="1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element</a:t>
            </a:r>
            <a:r>
              <a:rPr lang="fr-FR" altLang="fr-FR" sz="2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FR" altLang="fr-FR" sz="2400" b="1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addEventListener</a:t>
            </a: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 </a:t>
            </a:r>
            <a:r>
              <a:rPr lang="fr-FR" altLang="fr-FR" sz="2400" b="1" dirty="0">
                <a:solidFill>
                  <a:schemeClr val="accent6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"click" </a:t>
            </a: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altLang="fr-FR" sz="2400" b="1" dirty="0" err="1">
                <a:solidFill>
                  <a:schemeClr val="accent6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monEvenement</a:t>
            </a:r>
            <a:r>
              <a:rPr lang="fr-FR" altLang="fr-FR" sz="2400" b="1" dirty="0">
                <a:solidFill>
                  <a:schemeClr val="accent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fr-FR" altLang="fr-FR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&lt;/script&gt;</a:t>
            </a:r>
          </a:p>
        </p:txBody>
      </p:sp>
      <p:sp>
        <p:nvSpPr>
          <p:cNvPr id="11" name="Accolade ouvrante 10">
            <a:extLst>
              <a:ext uri="{FF2B5EF4-FFF2-40B4-BE49-F238E27FC236}">
                <a16:creationId xmlns:a16="http://schemas.microsoft.com/office/drawing/2014/main" id="{F9E96837-56A4-4114-879D-B19B793B4FD8}"/>
              </a:ext>
            </a:extLst>
          </p:cNvPr>
          <p:cNvSpPr/>
          <p:nvPr/>
        </p:nvSpPr>
        <p:spPr>
          <a:xfrm>
            <a:off x="1311465" y="1443683"/>
            <a:ext cx="233130" cy="114823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2" name="Accolade ouvrante 11">
            <a:extLst>
              <a:ext uri="{FF2B5EF4-FFF2-40B4-BE49-F238E27FC236}">
                <a16:creationId xmlns:a16="http://schemas.microsoft.com/office/drawing/2014/main" id="{0B37352E-26A7-491B-8ED1-B2A6AB71823F}"/>
              </a:ext>
            </a:extLst>
          </p:cNvPr>
          <p:cNvSpPr/>
          <p:nvPr/>
        </p:nvSpPr>
        <p:spPr>
          <a:xfrm>
            <a:off x="1311465" y="2950652"/>
            <a:ext cx="233130" cy="2518328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88CFD1E9-BDC8-4055-BC4B-2234D6DB36AF}"/>
              </a:ext>
            </a:extLst>
          </p:cNvPr>
          <p:cNvSpPr txBox="1"/>
          <p:nvPr/>
        </p:nvSpPr>
        <p:spPr>
          <a:xfrm>
            <a:off x="270795" y="1807858"/>
            <a:ext cx="10406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fr-BE" dirty="0"/>
              <a:t>HTML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E3379FC7-7D12-4E1F-BB72-6C2C620D42C1}"/>
              </a:ext>
            </a:extLst>
          </p:cNvPr>
          <p:cNvSpPr txBox="1"/>
          <p:nvPr/>
        </p:nvSpPr>
        <p:spPr>
          <a:xfrm>
            <a:off x="876731" y="3915099"/>
            <a:ext cx="4347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fr-BE" dirty="0"/>
              <a:t>JS</a:t>
            </a:r>
          </a:p>
        </p:txBody>
      </p:sp>
    </p:spTree>
    <p:extLst>
      <p:ext uri="{BB962C8B-B14F-4D97-AF65-F5344CB8AC3E}">
        <p14:creationId xmlns:p14="http://schemas.microsoft.com/office/powerpoint/2010/main" val="1303092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1BB6F1-EEF7-4EBE-8AB2-86CFB7001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DOM-2 : évaluation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B877D3-AB36-423E-A929-FEABAF44C82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fr-BE" dirty="0">
                <a:solidFill>
                  <a:schemeClr val="accent2"/>
                </a:solidFill>
                <a:highlight>
                  <a:srgbClr val="00FF00"/>
                </a:highlight>
              </a:rPr>
              <a:t>+</a:t>
            </a:r>
          </a:p>
          <a:p>
            <a:r>
              <a:rPr lang="fr-BE" dirty="0">
                <a:solidFill>
                  <a:schemeClr val="accent2"/>
                </a:solidFill>
              </a:rPr>
              <a:t>Création multiple d'un même évènement</a:t>
            </a:r>
          </a:p>
          <a:p>
            <a:r>
              <a:rPr lang="fr-BE" dirty="0">
                <a:solidFill>
                  <a:schemeClr val="accent2"/>
                </a:solidFill>
              </a:rPr>
              <a:t>Gestion de l'objet </a:t>
            </a:r>
            <a:r>
              <a:rPr lang="fr-BE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event</a:t>
            </a:r>
            <a:r>
              <a:rPr lang="fr-BE" dirty="0">
                <a:solidFill>
                  <a:schemeClr val="accent2"/>
                </a:solidFill>
              </a:rPr>
              <a:t>.</a:t>
            </a:r>
          </a:p>
          <a:p>
            <a:r>
              <a:rPr lang="fr-BE" dirty="0">
                <a:solidFill>
                  <a:schemeClr val="accent2"/>
                </a:solidFill>
              </a:rPr>
              <a:t>A utiliser surtout lors de l'intégration de librairies multiples au sein de votre site web !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747ABE8-10E6-40D9-A9A0-C7012D47F10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fr-BE" dirty="0">
                <a:solidFill>
                  <a:schemeClr val="accent6">
                    <a:lumMod val="50000"/>
                  </a:schemeClr>
                </a:solidFill>
                <a:highlight>
                  <a:srgbClr val="FF0000"/>
                </a:highlight>
              </a:rPr>
              <a:t>-</a:t>
            </a:r>
          </a:p>
          <a:p>
            <a:r>
              <a:rPr lang="fr-BE" dirty="0">
                <a:solidFill>
                  <a:schemeClr val="accent6">
                    <a:lumMod val="50000"/>
                  </a:schemeClr>
                </a:solidFill>
              </a:rPr>
              <a:t>Lourdeur du code </a:t>
            </a:r>
          </a:p>
        </p:txBody>
      </p:sp>
    </p:spTree>
    <p:extLst>
      <p:ext uri="{BB962C8B-B14F-4D97-AF65-F5344CB8AC3E}">
        <p14:creationId xmlns:p14="http://schemas.microsoft.com/office/powerpoint/2010/main" val="19858856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E21E9B-7B6C-4153-8447-786EC425F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Évènements multiples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39A7ADDC-2477-4D02-9242-25AC72FD97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690687"/>
            <a:ext cx="8437606" cy="5167313"/>
          </a:xfrm>
        </p:spPr>
        <p:txBody>
          <a:bodyPr>
            <a:noAutofit/>
          </a:bodyPr>
          <a:lstStyle/>
          <a:p>
            <a:pPr marL="0" lvl="0" indent="0" defTabSz="914400" eaLnBrk="0" fontAlgn="base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fr-FR" altLang="fr-FR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&lt;button </a:t>
            </a:r>
            <a:r>
              <a:rPr lang="fr-FR" altLang="fr-FR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id="</a:t>
            </a:r>
            <a:r>
              <a:rPr lang="fr-FR" altLang="fr-FR" sz="20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clickme</a:t>
            </a:r>
            <a:r>
              <a:rPr lang="fr-FR" altLang="fr-FR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"&gt;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fr-FR" altLang="fr-FR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Cliquez-moi !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fr-FR" altLang="fr-FR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&lt;/button&gt;</a:t>
            </a:r>
            <a:endParaRPr lang="fr-FR" altLang="fr-FR" sz="2000" dirty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fr-FR" altLang="fr-FR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…………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fr-FR" altLang="fr-FR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&lt;script&gt;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fr-FR" altLang="fr-FR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var </a:t>
            </a:r>
            <a:r>
              <a:rPr lang="fr-FR" altLang="fr-FR" sz="2000" dirty="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element</a:t>
            </a:r>
            <a:r>
              <a:rPr lang="fr-FR" altLang="fr-FR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fr-FR" altLang="fr-FR" sz="20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document.getElementById</a:t>
            </a:r>
            <a:r>
              <a:rPr lang="fr-FR" altLang="fr-FR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FR" altLang="fr-FR" sz="20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</a:t>
            </a:r>
            <a:r>
              <a:rPr lang="fr-FR" altLang="fr-FR" sz="20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clickme</a:t>
            </a:r>
            <a:r>
              <a:rPr lang="fr-FR" altLang="fr-FR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Premier événement click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fr-FR" altLang="fr-FR" sz="2000" dirty="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element</a:t>
            </a:r>
            <a:r>
              <a:rPr lang="fr-FR" altLang="fr-FR" sz="20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fr-FR" altLang="fr-FR" sz="2000" dirty="0" err="1">
                <a:solidFill>
                  <a:schemeClr val="accent1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addEventListener</a:t>
            </a:r>
            <a:r>
              <a:rPr lang="fr-FR" altLang="fr-FR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FR" altLang="fr-FR" sz="2000" dirty="0">
                <a:solidFill>
                  <a:schemeClr val="accent4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'click</a:t>
            </a:r>
            <a:r>
              <a:rPr lang="fr-FR" altLang="fr-FR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', </a:t>
            </a:r>
            <a:r>
              <a:rPr lang="fr-FR" altLang="fr-FR" sz="2000" dirty="0" err="1">
                <a:solidFill>
                  <a:schemeClr val="accent4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function</a:t>
            </a:r>
            <a:r>
              <a:rPr lang="fr-FR" altLang="fr-FR" sz="2000" dirty="0">
                <a:solidFill>
                  <a:schemeClr val="accent4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FR" altLang="fr-FR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{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fr-FR" altLang="fr-FR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fr-FR" altLang="fr-FR" sz="20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alert</a:t>
            </a:r>
            <a:r>
              <a:rPr lang="fr-FR" altLang="fr-FR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("Vous m'avez cliqué ! Et de </a:t>
            </a:r>
            <a:r>
              <a:rPr lang="fr-FR" altLang="fr-FR" sz="2000" dirty="0">
                <a:latin typeface="Consolas" panose="020B0609020204030204" pitchFamily="49" charset="0"/>
                <a:cs typeface="Courier New" panose="02070309020205020404" pitchFamily="49" charset="0"/>
              </a:rPr>
              <a:t>un</a:t>
            </a:r>
            <a:r>
              <a:rPr lang="fr-FR" altLang="fr-FR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! ");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fr-FR" altLang="fr-FR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Deuxième événement click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fr-FR" altLang="fr-FR" sz="2000" dirty="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element</a:t>
            </a:r>
            <a:r>
              <a:rPr lang="fr-FR" altLang="fr-FR" sz="20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fr-FR" altLang="fr-FR" sz="2000" dirty="0" err="1">
                <a:solidFill>
                  <a:schemeClr val="accent1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addEventListener</a:t>
            </a:r>
            <a:r>
              <a:rPr lang="fr-FR" altLang="fr-FR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FR" altLang="fr-FR" sz="2000" dirty="0">
                <a:solidFill>
                  <a:schemeClr val="accent4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'click</a:t>
            </a:r>
            <a:r>
              <a:rPr lang="fr-FR" altLang="fr-FR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', </a:t>
            </a:r>
            <a:r>
              <a:rPr lang="fr-FR" altLang="fr-FR" sz="2000" dirty="0" err="1">
                <a:solidFill>
                  <a:schemeClr val="accent4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function</a:t>
            </a:r>
            <a:r>
              <a:rPr lang="fr-FR" altLang="fr-FR" sz="2000" dirty="0">
                <a:solidFill>
                  <a:schemeClr val="accent4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FR" altLang="fr-FR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{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fr-FR" altLang="fr-FR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fr-FR" altLang="fr-FR" sz="20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alert</a:t>
            </a:r>
            <a:r>
              <a:rPr lang="fr-FR" altLang="fr-FR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("Vous m'avez cliqué ! Et de </a:t>
            </a:r>
            <a:r>
              <a:rPr lang="fr-FR" altLang="fr-FR" sz="2000" dirty="0">
                <a:latin typeface="Consolas" panose="020B0609020204030204" pitchFamily="49" charset="0"/>
                <a:cs typeface="Courier New" panose="02070309020205020404" pitchFamily="49" charset="0"/>
              </a:rPr>
              <a:t>deux</a:t>
            </a:r>
            <a:r>
              <a:rPr lang="fr-FR" altLang="fr-FR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! ");</a:t>
            </a:r>
          </a:p>
          <a:p>
            <a:pPr marL="0" lvl="0" indent="0" defTabSz="914400" eaLnBrk="0" fontAlgn="base" hangingPunct="0">
              <a:lnSpc>
                <a:spcPct val="100000"/>
              </a:lnSpc>
              <a:spcBef>
                <a:spcPts val="0"/>
              </a:spcBef>
              <a:buNone/>
            </a:pPr>
            <a:r>
              <a:rPr lang="fr-FR" altLang="fr-FR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fr-BE" sz="2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&lt;/script&gt;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DD41AB1-A5FE-4F2E-A850-20E9CD1D0E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70231" y="1631093"/>
            <a:ext cx="3513221" cy="3932309"/>
          </a:xfrm>
        </p:spPr>
        <p:txBody>
          <a:bodyPr>
            <a:normAutofit lnSpcReduction="10000"/>
          </a:bodyPr>
          <a:lstStyle/>
          <a:p>
            <a:r>
              <a:rPr lang="fr-BE" dirty="0"/>
              <a:t>Ordre de déclenchement aléatoire, fonction du navigateur.</a:t>
            </a:r>
          </a:p>
          <a:p>
            <a:pPr lvl="1"/>
            <a:r>
              <a:rPr lang="fr-BE" dirty="0"/>
              <a:t>Peut-être dans l'ordre de création (mais pas sûr)</a:t>
            </a:r>
          </a:p>
        </p:txBody>
      </p:sp>
    </p:spTree>
    <p:extLst>
      <p:ext uri="{BB962C8B-B14F-4D97-AF65-F5344CB8AC3E}">
        <p14:creationId xmlns:p14="http://schemas.microsoft.com/office/powerpoint/2010/main" val="302699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1297F2-4C76-4764-A180-747998870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Suppression d'un évènement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95F127D-8D35-4387-B46A-AAEAA0B75A8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fr-FR" altLang="fr-FR" dirty="0"/>
              <a:t>Méthode </a:t>
            </a:r>
            <a:r>
              <a:rPr lang="fr-FR" altLang="fr-FR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removeEventListener</a:t>
            </a:r>
            <a:r>
              <a:rPr lang="fr-FR" altLang="fr-FR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fr-FR" altLang="fr-FR" sz="24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</a:t>
            </a:r>
            <a:r>
              <a:rPr lang="fr-FR" altLang="fr-FR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On crée l'événement</a:t>
            </a:r>
          </a:p>
          <a:p>
            <a:pPr marL="0" lvl="0" indent="0">
              <a:buNone/>
            </a:pPr>
            <a:r>
              <a:rPr lang="fr-FR" altLang="fr-FR" sz="24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element.addEventListener</a:t>
            </a:r>
            <a:r>
              <a:rPr lang="fr-FR" altLang="fr-FR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('click', </a:t>
            </a:r>
            <a:r>
              <a:rPr lang="fr-FR" altLang="fr-FR" sz="24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myFunction</a:t>
            </a:r>
            <a:r>
              <a:rPr lang="fr-FR" altLang="fr-FR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 </a:t>
            </a:r>
          </a:p>
          <a:p>
            <a:pPr marL="0" indent="0">
              <a:buNone/>
            </a:pPr>
            <a:r>
              <a:rPr lang="fr-FR" altLang="fr-FR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On supprime l'événement </a:t>
            </a:r>
          </a:p>
          <a:p>
            <a:pPr marL="0" indent="0">
              <a:buNone/>
            </a:pPr>
            <a:r>
              <a:rPr lang="fr-FR" altLang="fr-FR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en lui repassant les mêmes paramètres</a:t>
            </a:r>
          </a:p>
          <a:p>
            <a:pPr marL="0" lvl="0" indent="0">
              <a:buNone/>
            </a:pPr>
            <a:r>
              <a:rPr lang="fr-FR" altLang="fr-FR" sz="24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element.</a:t>
            </a:r>
            <a:r>
              <a:rPr lang="fr-FR" altLang="fr-FR" sz="24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removeEventListener</a:t>
            </a:r>
            <a:r>
              <a:rPr lang="fr-FR" altLang="fr-FR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('click', </a:t>
            </a:r>
            <a:r>
              <a:rPr lang="fr-FR" altLang="fr-FR" sz="24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myFunction</a:t>
            </a:r>
            <a:r>
              <a:rPr lang="fr-FR" altLang="fr-FR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 </a:t>
            </a:r>
          </a:p>
          <a:p>
            <a:r>
              <a:rPr lang="fr-FR" altLang="fr-FR"/>
              <a:t>cf exo28 </a:t>
            </a:r>
            <a:endParaRPr lang="fr-FR" altLang="fr-FR" dirty="0"/>
          </a:p>
        </p:txBody>
      </p:sp>
    </p:spTree>
    <p:extLst>
      <p:ext uri="{BB962C8B-B14F-4D97-AF65-F5344CB8AC3E}">
        <p14:creationId xmlns:p14="http://schemas.microsoft.com/office/powerpoint/2010/main" val="3797292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80F5EF-E0C2-418C-9419-9057FD9A2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 dirty="0"/>
              <a:t>Propagation d'un évènement :</a:t>
            </a:r>
            <a:br>
              <a:rPr lang="fr-BE" dirty="0"/>
            </a:br>
            <a:r>
              <a:rPr lang="fr-BE" i="1" dirty="0"/>
              <a:t>capture </a:t>
            </a:r>
            <a:r>
              <a:rPr lang="fr-BE" dirty="0"/>
              <a:t>or </a:t>
            </a:r>
            <a:r>
              <a:rPr lang="fr-BE" i="1" dirty="0" err="1"/>
              <a:t>bubbling</a:t>
            </a:r>
            <a:r>
              <a:rPr lang="fr-BE" i="1" dirty="0"/>
              <a:t> </a:t>
            </a:r>
            <a:r>
              <a:rPr lang="fr-BE" dirty="0"/>
              <a:t>?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E5B2D1-7068-4546-967E-5F7B362C3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&lt;div&gt;</a:t>
            </a:r>
          </a:p>
          <a:p>
            <a:pPr marL="0" indent="0">
              <a:buNone/>
            </a:pPr>
            <a:r>
              <a:rPr lang="de-D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&lt;button&gt; </a:t>
            </a:r>
            <a:r>
              <a:rPr lang="de-D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Du texte </a:t>
            </a:r>
            <a:r>
              <a:rPr lang="de-D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! &lt;/button&gt;</a:t>
            </a:r>
            <a:endParaRPr lang="de-DE" dirty="0">
              <a:solidFill>
                <a:srgbClr val="996633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&lt;/div&gt;</a:t>
            </a:r>
          </a:p>
          <a:p>
            <a:r>
              <a:rPr lang="fr-BE" dirty="0"/>
              <a:t>Si on attribue </a:t>
            </a:r>
          </a:p>
          <a:p>
            <a:pPr lvl="1"/>
            <a:r>
              <a:rPr lang="fr-BE" dirty="0"/>
              <a:t>un événement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click</a:t>
            </a:r>
            <a:r>
              <a:rPr lang="fr-BE" dirty="0"/>
              <a:t> à </a:t>
            </a:r>
            <a:r>
              <a:rPr lang="de-D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de-D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div&gt;</a:t>
            </a:r>
            <a:r>
              <a:rPr lang="de-DE"/>
              <a:t>, </a:t>
            </a:r>
            <a:r>
              <a:rPr lang="de-DE" dirty="0"/>
              <a:t>et</a:t>
            </a:r>
          </a:p>
          <a:p>
            <a:pPr lvl="1"/>
            <a:r>
              <a:rPr lang="fr-BE" dirty="0"/>
              <a:t>un événement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click</a:t>
            </a:r>
            <a:r>
              <a:rPr lang="fr-BE" dirty="0"/>
              <a:t> </a:t>
            </a:r>
            <a:r>
              <a:rPr lang="fr-BE"/>
              <a:t>à</a:t>
            </a:r>
            <a:r>
              <a:rPr lang="de-DE"/>
              <a:t> </a:t>
            </a:r>
            <a:r>
              <a:rPr lang="de-D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&lt;button&gt;</a:t>
            </a:r>
            <a:r>
              <a:rPr lang="de-DE"/>
              <a:t>,</a:t>
            </a:r>
            <a:r>
              <a:rPr lang="fr-BE"/>
              <a:t> </a:t>
            </a:r>
            <a:endParaRPr lang="fr-BE" dirty="0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r>
              <a:rPr lang="fr-BE"/>
              <a:t>Si on </a:t>
            </a:r>
            <a:r>
              <a:rPr lang="fr-BE" dirty="0"/>
              <a:t>clique sur "</a:t>
            </a:r>
            <a:r>
              <a:rPr lang="de-D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Du </a:t>
            </a:r>
            <a:r>
              <a:rPr lang="de-D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texte !</a:t>
            </a:r>
            <a:r>
              <a:rPr lang="de-DE"/>
              <a:t>" …</a:t>
            </a:r>
          </a:p>
          <a:p>
            <a:r>
              <a:rPr lang="de-DE"/>
              <a:t>Q</a:t>
            </a:r>
            <a:r>
              <a:rPr lang="fr-BE"/>
              <a:t>uel </a:t>
            </a:r>
            <a:r>
              <a:rPr lang="fr-BE" dirty="0"/>
              <a:t>événement se déclenchera-t-il en premier ?</a:t>
            </a:r>
          </a:p>
        </p:txBody>
      </p:sp>
    </p:spTree>
    <p:extLst>
      <p:ext uri="{BB962C8B-B14F-4D97-AF65-F5344CB8AC3E}">
        <p14:creationId xmlns:p14="http://schemas.microsoft.com/office/powerpoint/2010/main" val="84624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80F5EF-E0C2-418C-9419-9057FD9A2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 dirty="0"/>
              <a:t>Propagation d'un évènement :</a:t>
            </a:r>
            <a:br>
              <a:rPr lang="fr-BE" dirty="0"/>
            </a:br>
            <a:r>
              <a:rPr lang="fr-BE" i="1" dirty="0"/>
              <a:t>capture </a:t>
            </a:r>
            <a:r>
              <a:rPr lang="fr-BE" dirty="0"/>
              <a:t>or </a:t>
            </a:r>
            <a:r>
              <a:rPr lang="fr-BE" i="1" dirty="0" err="1"/>
              <a:t>bubbling</a:t>
            </a:r>
            <a:r>
              <a:rPr lang="fr-BE" i="1" dirty="0"/>
              <a:t> </a:t>
            </a:r>
            <a:r>
              <a:rPr lang="fr-BE" dirty="0"/>
              <a:t>? Réponse.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E5B2D1-7068-4546-967E-5F7B362C3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&lt;div&gt;</a:t>
            </a:r>
          </a:p>
          <a:p>
            <a:pPr marL="0" indent="0">
              <a:buNone/>
            </a:pPr>
            <a:r>
              <a:rPr lang="de-D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&lt;button&gt;</a:t>
            </a:r>
            <a:r>
              <a:rPr lang="de-D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Du </a:t>
            </a:r>
            <a:r>
              <a:rPr lang="de-D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texte !&lt;/button&gt;</a:t>
            </a:r>
            <a:endParaRPr lang="de-DE" dirty="0">
              <a:solidFill>
                <a:srgbClr val="996633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&lt;/div&gt;</a:t>
            </a:r>
          </a:p>
          <a:p>
            <a:r>
              <a:rPr lang="fr-BE" dirty="0"/>
              <a:t>Mode </a:t>
            </a:r>
            <a:r>
              <a:rPr lang="fr-BE" dirty="0">
                <a:solidFill>
                  <a:schemeClr val="accent2"/>
                </a:solidFill>
              </a:rPr>
              <a:t>capture</a:t>
            </a:r>
            <a:r>
              <a:rPr lang="fr-BE" dirty="0"/>
              <a:t> : </a:t>
            </a:r>
          </a:p>
          <a:p>
            <a:pPr lvl="1"/>
            <a:r>
              <a:rPr lang="fr-BE" dirty="0"/>
              <a:t>d'abord l'événement du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&lt;div&gt;</a:t>
            </a:r>
            <a:r>
              <a:rPr lang="fr-BE" dirty="0"/>
              <a:t> est activé</a:t>
            </a:r>
            <a:endParaRPr lang="fr-BE" b="1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 dirty="0"/>
              <a:t>ensuite celui </a:t>
            </a:r>
            <a:r>
              <a:rPr lang="fr-BE"/>
              <a:t>du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de-D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button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endParaRPr lang="fr-BE" dirty="0">
              <a:solidFill>
                <a:srgbClr val="996633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 dirty="0"/>
              <a:t>Mode </a:t>
            </a:r>
            <a:r>
              <a:rPr lang="fr-BE" dirty="0" err="1">
                <a:solidFill>
                  <a:schemeClr val="accent2"/>
                </a:solidFill>
              </a:rPr>
              <a:t>bubbling</a:t>
            </a:r>
            <a:r>
              <a:rPr lang="fr-BE" dirty="0"/>
              <a:t> : </a:t>
            </a:r>
          </a:p>
          <a:p>
            <a:pPr lvl="1"/>
            <a:r>
              <a:rPr lang="fr-BE" dirty="0"/>
              <a:t>d'abord l'événement </a:t>
            </a:r>
            <a:r>
              <a:rPr lang="fr-BE"/>
              <a:t>du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de-D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button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fr-BE"/>
              <a:t> </a:t>
            </a:r>
            <a:r>
              <a:rPr lang="fr-BE" dirty="0"/>
              <a:t>est activé</a:t>
            </a:r>
            <a:endParaRPr lang="fr-BE" b="1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 dirty="0"/>
              <a:t>ensuite celui du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&lt;div&gt;</a:t>
            </a:r>
          </a:p>
          <a:p>
            <a:r>
              <a:rPr lang="fr-BE" dirty="0"/>
              <a:t>Par </a:t>
            </a:r>
            <a:r>
              <a:rPr lang="fr-BE" dirty="0" err="1"/>
              <a:t>défault</a:t>
            </a:r>
            <a:r>
              <a:rPr lang="fr-BE" dirty="0"/>
              <a:t> : </a:t>
            </a:r>
            <a:r>
              <a:rPr lang="fr-BE" dirty="0" err="1">
                <a:solidFill>
                  <a:schemeClr val="accent2"/>
                </a:solidFill>
              </a:rPr>
              <a:t>bubbling</a:t>
            </a:r>
            <a:endParaRPr lang="fr-BE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2223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80F5EF-E0C2-418C-9419-9057FD9A2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Propagation d'un évènement </a:t>
            </a:r>
            <a:r>
              <a:rPr lang="fr-BE"/>
              <a:t>: exo30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E5B2D1-7068-4546-967E-5F7B362C3B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58815" y="1347537"/>
            <a:ext cx="11833185" cy="5510463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&lt;div id="capt1"&gt;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&lt;</a:t>
            </a:r>
            <a:r>
              <a:rPr lang="fr-BE" sz="1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span</a:t>
            </a: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id="capt2"&gt;capture&lt;/</a:t>
            </a:r>
            <a:r>
              <a:rPr lang="fr-BE" sz="1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span</a:t>
            </a: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&lt;/div&gt;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&lt;div id="boul1"&gt;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&lt;</a:t>
            </a:r>
            <a:r>
              <a:rPr lang="fr-BE" sz="1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span</a:t>
            </a: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id="boul2"&gt;bouillonnement&lt;/</a:t>
            </a:r>
            <a:r>
              <a:rPr lang="fr-BE" sz="1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span</a:t>
            </a: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&lt;/div&gt;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fr-BE" sz="1600" dirty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&lt;script&gt;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fr-BE" sz="1600" dirty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var capt1 = </a:t>
            </a:r>
            <a:r>
              <a:rPr lang="fr-BE" sz="1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document.getElementById</a:t>
            </a: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('capt1'),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capt2 = </a:t>
            </a:r>
            <a:r>
              <a:rPr lang="fr-BE" sz="1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document.getElementById</a:t>
            </a: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('capt2'),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boul1 = </a:t>
            </a:r>
            <a:r>
              <a:rPr lang="fr-BE" sz="1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document.getElementById</a:t>
            </a: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('boul1'),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boul2 = </a:t>
            </a:r>
            <a:r>
              <a:rPr lang="fr-BE" sz="1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document.getElementById</a:t>
            </a: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('boul2');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capt1.addEventListener(</a:t>
            </a:r>
            <a:r>
              <a:rPr lang="fr-BE" sz="16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'click</a:t>
            </a: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', </a:t>
            </a:r>
            <a:r>
              <a:rPr lang="fr-BE" sz="1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function</a:t>
            </a: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fr-BE" sz="1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alert</a:t>
            </a: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("événement div déclenché.");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}, </a:t>
            </a:r>
            <a:r>
              <a:rPr lang="fr-BE" sz="16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true</a:t>
            </a: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capt2.addEventListener(</a:t>
            </a:r>
            <a:r>
              <a:rPr lang="fr-BE" sz="16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'click</a:t>
            </a: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', </a:t>
            </a:r>
            <a:r>
              <a:rPr lang="fr-BE" sz="1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function</a:t>
            </a: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fr-BE" sz="1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alert</a:t>
            </a: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("événement </a:t>
            </a:r>
            <a:r>
              <a:rPr lang="fr-BE" sz="1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span</a:t>
            </a: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déclenché.");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}, </a:t>
            </a:r>
            <a:r>
              <a:rPr lang="fr-BE" sz="16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true</a:t>
            </a: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boul1.addEventListener(</a:t>
            </a:r>
            <a:r>
              <a:rPr lang="fr-BE" sz="16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'click</a:t>
            </a: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', </a:t>
            </a:r>
            <a:r>
              <a:rPr lang="fr-BE" sz="1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function</a:t>
            </a: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fr-BE" sz="1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alert</a:t>
            </a: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("événement div déclenché.");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}, </a:t>
            </a:r>
            <a:r>
              <a:rPr lang="fr-BE" sz="16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false</a:t>
            </a: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boul2.addEventListener(</a:t>
            </a:r>
            <a:r>
              <a:rPr lang="fr-BE" sz="1600" dirty="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'click</a:t>
            </a: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', </a:t>
            </a:r>
            <a:r>
              <a:rPr lang="fr-BE" sz="1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function</a:t>
            </a: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 {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fr-BE" sz="1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alert</a:t>
            </a: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("événement </a:t>
            </a:r>
            <a:r>
              <a:rPr lang="fr-BE" sz="1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span</a:t>
            </a: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déclenché.");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}, </a:t>
            </a:r>
            <a:r>
              <a:rPr lang="fr-BE" sz="16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false</a:t>
            </a: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fr-BE" sz="1600" dirty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fr-BE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&lt;/script&gt;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fr-BE" sz="1600" dirty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F445EC-7013-400F-9050-22B414A5C9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0881" y="4864444"/>
            <a:ext cx="6011119" cy="1993556"/>
          </a:xfr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r>
              <a:rPr lang="fr-BE" sz="2400" dirty="0"/>
              <a:t>La méthode </a:t>
            </a:r>
            <a:r>
              <a:rPr lang="fr-BE" sz="240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addEventListener</a:t>
            </a:r>
            <a:r>
              <a:rPr lang="fr-BE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BE" sz="2400" dirty="0"/>
              <a:t>comporte un troisième paramètre, de type </a:t>
            </a:r>
            <a:r>
              <a:rPr lang="fr-BE" sz="2400" dirty="0" err="1"/>
              <a:t>boolean</a:t>
            </a:r>
            <a:r>
              <a:rPr lang="fr-BE" sz="2400" dirty="0"/>
              <a:t> :</a:t>
            </a:r>
          </a:p>
          <a:p>
            <a:pPr lvl="1"/>
            <a:r>
              <a:rPr lang="fr-BE" sz="240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True</a:t>
            </a:r>
            <a:r>
              <a:rPr lang="fr-BE" sz="2400" dirty="0"/>
              <a:t> si mode capture </a:t>
            </a:r>
          </a:p>
          <a:p>
            <a:pPr lvl="1"/>
            <a:r>
              <a:rPr lang="fr-BE" sz="24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False</a:t>
            </a:r>
            <a:r>
              <a:rPr lang="fr-BE" sz="2400" dirty="0"/>
              <a:t> si mode </a:t>
            </a:r>
            <a:r>
              <a:rPr lang="fr-BE" sz="2400" dirty="0" err="1"/>
              <a:t>bubbling</a:t>
            </a:r>
            <a:r>
              <a:rPr lang="fr-BE" sz="2400" dirty="0"/>
              <a:t> (par défaut)</a:t>
            </a:r>
          </a:p>
          <a:p>
            <a:pPr lvl="1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498229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599FF30B-CB4A-4646-AFF7-6E6801DEE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Objet </a:t>
            </a:r>
            <a:r>
              <a:rPr lang="fr-BE" dirty="0"/>
              <a:t>"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Event</a:t>
            </a:r>
            <a:r>
              <a:rPr lang="fr-BE" dirty="0"/>
              <a:t>"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68C4FFE5-5648-A4A4-FE5C-EF3D94B6E5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pic>
        <p:nvPicPr>
          <p:cNvPr id="7" name="Espace réservé pour une image  5">
            <a:extLst>
              <a:ext uri="{FF2B5EF4-FFF2-40B4-BE49-F238E27FC236}">
                <a16:creationId xmlns:a16="http://schemas.microsoft.com/office/drawing/2014/main" id="{AFFD6C5B-66FB-4ECB-9940-CCF46258686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4506" b="14506"/>
          <a:stretch/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1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06675F-6B60-44FD-806B-32B75E633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L'objet "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Event</a:t>
            </a:r>
            <a:r>
              <a:rPr lang="fr-BE" dirty="0"/>
              <a:t>"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D41D04AB-26A4-43EA-9D95-3D1931097D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Utilité : Fournir les informations sur l'événement déclenché, par ex. :</a:t>
            </a:r>
          </a:p>
          <a:p>
            <a:pPr lvl="1"/>
            <a:r>
              <a:rPr lang="fr-BE" dirty="0"/>
              <a:t>touches enfoncées</a:t>
            </a:r>
          </a:p>
          <a:p>
            <a:pPr lvl="1"/>
            <a:r>
              <a:rPr lang="fr-BE" dirty="0"/>
              <a:t>coordonnées du curseur</a:t>
            </a:r>
          </a:p>
          <a:p>
            <a:pPr lvl="1"/>
            <a:r>
              <a:rPr lang="fr-BE" dirty="0"/>
              <a:t>élément qui a déclenché l'événement, …</a:t>
            </a:r>
          </a:p>
          <a:p>
            <a:r>
              <a:rPr lang="fr-BE" dirty="0"/>
              <a:t>Accessible seulement </a:t>
            </a:r>
          </a:p>
          <a:p>
            <a:pPr lvl="1"/>
            <a:r>
              <a:rPr lang="fr-BE" dirty="0"/>
              <a:t>lorsqu'un événement est déclenché</a:t>
            </a:r>
          </a:p>
          <a:p>
            <a:pPr lvl="1"/>
            <a:r>
              <a:rPr lang="fr-BE" dirty="0"/>
              <a:t>via une fonction exécutée par l'événement concerné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865271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1EC081-9F17-4DD4-8AA9-AB1D64C77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L'objet "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Event</a:t>
            </a:r>
            <a:r>
              <a:rPr lang="fr-BE" dirty="0"/>
              <a:t>"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46479C-9F7B-4660-B72E-D8A055AE0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 dirty="0"/>
              <a:t>Exemple: </a:t>
            </a:r>
          </a:p>
          <a:p>
            <a:pPr marL="457189" lvl="1" indent="0">
              <a:buNone/>
            </a:pPr>
            <a:r>
              <a:rPr lang="fr-BE" sz="24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element.addEventListener</a:t>
            </a:r>
            <a: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('click', </a:t>
            </a:r>
            <a:r>
              <a:rPr lang="fr-BE" sz="24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function</a:t>
            </a:r>
            <a: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BE" sz="2400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</a:t>
            </a:r>
            <a: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{</a:t>
            </a:r>
          </a:p>
          <a:p>
            <a:pPr marL="457189" lvl="1" indent="0">
              <a:buNone/>
            </a:pPr>
            <a:r>
              <a:rPr lang="fr-BE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// Affiche le type de l'événement (click, etc.)</a:t>
            </a:r>
          </a:p>
          <a:p>
            <a:pPr marL="457189" lvl="1" indent="0">
              <a:buNone/>
            </a:pPr>
            <a: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fr-BE" sz="24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alert</a:t>
            </a:r>
            <a: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BE" sz="24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</a:t>
            </a:r>
            <a:r>
              <a:rPr lang="fr-BE" sz="24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.type</a:t>
            </a:r>
            <a: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457189" lvl="1" indent="0">
              <a:buNone/>
            </a:pPr>
            <a: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});</a:t>
            </a:r>
          </a:p>
          <a:p>
            <a:r>
              <a:rPr lang="fr-BE" dirty="0"/>
              <a:t>Argument « </a:t>
            </a:r>
            <a:r>
              <a:rPr lang="fr-BE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</a:t>
            </a:r>
            <a:r>
              <a:rPr lang="fr-BE" dirty="0"/>
              <a:t> » : référence vers l'objet «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Event</a:t>
            </a:r>
            <a:r>
              <a:rPr lang="fr-BE" dirty="0"/>
              <a:t> ».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897510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1EC081-9F17-4DD4-8AA9-AB1D64C77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L'objet "</a:t>
            </a:r>
            <a:r>
              <a:rPr lang="fr-BE" b="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Event</a:t>
            </a:r>
            <a:r>
              <a:rPr lang="fr-BE" dirty="0"/>
              <a:t>" : propriétés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46479C-9F7B-4660-B72E-D8A055AE0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type</a:t>
            </a:r>
            <a:r>
              <a:rPr lang="fr-BE" dirty="0"/>
              <a:t> </a:t>
            </a:r>
          </a:p>
          <a:p>
            <a:pPr lvl="1"/>
            <a:r>
              <a:rPr lang="fr-BE" dirty="0"/>
              <a:t>type de l'événement (click, </a:t>
            </a:r>
            <a:r>
              <a:rPr lang="fr-BE" dirty="0" err="1"/>
              <a:t>mouseover</a:t>
            </a:r>
            <a:r>
              <a:rPr lang="fr-BE" dirty="0"/>
              <a:t>, etc.)</a:t>
            </a:r>
          </a:p>
          <a:p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target</a:t>
            </a:r>
            <a:endParaRPr lang="fr-BE" dirty="0">
              <a:solidFill>
                <a:srgbClr val="996633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 dirty="0"/>
              <a:t>élément déclencheur de l'événement</a:t>
            </a:r>
            <a:endParaRPr lang="fr-BE" b="1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clientX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clientY</a:t>
            </a:r>
            <a:endParaRPr lang="fr-BE" dirty="0">
              <a:solidFill>
                <a:srgbClr val="996633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 dirty="0"/>
              <a:t>position du curseur</a:t>
            </a:r>
          </a:p>
          <a:p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keyup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keydown</a:t>
            </a:r>
            <a:endParaRPr lang="fr-BE" dirty="0">
              <a:solidFill>
                <a:srgbClr val="996633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 dirty="0"/>
              <a:t>touche quelconque frappée</a:t>
            </a:r>
          </a:p>
          <a:p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keypress</a:t>
            </a:r>
            <a:endParaRPr lang="fr-BE" dirty="0">
              <a:solidFill>
                <a:srgbClr val="996633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 dirty="0"/>
              <a:t>touche textuelle frappée</a:t>
            </a:r>
          </a:p>
          <a:p>
            <a:pPr lvl="1"/>
            <a:endParaRPr lang="fr-BE" dirty="0"/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67283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D88B6E-9801-40EB-9EC8-DD55E21BC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Évènement souris </a:t>
            </a:r>
            <a:r>
              <a:rPr lang="fr-BE"/>
              <a:t>: exo 31</a:t>
            </a:r>
            <a:endParaRPr lang="fr-BE" dirty="0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57A04BFB-6191-4E83-842D-8D0A496523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971369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img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id="</a:t>
            </a:r>
            <a:r>
              <a:rPr lang="en-US" dirty="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target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 </a:t>
            </a:r>
            <a:br>
              <a:rPr lang="en-US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src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="logo103x90-V6-beige_bg.png"&gt;</a:t>
            </a:r>
            <a:br>
              <a:rPr lang="en-US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…</a:t>
            </a:r>
            <a:b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target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.addEventListener( "</a:t>
            </a:r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click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", function() {</a:t>
            </a:r>
          </a:p>
          <a:p>
            <a:pPr marL="0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en-US" i="1">
                <a:solidFill>
                  <a:srgbClr val="7F7F7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Ce code-ci ne sera exécuté qu'au "click" !</a:t>
            </a:r>
          </a:p>
          <a:p>
            <a:pPr marL="0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>mip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{</a:t>
            </a:r>
          </a:p>
          <a:p>
            <a:pPr marL="0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top : Math.floor(Math.random()*hauteur),</a:t>
            </a:r>
          </a:p>
          <a:p>
            <a:pPr marL="0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left : Math.floor(Math.random()*largeur)</a:t>
            </a:r>
          </a:p>
          <a:p>
            <a:pPr marL="0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};</a:t>
            </a:r>
          </a:p>
          <a:p>
            <a:pPr marL="0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target.setAttribute( "style", mip_style(</a:t>
            </a: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>mip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)</a:t>
            </a:r>
          </a:p>
          <a:p>
            <a:pPr marL="0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en-US" i="1">
                <a:solidFill>
                  <a:srgbClr val="7F7F7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fin du code évènementiel</a:t>
            </a:r>
          </a:p>
          <a:p>
            <a:pPr marL="0" indent="0">
              <a:buNone/>
            </a:pPr>
            <a:endParaRPr lang="en-US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});</a:t>
            </a:r>
            <a:endParaRPr lang="fr-BE" dirty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F694987-6420-43AF-985C-D6DFB75FC66A}"/>
              </a:ext>
            </a:extLst>
          </p:cNvPr>
          <p:cNvSpPr txBox="1"/>
          <p:nvPr/>
        </p:nvSpPr>
        <p:spPr>
          <a:xfrm>
            <a:off x="8931300" y="493189"/>
            <a:ext cx="279978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800" dirty="0">
                <a:solidFill>
                  <a:schemeClr val="bg2">
                    <a:lumMod val="25000"/>
                  </a:schemeClr>
                </a:solidFill>
              </a:rPr>
              <a:t>Question : </a:t>
            </a:r>
            <a:br>
              <a:rPr lang="fr-BE" sz="2800" dirty="0">
                <a:solidFill>
                  <a:schemeClr val="bg2">
                    <a:lumMod val="25000"/>
                  </a:schemeClr>
                </a:solidFill>
              </a:rPr>
            </a:br>
            <a:r>
              <a:rPr lang="fr-BE" sz="2800" dirty="0">
                <a:solidFill>
                  <a:schemeClr val="bg2">
                    <a:lumMod val="25000"/>
                  </a:schemeClr>
                </a:solidFill>
              </a:rPr>
              <a:t>Que fait ce </a:t>
            </a:r>
            <a:r>
              <a:rPr lang="fr-BE" sz="2800">
                <a:solidFill>
                  <a:schemeClr val="bg2">
                    <a:lumMod val="25000"/>
                  </a:schemeClr>
                </a:solidFill>
              </a:rPr>
              <a:t>code JavaScript </a:t>
            </a:r>
            <a:r>
              <a:rPr lang="fr-BE" sz="2800" dirty="0">
                <a:solidFill>
                  <a:schemeClr val="bg2">
                    <a:lumMod val="25000"/>
                  </a:schemeClr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8069344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D88B6E-9801-40EB-9EC8-DD55E21BC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Évènement clavier </a:t>
            </a:r>
            <a:r>
              <a:rPr lang="fr-BE"/>
              <a:t>: exo 33</a:t>
            </a:r>
            <a:endParaRPr lang="fr-BE" dirty="0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57A04BFB-6191-4E83-842D-8D0A496523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1852"/>
            <a:ext cx="11353800" cy="462102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&lt;div id=</a:t>
            </a:r>
            <a:r>
              <a:rPr lang="fr-BE" sz="2800" dirty="0">
                <a:solidFill>
                  <a:srgbClr val="8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</a:t>
            </a:r>
            <a:r>
              <a:rPr lang="fr-BE" sz="2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lumiere</a:t>
            </a:r>
            <a:r>
              <a:rPr lang="fr-BE" sz="2800" dirty="0">
                <a:solidFill>
                  <a:srgbClr val="8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</a:t>
            </a:r>
            <a:r>
              <a:rPr lang="fr-BE" sz="2800" dirty="0">
                <a:solidFill>
                  <a:srgbClr val="0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br>
              <a:rPr lang="fr-BE" sz="2800" dirty="0">
                <a:solidFill>
                  <a:srgbClr val="0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8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textarea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id=</a:t>
            </a:r>
            <a:r>
              <a:rPr lang="fr-BE" sz="2800" dirty="0">
                <a:solidFill>
                  <a:srgbClr val="8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</a:t>
            </a:r>
            <a:r>
              <a:rPr lang="fr-BE" sz="2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target</a:t>
            </a:r>
            <a:r>
              <a:rPr lang="fr-BE" sz="2800" dirty="0">
                <a:solidFill>
                  <a:srgbClr val="8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&gt;&lt;/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textarea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&lt;/div&gt;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800" dirty="0">
                <a:solidFill>
                  <a:srgbClr val="0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…</a:t>
            </a:r>
            <a:br>
              <a:rPr lang="fr-BE" sz="2800" dirty="0">
                <a:solidFill>
                  <a:srgbClr val="0000F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$(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function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 {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8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$(</a:t>
            </a:r>
            <a:r>
              <a:rPr lang="fr-BE" sz="2800" dirty="0">
                <a:solidFill>
                  <a:srgbClr val="80808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'#</a:t>
            </a:r>
            <a:r>
              <a:rPr lang="fr-BE" sz="2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target</a:t>
            </a:r>
            <a:r>
              <a:rPr lang="fr-BE" sz="2800" dirty="0">
                <a:solidFill>
                  <a:srgbClr val="80808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</a:t>
            </a:r>
            <a:r>
              <a:rPr lang="fr-BE" sz="28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).</a:t>
            </a:r>
            <a:r>
              <a:rPr lang="fr-BE" sz="2800" dirty="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keydown</a:t>
            </a:r>
            <a:r>
              <a:rPr lang="fr-BE" sz="28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function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(){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$('#</a:t>
            </a:r>
            <a:r>
              <a:rPr lang="fr-BE" sz="2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lumiere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').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css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('background-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color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', 'green');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}</a:t>
            </a:r>
            <a:r>
              <a:rPr lang="fr-BE" sz="28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  <a:br>
              <a:rPr lang="fr-BE" sz="28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8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$(</a:t>
            </a:r>
            <a:r>
              <a:rPr lang="fr-BE" sz="2800" dirty="0">
                <a:solidFill>
                  <a:srgbClr val="80808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'#</a:t>
            </a:r>
            <a:r>
              <a:rPr lang="fr-BE" sz="2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target</a:t>
            </a:r>
            <a:r>
              <a:rPr lang="fr-BE" sz="2800" dirty="0">
                <a:solidFill>
                  <a:srgbClr val="80808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</a:t>
            </a:r>
            <a:r>
              <a:rPr lang="fr-BE" sz="28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).</a:t>
            </a:r>
            <a:r>
              <a:rPr lang="fr-BE" sz="2800" dirty="0" err="1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keyup</a:t>
            </a:r>
            <a:r>
              <a:rPr lang="fr-BE" sz="28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function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(){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$('#</a:t>
            </a:r>
            <a:r>
              <a:rPr lang="fr-BE" sz="2800" dirty="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lumiere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').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css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('background-</a:t>
            </a:r>
            <a:r>
              <a:rPr lang="fr-BE" sz="28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color</a:t>
            </a: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', 'white');</a:t>
            </a:r>
            <a:b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}</a:t>
            </a:r>
            <a:r>
              <a:rPr lang="fr-BE" sz="28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  <a:br>
              <a:rPr lang="fr-BE" sz="28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8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});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9DFD24D-C96E-2985-D41C-6C0A6C3191DA}"/>
              </a:ext>
            </a:extLst>
          </p:cNvPr>
          <p:cNvSpPr txBox="1"/>
          <p:nvPr/>
        </p:nvSpPr>
        <p:spPr>
          <a:xfrm>
            <a:off x="8931300" y="493189"/>
            <a:ext cx="279978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800" dirty="0">
                <a:solidFill>
                  <a:schemeClr val="bg2">
                    <a:lumMod val="25000"/>
                  </a:schemeClr>
                </a:solidFill>
              </a:rPr>
              <a:t>Question : </a:t>
            </a:r>
            <a:br>
              <a:rPr lang="fr-BE" sz="2800" dirty="0">
                <a:solidFill>
                  <a:schemeClr val="bg2">
                    <a:lumMod val="25000"/>
                  </a:schemeClr>
                </a:solidFill>
              </a:rPr>
            </a:br>
            <a:r>
              <a:rPr lang="fr-BE" sz="2800" dirty="0">
                <a:solidFill>
                  <a:schemeClr val="bg2">
                    <a:lumMod val="25000"/>
                  </a:schemeClr>
                </a:solidFill>
              </a:rPr>
              <a:t>Que fait ce </a:t>
            </a:r>
            <a:r>
              <a:rPr lang="fr-BE" sz="2800">
                <a:solidFill>
                  <a:schemeClr val="bg2">
                    <a:lumMod val="25000"/>
                  </a:schemeClr>
                </a:solidFill>
              </a:rPr>
              <a:t>code JavaScript </a:t>
            </a:r>
            <a:r>
              <a:rPr lang="fr-BE" sz="2800" dirty="0">
                <a:solidFill>
                  <a:schemeClr val="bg2">
                    <a:lumMod val="25000"/>
                  </a:schemeClr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215048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7A47BCD8-9B71-4A9B-80D2-7D2663588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Formulaire</a:t>
            </a:r>
            <a:endParaRPr lang="fr-BE" dirty="0"/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1E8E477F-C0AD-5E68-12A8-41CBC0262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pic>
        <p:nvPicPr>
          <p:cNvPr id="6" name="Espace réservé pour une image  5">
            <a:extLst>
              <a:ext uri="{FF2B5EF4-FFF2-40B4-BE49-F238E27FC236}">
                <a16:creationId xmlns:a16="http://schemas.microsoft.com/office/drawing/2014/main" id="{7AE2DB9B-F97D-A443-5563-5C9FC84E72C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4506" b="14506"/>
          <a:stretch/>
        </p:blipFill>
        <p:spPr>
          <a:xfrm>
            <a:off x="8999538" y="720725"/>
            <a:ext cx="2160587" cy="215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923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3CE7FD-074E-4B32-9748-C6D307BB1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Formulaire </a:t>
            </a:r>
            <a:r>
              <a:rPr lang="fr-BE"/>
              <a:t>: Attribut :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.value</a:t>
            </a:r>
            <a:r>
              <a:rPr lang="fr-BE"/>
              <a:t>,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.checked</a:t>
            </a:r>
            <a:endParaRPr lang="fr-BE" b="0" dirty="0">
              <a:solidFill>
                <a:srgbClr val="996633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FB0940-C187-4BB7-81E7-03D2462EF3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2595" y="1768513"/>
            <a:ext cx="7259443" cy="4731839"/>
          </a:xfrm>
        </p:spPr>
        <p:txBody>
          <a:bodyPr>
            <a:normAutofit fontScale="62500" lnSpcReduction="20000"/>
          </a:bodyPr>
          <a:lstStyle/>
          <a:p>
            <a:r>
              <a:rPr lang="fr-BE" sz="4000" dirty="0"/>
              <a:t>Accéder à la valeur d'un élément</a:t>
            </a:r>
          </a:p>
          <a:p>
            <a:pPr lvl="1"/>
            <a:r>
              <a:rPr lang="fr-BE" sz="38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input</a:t>
            </a:r>
          </a:p>
          <a:p>
            <a:pPr lvl="1"/>
            <a:r>
              <a:rPr lang="fr-BE" sz="38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radio</a:t>
            </a:r>
          </a:p>
          <a:p>
            <a:pPr lvl="1"/>
            <a:r>
              <a:rPr lang="fr-BE" sz="380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checkbox</a:t>
            </a:r>
            <a:endParaRPr lang="fr-BE" sz="3800" dirty="0">
              <a:solidFill>
                <a:srgbClr val="996633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 sz="38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select/option </a:t>
            </a:r>
          </a:p>
          <a:p>
            <a:r>
              <a:rPr lang="fr-BE" sz="4000" dirty="0"/>
              <a:t>Exemples</a:t>
            </a:r>
            <a:endParaRPr lang="fr-BE" b="1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 sz="34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document.getElementById('nom').value;</a:t>
            </a:r>
            <a:endParaRPr lang="fr-BE" sz="3400" dirty="0">
              <a:solidFill>
                <a:srgbClr val="996633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2"/>
            <a:r>
              <a:rPr lang="fr-BE" sz="3400" dirty="0"/>
              <a:t>Lit le nom de l'utilisateur.</a:t>
            </a:r>
          </a:p>
          <a:p>
            <a:pPr lvl="1"/>
            <a:r>
              <a:rPr lang="fr-BE" sz="34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document.querySelector( </a:t>
            </a:r>
            <a:br>
              <a:rPr lang="fr-BE" sz="34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34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'input[type="radio"][name="sexe"]#H' </a:t>
            </a:r>
            <a:br>
              <a:rPr lang="fr-BE" sz="34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34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).checked</a:t>
            </a:r>
          </a:p>
          <a:p>
            <a:pPr lvl="2"/>
            <a:r>
              <a:rPr lang="fr-BE" sz="3800"/>
              <a:t>Lit </a:t>
            </a:r>
            <a:r>
              <a:rPr lang="fr-BE" sz="3800" dirty="0"/>
              <a:t>l'état du </a:t>
            </a:r>
            <a:r>
              <a:rPr lang="fr-BE" sz="3800"/>
              <a:t>bouton de type </a:t>
            </a:r>
            <a:r>
              <a:rPr lang="fr-BE" sz="38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radio</a:t>
            </a:r>
            <a:r>
              <a:rPr lang="fr-BE" sz="3800"/>
              <a:t>, de nom </a:t>
            </a:r>
            <a:r>
              <a:rPr lang="fr-BE" sz="38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"sexe"</a:t>
            </a:r>
            <a:r>
              <a:rPr lang="fr-BE" sz="3800"/>
              <a:t> et d'id </a:t>
            </a:r>
            <a:r>
              <a:rPr lang="fr-BE" sz="38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</a:t>
            </a:r>
          </a:p>
          <a:p>
            <a:pPr lvl="2"/>
            <a:r>
              <a:rPr lang="fr-BE" sz="3800"/>
              <a:t>Renvoie </a:t>
            </a:r>
            <a:r>
              <a:rPr lang="fr-BE" sz="380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true</a:t>
            </a:r>
            <a:r>
              <a:rPr lang="fr-BE" sz="3800" dirty="0"/>
              <a:t> si le bouton est sélectionné, sinon </a:t>
            </a:r>
            <a:r>
              <a:rPr lang="fr-BE" sz="38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false</a:t>
            </a:r>
            <a:r>
              <a:rPr lang="fr-BE" sz="38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FE49E2A-9B68-4B42-8DF8-460679B067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883909" y="1768513"/>
            <a:ext cx="3612998" cy="4731839"/>
          </a:xfrm>
          <a:noFill/>
          <a:ln>
            <a:noFill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>
            <a:normAutofit fontScale="62500" lnSpcReduction="20000"/>
          </a:bodyPr>
          <a:lstStyle/>
          <a:p>
            <a:pPr marL="0" indent="0" algn="ctr">
              <a:buNone/>
            </a:pPr>
            <a:r>
              <a:rPr lang="fr-BE" sz="4000" dirty="0"/>
              <a:t>Code HTML</a:t>
            </a:r>
          </a:p>
          <a:p>
            <a:pPr marL="0" indent="0">
              <a:buNone/>
            </a:pPr>
            <a:r>
              <a:rPr lang="fr-BE" dirty="0">
                <a:solidFill>
                  <a:schemeClr val="tx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Nom d'utilisateur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&lt;input type="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text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 	id="nom"&gt;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dirty="0">
                <a:solidFill>
                  <a:schemeClr val="tx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Sexe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dirty="0">
                <a:solidFill>
                  <a:schemeClr val="tx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&lt;input type="radio" 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id="H" 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="sexe" 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value="H"&gt;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dirty="0">
                <a:solidFill>
                  <a:schemeClr val="tx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&lt;input type="radio" 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id="F" 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fr-BE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="sexe" </a:t>
            </a:r>
            <a:b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value="F"&gt;</a:t>
            </a:r>
          </a:p>
        </p:txBody>
      </p:sp>
    </p:spTree>
    <p:extLst>
      <p:ext uri="{BB962C8B-B14F-4D97-AF65-F5344CB8AC3E}">
        <p14:creationId xmlns:p14="http://schemas.microsoft.com/office/powerpoint/2010/main" val="2133394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3CE7FD-074E-4B32-9748-C6D307BB1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Formulaire : Attribut :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.value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FB0940-C187-4BB7-81E7-03D2462EF3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351" y="1445125"/>
            <a:ext cx="6768786" cy="4731839"/>
          </a:xfrm>
        </p:spPr>
        <p:txBody>
          <a:bodyPr>
            <a:normAutofit fontScale="92500" lnSpcReduction="10000"/>
          </a:bodyPr>
          <a:lstStyle/>
          <a:p>
            <a:r>
              <a:rPr lang="fr-BE" sz="3000" dirty="0"/>
              <a:t>Accéder à la valeur d'un élément</a:t>
            </a:r>
          </a:p>
          <a:p>
            <a:pPr lvl="1"/>
            <a:r>
              <a:rPr lang="fr-BE" sz="26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input</a:t>
            </a:r>
          </a:p>
          <a:p>
            <a:pPr lvl="1"/>
            <a:r>
              <a:rPr lang="fr-BE" sz="26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radio</a:t>
            </a:r>
          </a:p>
          <a:p>
            <a:pPr lvl="1"/>
            <a:r>
              <a:rPr lang="fr-BE" sz="2600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checkbox</a:t>
            </a:r>
            <a:endParaRPr lang="fr-BE" sz="2600" dirty="0">
              <a:solidFill>
                <a:srgbClr val="996633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 sz="26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select/option </a:t>
            </a:r>
          </a:p>
          <a:p>
            <a:r>
              <a:rPr lang="fr-BE" sz="3000" dirty="0"/>
              <a:t>Exemples</a:t>
            </a:r>
            <a:endParaRPr lang="fr-BE" sz="2400" b="1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 sz="22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document.getElementById('fonction').value</a:t>
            </a:r>
            <a:endParaRPr lang="fr-BE" sz="2200" dirty="0">
              <a:solidFill>
                <a:srgbClr val="996633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2"/>
            <a:r>
              <a:rPr lang="fr-BE" sz="2600" dirty="0"/>
              <a:t>Lit l'élément sélectionné dans la liste déroulante.</a:t>
            </a:r>
          </a:p>
          <a:p>
            <a:pPr lvl="1"/>
            <a:r>
              <a:rPr lang="fr-BE" sz="22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document.getElementById('fonction').value </a:t>
            </a:r>
            <a:br>
              <a:rPr lang="fr-BE" sz="22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2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= 'retraite'</a:t>
            </a:r>
          </a:p>
          <a:p>
            <a:pPr lvl="2"/>
            <a:r>
              <a:rPr lang="fr-BE" sz="2600"/>
              <a:t>Sélectionne</a:t>
            </a:r>
            <a:r>
              <a:rPr lang="fr-BE" sz="3000"/>
              <a:t> </a:t>
            </a:r>
            <a:r>
              <a:rPr lang="fr-BE" sz="2600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Retraité</a:t>
            </a:r>
            <a:r>
              <a:rPr lang="fr-BE" sz="3000" dirty="0"/>
              <a:t> </a:t>
            </a:r>
            <a:r>
              <a:rPr lang="fr-BE" sz="2600" dirty="0"/>
              <a:t>dans la liste déroulante.</a:t>
            </a:r>
          </a:p>
          <a:p>
            <a:endParaRPr lang="fr-BE" sz="2400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1B5E550-1DA9-43CF-A7D6-291239EAF2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237136" y="1445125"/>
            <a:ext cx="4884144" cy="4731839"/>
          </a:xfrm>
          <a:noFill/>
          <a:ln>
            <a:noFill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fr-BE" sz="2800" dirty="0"/>
              <a:t>Code HTML</a:t>
            </a:r>
          </a:p>
          <a:p>
            <a:pPr marL="0" indent="0" defTabSz="355600">
              <a:buNone/>
            </a:pPr>
            <a:r>
              <a:rPr lang="fr-BE" sz="2400" dirty="0">
                <a:solidFill>
                  <a:schemeClr val="tx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Fonction</a:t>
            </a:r>
            <a:br>
              <a:rPr lang="fr-BE" sz="2400" dirty="0">
                <a:solidFill>
                  <a:schemeClr val="tx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&lt;select id="fonction"&gt;</a:t>
            </a:r>
            <a:b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&lt;option value="</a:t>
            </a:r>
            <a:r>
              <a:rPr lang="fr-BE" sz="24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etudiant</a:t>
            </a:r>
            <a: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"&gt;</a:t>
            </a:r>
            <a:b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Etudiant</a:t>
            </a:r>
            <a:b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&lt;/option&gt;</a:t>
            </a:r>
            <a:b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&lt;option value="</a:t>
            </a:r>
            <a:r>
              <a:rPr lang="fr-BE" sz="24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ingenieur</a:t>
            </a:r>
            <a: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"&gt;</a:t>
            </a:r>
            <a:b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Ingénieur</a:t>
            </a:r>
            <a:b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&lt;/option&gt;</a:t>
            </a:r>
            <a:b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&lt;option value="enseignant"&gt;</a:t>
            </a:r>
            <a:b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Enseignant</a:t>
            </a:r>
            <a:b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&lt;/option&gt;</a:t>
            </a:r>
            <a:b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&lt;option value="retraite"&gt;</a:t>
            </a:r>
            <a:b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Retraité</a:t>
            </a:r>
            <a:b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&lt;/option&gt;</a:t>
            </a:r>
            <a:b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fr-BE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&lt;/select&gt;</a:t>
            </a:r>
          </a:p>
        </p:txBody>
      </p:sp>
    </p:spTree>
    <p:extLst>
      <p:ext uri="{BB962C8B-B14F-4D97-AF65-F5344CB8AC3E}">
        <p14:creationId xmlns:p14="http://schemas.microsoft.com/office/powerpoint/2010/main" val="8113353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A5EF43-AC70-4917-8A73-1DFDEA2B7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Formulaire </a:t>
            </a:r>
            <a:r>
              <a:rPr lang="fr-BE"/>
              <a:t>: exo 41</a:t>
            </a:r>
            <a:endParaRPr lang="fr-BE" dirty="0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12949F27-367D-4A0E-87CD-894422ACC0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fr-BE" dirty="0"/>
              <a:t>Écrire dans un champ input</a:t>
            </a:r>
          </a:p>
          <a:p>
            <a:pPr marL="457189" lvl="1" indent="0">
              <a:buNone/>
            </a:pP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$('</a:t>
            </a:r>
            <a:r>
              <a:rPr lang="fr-BE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input#nom</a:t>
            </a: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').val('Michel');</a:t>
            </a:r>
          </a:p>
          <a:p>
            <a:r>
              <a:rPr lang="fr-BE" dirty="0"/>
              <a:t>Écrire dans un champ </a:t>
            </a:r>
            <a:r>
              <a:rPr lang="fr-BE" dirty="0" err="1"/>
              <a:t>password</a:t>
            </a:r>
            <a:endParaRPr lang="fr-BE" dirty="0"/>
          </a:p>
          <a:p>
            <a:pPr marL="457189" lvl="1" indent="0">
              <a:buNone/>
            </a:pP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$('</a:t>
            </a:r>
            <a:r>
              <a:rPr lang="fr-BE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input#pass</a:t>
            </a: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').val( '</a:t>
            </a:r>
            <a:r>
              <a:rPr lang="fr-BE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CeciEstMonMotDePasse</a:t>
            </a: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 );</a:t>
            </a:r>
          </a:p>
          <a:p>
            <a:r>
              <a:rPr lang="fr-BE" dirty="0"/>
              <a:t>Imposer une sélection dans une liste</a:t>
            </a:r>
          </a:p>
          <a:p>
            <a:pPr marL="457189" lvl="1" indent="0">
              <a:buNone/>
            </a:pP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$('#fonction').val('retraite');</a:t>
            </a:r>
          </a:p>
          <a:p>
            <a:r>
              <a:rPr lang="fr-BE" dirty="0"/>
              <a:t>Imposer une sélection dans une radio </a:t>
            </a:r>
          </a:p>
          <a:p>
            <a:pPr marL="457189" lvl="1" indent="0">
              <a:buNone/>
            </a:pP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$('</a:t>
            </a:r>
            <a:r>
              <a:rPr lang="fr-BE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input:radio</a:t>
            </a: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').val(['H']);</a:t>
            </a:r>
          </a:p>
          <a:p>
            <a:r>
              <a:rPr lang="fr-BE" dirty="0"/>
              <a:t>Lire une sélection dans une radio </a:t>
            </a:r>
          </a:p>
          <a:p>
            <a:pPr marL="457189" lvl="1" indent="0">
              <a:buNone/>
            </a:pPr>
            <a:r>
              <a:rPr lang="fr-BE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alert</a:t>
            </a: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("H </a:t>
            </a:r>
            <a:r>
              <a:rPr lang="fr-BE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selected</a:t>
            </a: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? " + $('</a:t>
            </a:r>
            <a:r>
              <a:rPr lang="fr-BE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input:radio#H:checked</a:t>
            </a: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').val());</a:t>
            </a:r>
          </a:p>
          <a:p>
            <a:pPr marL="457189" lvl="1" indent="0">
              <a:buNone/>
            </a:pPr>
            <a:r>
              <a:rPr lang="fr-BE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alert</a:t>
            </a: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("F </a:t>
            </a:r>
            <a:r>
              <a:rPr lang="fr-BE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selected</a:t>
            </a: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? " + $('</a:t>
            </a:r>
            <a:r>
              <a:rPr lang="fr-BE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input:radio#F:checked</a:t>
            </a:r>
            <a:r>
              <a:rPr lang="fr-BE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').val());</a:t>
            </a:r>
          </a:p>
        </p:txBody>
      </p:sp>
    </p:spTree>
    <p:extLst>
      <p:ext uri="{BB962C8B-B14F-4D97-AF65-F5344CB8AC3E}">
        <p14:creationId xmlns:p14="http://schemas.microsoft.com/office/powerpoint/2010/main" val="9326555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burotix">
  <a:themeElements>
    <a:clrScheme name="Custom 4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DD3D1"/>
      </a:accent1>
      <a:accent2>
        <a:srgbClr val="1963A1"/>
      </a:accent2>
      <a:accent3>
        <a:srgbClr val="E5CBAD"/>
      </a:accent3>
      <a:accent4>
        <a:srgbClr val="5DF5F3"/>
      </a:accent4>
      <a:accent5>
        <a:srgbClr val="56A4E4"/>
      </a:accent5>
      <a:accent6>
        <a:srgbClr val="EFDFCD"/>
      </a:accent6>
      <a:hlink>
        <a:srgbClr val="000000"/>
      </a:hlink>
      <a:folHlink>
        <a:srgbClr val="3F3F3F"/>
      </a:folHlink>
    </a:clrScheme>
    <a:fontScheme name="Garamond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olides discret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urotix2022.potm" id="{7A707283-01BA-4932-B574-4A389620091B}" vid="{093B5C4F-DD58-40B6-A0EE-0D8451AE628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burotix2022</Template>
  <TotalTime>8093</TotalTime>
  <Words>4735</Words>
  <Application>Microsoft Office PowerPoint</Application>
  <PresentationFormat>Grand écran</PresentationFormat>
  <Paragraphs>752</Paragraphs>
  <Slides>81</Slides>
  <Notes>54</Notes>
  <HiddenSlides>0</HiddenSlides>
  <MMClips>0</MMClips>
  <ScaleCrop>false</ScaleCrop>
  <HeadingPairs>
    <vt:vector size="8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81</vt:i4>
      </vt:variant>
      <vt:variant>
        <vt:lpstr>Diaporamas personnalisés</vt:lpstr>
      </vt:variant>
      <vt:variant>
        <vt:i4>1</vt:i4>
      </vt:variant>
    </vt:vector>
  </HeadingPairs>
  <TitlesOfParts>
    <vt:vector size="90" baseType="lpstr">
      <vt:lpstr>Arial</vt:lpstr>
      <vt:lpstr>Calibri</vt:lpstr>
      <vt:lpstr>Consolas</vt:lpstr>
      <vt:lpstr>Courier New</vt:lpstr>
      <vt:lpstr>Garamond</vt:lpstr>
      <vt:lpstr>Open Sans</vt:lpstr>
      <vt:lpstr>Wingdings</vt:lpstr>
      <vt:lpstr>burotix</vt:lpstr>
      <vt:lpstr>Bachelier en Informatique de Gestion  Web : principes de base Projet de Développement Web</vt:lpstr>
      <vt:lpstr>Table des matières</vt:lpstr>
      <vt:lpstr>17. Javascript</vt:lpstr>
      <vt:lpstr>Architecture</vt:lpstr>
      <vt:lpstr>Exemples de page web javascriptée</vt:lpstr>
      <vt:lpstr>Exemples d'utilisation du JavaScript</vt:lpstr>
      <vt:lpstr>Références</vt:lpstr>
      <vt:lpstr>Emplacement du code</vt:lpstr>
      <vt:lpstr>Emplacement du code</vt:lpstr>
      <vt:lpstr>Emplacement du code : exo01</vt:lpstr>
      <vt:lpstr>Code interne/externe : exo02</vt:lpstr>
      <vt:lpstr>Variables et Typage</vt:lpstr>
      <vt:lpstr>Typage dynamique</vt:lpstr>
      <vt:lpstr>Mots-clés : var, let, const, … ou rien </vt:lpstr>
      <vt:lpstr>Scalaires : exo03 </vt:lpstr>
      <vt:lpstr>Tableaux : exo04</vt:lpstr>
      <vt:lpstr>Tableaux : exo04</vt:lpstr>
      <vt:lpstr>Tableaux : les opérateurs </vt:lpstr>
      <vt:lpstr>Opérateurs</vt:lpstr>
      <vt:lpstr>Structures de contrôle</vt:lpstr>
      <vt:lpstr>Branchement : if, switch</vt:lpstr>
      <vt:lpstr>Boucle : for, while </vt:lpstr>
      <vt:lpstr>Fonctions</vt:lpstr>
      <vt:lpstr>Fonctions</vt:lpstr>
      <vt:lpstr>Document Object Model</vt:lpstr>
      <vt:lpstr>Document Object Model</vt:lpstr>
      <vt:lpstr>Exemple</vt:lpstr>
      <vt:lpstr>Objets du DOM</vt:lpstr>
      <vt:lpstr>DOM Document</vt:lpstr>
      <vt:lpstr>DOM Document - Méthode</vt:lpstr>
      <vt:lpstr>DOM Document - Méthode</vt:lpstr>
      <vt:lpstr>DOM Document - Méthode</vt:lpstr>
      <vt:lpstr>DOM Document - Méthode</vt:lpstr>
      <vt:lpstr>DOM Document - Méthode</vt:lpstr>
      <vt:lpstr>DOM Node</vt:lpstr>
      <vt:lpstr>DOM Node - Propriétés</vt:lpstr>
      <vt:lpstr>DOM Node - Méthode</vt:lpstr>
      <vt:lpstr>DOM Node - Méthode</vt:lpstr>
      <vt:lpstr>DOM Node - Méthode</vt:lpstr>
      <vt:lpstr>DOM Node - Méthode</vt:lpstr>
      <vt:lpstr>DOM Node - Méthode</vt:lpstr>
      <vt:lpstr>DOM Element</vt:lpstr>
      <vt:lpstr>DOM Element - Propriétés</vt:lpstr>
      <vt:lpstr>DOM Element - Propriétés</vt:lpstr>
      <vt:lpstr>DOM Element - Propriétés</vt:lpstr>
      <vt:lpstr>DOM Element - Propriétés</vt:lpstr>
      <vt:lpstr>DOM Element - Propriétés</vt:lpstr>
      <vt:lpstr>DOM HTML Element</vt:lpstr>
      <vt:lpstr>DOM NodeList - Propriété</vt:lpstr>
      <vt:lpstr>Application : tableur : exercice 21</vt:lpstr>
      <vt:lpstr>Application : le "div filler" : exo 22</vt:lpstr>
      <vt:lpstr>Sibling : exo 24</vt:lpstr>
      <vt:lpstr>Évènement</vt:lpstr>
      <vt:lpstr>Evènement : le focus</vt:lpstr>
      <vt:lpstr>Evènement : les types</vt:lpstr>
      <vt:lpstr>Evènement &amp; HTML</vt:lpstr>
      <vt:lpstr>Evènement : exo 26</vt:lpstr>
      <vt:lpstr>Conflit entre évènements : exo 27</vt:lpstr>
      <vt:lpstr>Évènement &amp; DOM-0</vt:lpstr>
      <vt:lpstr>DOM-0 par l'exemple</vt:lpstr>
      <vt:lpstr>DOM-0 par le principe</vt:lpstr>
      <vt:lpstr>DOM-0 : évaluation</vt:lpstr>
      <vt:lpstr>Evènement &amp; DOM-2</vt:lpstr>
      <vt:lpstr>DOM-2 par l'exemple</vt:lpstr>
      <vt:lpstr>DOM-2 par l'exemple, une alternative</vt:lpstr>
      <vt:lpstr>DOM-2 : évaluation</vt:lpstr>
      <vt:lpstr>Évènements multiples</vt:lpstr>
      <vt:lpstr>Suppression d'un évènement</vt:lpstr>
      <vt:lpstr>Propagation d'un évènement : capture or bubbling ? </vt:lpstr>
      <vt:lpstr>Propagation d'un évènement : capture or bubbling ? Réponse.</vt:lpstr>
      <vt:lpstr>Propagation d'un évènement : exo30</vt:lpstr>
      <vt:lpstr>Objet "Event"</vt:lpstr>
      <vt:lpstr>L'objet "Event"</vt:lpstr>
      <vt:lpstr>L'objet "Event"</vt:lpstr>
      <vt:lpstr>L'objet "Event" : propriétés</vt:lpstr>
      <vt:lpstr>Évènement souris : exo 31</vt:lpstr>
      <vt:lpstr>Évènement clavier : exo 33</vt:lpstr>
      <vt:lpstr>Formulaire</vt:lpstr>
      <vt:lpstr>Formulaire : Attribut : .value, .checked</vt:lpstr>
      <vt:lpstr>Formulaire : Attribut : .value</vt:lpstr>
      <vt:lpstr>Formulaire : exo 41</vt:lpstr>
      <vt:lpstr>cefora powerpoint base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17. Javascript</dc:title>
  <dc:creator>Alain Wafflard</dc:creator>
  <cp:lastModifiedBy>Alain Wafflard</cp:lastModifiedBy>
  <cp:revision>155</cp:revision>
  <dcterms:created xsi:type="dcterms:W3CDTF">2020-03-25T17:28:30Z</dcterms:created>
  <dcterms:modified xsi:type="dcterms:W3CDTF">2025-10-12T18:09:23Z</dcterms:modified>
</cp:coreProperties>
</file>