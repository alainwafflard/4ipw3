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Default Extension="wdp" ContentType="image/vnd.ms-photo"/>
  <Default Extension="gif" ContentType="image/gif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notesMasters/notesMaster1.xml" ContentType="application/vnd.openxmlformats-officedocument.presentationml.notes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857" r:id="rId1"/>
  </p:sldMasterIdLst>
  <p:notesMasterIdLst>
    <p:notesMasterId r:id="rId40"/>
  </p:notesMasterIdLst>
  <p:sldIdLst>
    <p:sldId id="416" r:id="rId2"/>
    <p:sldId id="417" r:id="rId3"/>
    <p:sldId id="352" r:id="rId4"/>
    <p:sldId id="606" r:id="rId5"/>
    <p:sldId id="353" r:id="rId6"/>
    <p:sldId id="354" r:id="rId7"/>
    <p:sldId id="355" r:id="rId8"/>
    <p:sldId id="356" r:id="rId9"/>
    <p:sldId id="605" r:id="rId10"/>
    <p:sldId id="357" r:id="rId11"/>
    <p:sldId id="362" r:id="rId12"/>
    <p:sldId id="367" r:id="rId13"/>
    <p:sldId id="517" r:id="rId14"/>
    <p:sldId id="638" r:id="rId15"/>
    <p:sldId id="448" r:id="rId16"/>
    <p:sldId id="451" r:id="rId17"/>
    <p:sldId id="452" r:id="rId18"/>
    <p:sldId id="453" r:id="rId19"/>
    <p:sldId id="471" r:id="rId20"/>
    <p:sldId id="641" r:id="rId21"/>
    <p:sldId id="472" r:id="rId22"/>
    <p:sldId id="460" r:id="rId23"/>
    <p:sldId id="461" r:id="rId24"/>
    <p:sldId id="462" r:id="rId25"/>
    <p:sldId id="463" r:id="rId26"/>
    <p:sldId id="464" r:id="rId27"/>
    <p:sldId id="465" r:id="rId28"/>
    <p:sldId id="467" r:id="rId29"/>
    <p:sldId id="468" r:id="rId30"/>
    <p:sldId id="607" r:id="rId31"/>
    <p:sldId id="608" r:id="rId32"/>
    <p:sldId id="609" r:id="rId33"/>
    <p:sldId id="610" r:id="rId34"/>
    <p:sldId id="611" r:id="rId35"/>
    <p:sldId id="612" r:id="rId36"/>
    <p:sldId id="613" r:id="rId37"/>
    <p:sldId id="642" r:id="rId38"/>
    <p:sldId id="643" r:id="rId39"/>
  </p:sldIdLst>
  <p:sldSz cx="12192000" cy="6858000"/>
  <p:notesSz cx="6858000" cy="9144000"/>
  <p:custShowLst>
    <p:custShow name="cefora powerpoint base" id="0">
      <p:sldLst/>
    </p:custShow>
  </p:custShowLst>
  <p:defaultTextStyle>
    <a:defPPr>
      <a:defRPr lang="fr-FR"/>
    </a:defPPr>
    <a:lvl1pPr marL="0" algn="l" defTabSz="1219170" rtl="0" eaLnBrk="1" latinLnBrk="0" hangingPunct="1">
      <a:defRPr sz="2400" kern="1200">
        <a:solidFill>
          <a:schemeClr val="tx1"/>
        </a:solidFill>
        <a:latin typeface="+mn-lt"/>
        <a:ea typeface="+mn-ea"/>
        <a:cs typeface="+mn-cs"/>
      </a:defRPr>
    </a:lvl1pPr>
    <a:lvl2pPr marL="609585" algn="l" defTabSz="1219170" rtl="0" eaLnBrk="1" latinLnBrk="0" hangingPunct="1">
      <a:defRPr sz="2400" kern="1200">
        <a:solidFill>
          <a:schemeClr val="tx1"/>
        </a:solidFill>
        <a:latin typeface="+mn-lt"/>
        <a:ea typeface="+mn-ea"/>
        <a:cs typeface="+mn-cs"/>
      </a:defRPr>
    </a:lvl2pPr>
    <a:lvl3pPr marL="1219170" algn="l" defTabSz="1219170" rtl="0" eaLnBrk="1" latinLnBrk="0" hangingPunct="1">
      <a:defRPr sz="2400" kern="1200">
        <a:solidFill>
          <a:schemeClr val="tx1"/>
        </a:solidFill>
        <a:latin typeface="+mn-lt"/>
        <a:ea typeface="+mn-ea"/>
        <a:cs typeface="+mn-cs"/>
      </a:defRPr>
    </a:lvl3pPr>
    <a:lvl4pPr marL="1828754" algn="l" defTabSz="1219170" rtl="0" eaLnBrk="1" latinLnBrk="0" hangingPunct="1">
      <a:defRPr sz="2400" kern="1200">
        <a:solidFill>
          <a:schemeClr val="tx1"/>
        </a:solidFill>
        <a:latin typeface="+mn-lt"/>
        <a:ea typeface="+mn-ea"/>
        <a:cs typeface="+mn-cs"/>
      </a:defRPr>
    </a:lvl4pPr>
    <a:lvl5pPr marL="2438339" algn="l" defTabSz="1219170" rtl="0" eaLnBrk="1" latinLnBrk="0" hangingPunct="1">
      <a:defRPr sz="2400" kern="1200">
        <a:solidFill>
          <a:schemeClr val="tx1"/>
        </a:solidFill>
        <a:latin typeface="+mn-lt"/>
        <a:ea typeface="+mn-ea"/>
        <a:cs typeface="+mn-cs"/>
      </a:defRPr>
    </a:lvl5pPr>
    <a:lvl6pPr marL="3047924" algn="l" defTabSz="1219170" rtl="0" eaLnBrk="1" latinLnBrk="0" hangingPunct="1">
      <a:defRPr sz="2400" kern="1200">
        <a:solidFill>
          <a:schemeClr val="tx1"/>
        </a:solidFill>
        <a:latin typeface="+mn-lt"/>
        <a:ea typeface="+mn-ea"/>
        <a:cs typeface="+mn-cs"/>
      </a:defRPr>
    </a:lvl6pPr>
    <a:lvl7pPr marL="3657509" algn="l" defTabSz="1219170" rtl="0" eaLnBrk="1" latinLnBrk="0" hangingPunct="1">
      <a:defRPr sz="2400" kern="1200">
        <a:solidFill>
          <a:schemeClr val="tx1"/>
        </a:solidFill>
        <a:latin typeface="+mn-lt"/>
        <a:ea typeface="+mn-ea"/>
        <a:cs typeface="+mn-cs"/>
      </a:defRPr>
    </a:lvl7pPr>
    <a:lvl8pPr marL="4267093" algn="l" defTabSz="1219170" rtl="0" eaLnBrk="1" latinLnBrk="0" hangingPunct="1">
      <a:defRPr sz="2400" kern="1200">
        <a:solidFill>
          <a:schemeClr val="tx1"/>
        </a:solidFill>
        <a:latin typeface="+mn-lt"/>
        <a:ea typeface="+mn-ea"/>
        <a:cs typeface="+mn-cs"/>
      </a:defRPr>
    </a:lvl8pPr>
    <a:lvl9pPr marL="4876678" algn="l" defTabSz="1219170" rtl="0" eaLnBrk="1" latinLnBrk="0" hangingPunct="1">
      <a:defRPr sz="24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22 traitement formulaire" id="{08DFCFE3-79D6-440F-BB58-C288840FDF0A}">
          <p14:sldIdLst>
            <p14:sldId id="416"/>
            <p14:sldId id="417"/>
            <p14:sldId id="352"/>
            <p14:sldId id="606"/>
            <p14:sldId id="353"/>
            <p14:sldId id="354"/>
            <p14:sldId id="355"/>
            <p14:sldId id="356"/>
            <p14:sldId id="605"/>
            <p14:sldId id="357"/>
            <p14:sldId id="362"/>
            <p14:sldId id="367"/>
            <p14:sldId id="517"/>
            <p14:sldId id="638"/>
            <p14:sldId id="448"/>
            <p14:sldId id="451"/>
            <p14:sldId id="452"/>
            <p14:sldId id="453"/>
            <p14:sldId id="471"/>
            <p14:sldId id="641"/>
            <p14:sldId id="472"/>
            <p14:sldId id="460"/>
            <p14:sldId id="461"/>
            <p14:sldId id="462"/>
            <p14:sldId id="463"/>
            <p14:sldId id="464"/>
            <p14:sldId id="465"/>
            <p14:sldId id="467"/>
            <p14:sldId id="468"/>
            <p14:sldId id="607"/>
            <p14:sldId id="608"/>
            <p14:sldId id="609"/>
            <p14:sldId id="610"/>
            <p14:sldId id="611"/>
            <p14:sldId id="612"/>
            <p14:sldId id="613"/>
            <p14:sldId id="642"/>
            <p14:sldId id="643"/>
          </p14:sldIdLst>
        </p14:section>
      </p14:sectionLst>
    </p:ex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>
        <p15:guide id="1" orient="horz" pos="2880">
          <p15:clr>
            <a:srgbClr val="A4A3A4"/>
          </p15:clr>
        </p15:guide>
        <p15:guide id="2" pos="2160">
          <p15:clr>
            <a:srgbClr val="A4A3A4"/>
          </p15:clr>
        </p15:guide>
      </p15:notesGuideLst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Alain Wafflard" initials="AW" lastIdx="1" clrIdx="0">
    <p:extLst>
      <p:ext uri="{19B8F6BF-5375-455C-9EA6-DF929625EA0E}">
        <p15:presenceInfo xmlns:p15="http://schemas.microsoft.com/office/powerpoint/2012/main" userId="76bb5ce92a207b22" providerId="Windows Live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E5CBA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73A0DAA-6AF3-43AB-8588-CEC1D06C72B9}" styleName="Medium Styl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93296810-A885-4BE3-A3E7-6D5BEEA58F35}" styleName="Medium Style 2 - Accent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AF606853-7671-496A-8E4F-DF71F8EC918B}" styleName="Dark Style 1 - Accent 6">
    <a:wholeTbl>
      <a:tcTxStyle>
        <a:fontRef idx="minor">
          <a:scrgbClr r="0" g="0" b="0"/>
        </a:fontRef>
        <a:schemeClr val="lt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6"/>
          </a:solidFill>
        </a:fill>
      </a:tcStyle>
    </a:wholeTbl>
    <a:band1H>
      <a:tcStyle>
        <a:tcBdr/>
        <a:fill>
          <a:solidFill>
            <a:schemeClr val="accent6">
              <a:shade val="60000"/>
            </a:schemeClr>
          </a:solidFill>
        </a:fill>
      </a:tcStyle>
    </a:band1H>
    <a:band1V>
      <a:tcStyle>
        <a:tcBdr/>
        <a:fill>
          <a:solidFill>
            <a:schemeClr val="accent6">
              <a:shade val="60000"/>
            </a:schemeClr>
          </a:solidFill>
        </a:fill>
      </a:tcStyle>
    </a:band1V>
    <a:lastCol>
      <a:tcTxStyle b="on"/>
      <a:tcStyle>
        <a:tcBdr>
          <a:left>
            <a:ln w="25400" cmpd="sng">
              <a:solidFill>
                <a:schemeClr val="lt1"/>
              </a:solidFill>
            </a:ln>
          </a:left>
        </a:tcBdr>
        <a:fill>
          <a:solidFill>
            <a:schemeClr val="accent6">
              <a:shade val="60000"/>
            </a:schemeClr>
          </a:solidFill>
        </a:fill>
      </a:tcStyle>
    </a:lastCol>
    <a:firstCol>
      <a:tcTxStyle b="on"/>
      <a:tcStyle>
        <a:tcBdr>
          <a:right>
            <a:ln w="25400" cmpd="sng">
              <a:solidFill>
                <a:schemeClr val="lt1"/>
              </a:solidFill>
            </a:ln>
          </a:right>
        </a:tcBdr>
        <a:fill>
          <a:solidFill>
            <a:schemeClr val="accent6">
              <a:shade val="60000"/>
            </a:schemeClr>
          </a:solidFill>
        </a:fill>
      </a:tcStyle>
    </a:firstCol>
    <a:lastRow>
      <a:tcTxStyle b="on"/>
      <a:tcStyle>
        <a:tcBdr>
          <a:top>
            <a:ln w="25400" cmpd="sng">
              <a:solidFill>
                <a:schemeClr val="lt1"/>
              </a:solidFill>
            </a:ln>
          </a:top>
        </a:tcBdr>
        <a:fill>
          <a:solidFill>
            <a:schemeClr val="accent6">
              <a:shade val="40000"/>
            </a:schemeClr>
          </a:solidFill>
        </a:fill>
      </a:tcStyle>
    </a:lastRow>
    <a:seCell>
      <a:tcStyle>
        <a:tcBdr>
          <a:left>
            <a:ln>
              <a:noFill/>
            </a:ln>
          </a:left>
        </a:tcBdr>
      </a:tcStyle>
    </a:seCell>
    <a:swCell>
      <a:tcStyle>
        <a:tcBdr>
          <a:right>
            <a:ln>
              <a:noFill/>
            </a:ln>
          </a:right>
        </a:tcBdr>
      </a:tcStyle>
    </a:swCell>
    <a:firstRow>
      <a:tcTxStyle b="on"/>
      <a:tcStyle>
        <a:tcBdr>
          <a:bottom>
            <a:ln w="254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  <a:neCell>
      <a:tcStyle>
        <a:tcBdr>
          <a:left>
            <a:ln>
              <a:noFill/>
            </a:ln>
          </a:left>
        </a:tcBdr>
      </a:tcStyle>
    </a:neCell>
    <a:nwCell>
      <a:tcStyle>
        <a:tcBdr>
          <a:right>
            <a:ln>
              <a:noFill/>
            </a:ln>
          </a:right>
        </a:tcBdr>
      </a:tcStyle>
    </a:nwCell>
  </a:tblStyle>
  <a:tblStyle styleId="{C4B1156A-380E-4F78-BDF5-A606A8083BF9}" styleName="Medium Style 4 - Accent 4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4"/>
              </a:solidFill>
            </a:ln>
          </a:left>
          <a:right>
            <a:ln w="12700" cmpd="sng">
              <a:solidFill>
                <a:schemeClr val="accent4"/>
              </a:solidFill>
            </a:ln>
          </a:right>
          <a:top>
            <a:ln w="12700" cmpd="sng">
              <a:solidFill>
                <a:schemeClr val="accent4"/>
              </a:solidFill>
            </a:ln>
          </a:top>
          <a:bottom>
            <a:ln w="12700" cmpd="sng">
              <a:solidFill>
                <a:schemeClr val="accent4"/>
              </a:solidFill>
            </a:ln>
          </a:bottom>
          <a:insideH>
            <a:ln w="12700" cmpd="sng">
              <a:solidFill>
                <a:schemeClr val="accent4"/>
              </a:solidFill>
            </a:ln>
          </a:insideH>
          <a:insideV>
            <a:ln w="12700" cmpd="sng">
              <a:solidFill>
                <a:schemeClr val="accent4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4"/>
              </a:solidFill>
            </a:ln>
          </a:top>
        </a:tcBdr>
        <a:fill>
          <a:solidFill>
            <a:schemeClr val="accent4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4">
              <a:tint val="20000"/>
            </a:schemeClr>
          </a:solidFill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0E3FDE45-AF77-4B5C-9715-49D594BDF05E}" styleName="Light Style 1 - Accent 2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2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2"/>
              </a:solidFill>
            </a:ln>
          </a:bottom>
        </a:tcBdr>
        <a:fill>
          <a:noFill/>
        </a:fill>
      </a:tcStyle>
    </a:firstRow>
  </a:tblStyle>
  <a:tblStyle styleId="{C083E6E3-FA7D-4D7B-A595-EF9225AFEA82}" styleName="Light Style 1 - Accent 3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3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3"/>
              </a:solidFill>
            </a:ln>
          </a:bottom>
        </a:tcBdr>
        <a:fill>
          <a:noFill/>
        </a:fill>
      </a:tcStyle>
    </a:firstRow>
  </a:tblStyle>
  <a:tblStyle styleId="{68D230F3-CF80-4859-8CE7-A43EE81993B5}" styleName="Light Style 1 - Accent 6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6"/>
              </a:solidFill>
            </a:ln>
          </a:top>
          <a:bottom>
            <a:ln w="12700" cmpd="sng">
              <a:solidFill>
                <a:schemeClr val="accent6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6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6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6"/>
              </a:solidFill>
            </a:ln>
          </a:bottom>
        </a:tcBdr>
        <a:fill>
          <a:noFill/>
        </a:fill>
      </a:tcStyle>
    </a:firstRow>
  </a:tblStyle>
  <a:tblStyle styleId="{5FD0F851-EC5A-4D38-B0AD-8093EC10F338}" styleName="Light Style 1 - Accent 5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5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5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5"/>
              </a:solidFill>
            </a:ln>
          </a:bottom>
        </a:tcBdr>
        <a:fill>
          <a:noFill/>
        </a:fill>
      </a:tcStyle>
    </a:firstRow>
  </a:tblStyle>
  <a:tblStyle styleId="{D27102A9-8310-4765-A935-A1911B00CA55}" styleName="Light Style 1 - Accent 4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4"/>
              </a:solidFill>
            </a:ln>
          </a:top>
          <a:bottom>
            <a:ln w="12700" cmpd="sng">
              <a:solidFill>
                <a:schemeClr val="accent4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4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4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4"/>
              </a:solidFill>
            </a:ln>
          </a:bottom>
        </a:tcBdr>
        <a:fill>
          <a:noFill/>
        </a:fill>
      </a:tcStyle>
    </a:firstRow>
  </a:tblStyle>
  <a:tblStyle styleId="{2A488322-F2BA-4B5B-9748-0D474271808F}" styleName="Medium Style 3 - Accent 6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6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794" autoAdjust="0"/>
    <p:restoredTop sz="86419" autoAdjust="0"/>
  </p:normalViewPr>
  <p:slideViewPr>
    <p:cSldViewPr snapToGrid="0">
      <p:cViewPr varScale="1">
        <p:scale>
          <a:sx n="57" d="100"/>
          <a:sy n="57" d="100"/>
        </p:scale>
        <p:origin x="1050" y="60"/>
      </p:cViewPr>
      <p:guideLst>
        <p:guide orient="horz" pos="2160"/>
        <p:guide pos="384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3" d="2"/>
        <a:sy n="3" d="2"/>
      </p:scale>
      <p:origin x="0" y="0"/>
    </p:cViewPr>
  </p:notesTextViewPr>
  <p:sorterViewPr>
    <p:cViewPr>
      <p:scale>
        <a:sx n="125" d="100"/>
        <a:sy n="125" d="100"/>
      </p:scale>
      <p:origin x="0" y="0"/>
    </p:cViewPr>
  </p:sorterViewPr>
  <p:notesViewPr>
    <p:cSldViewPr snapToGrid="0">
      <p:cViewPr varScale="1">
        <p:scale>
          <a:sx n="100" d="100"/>
          <a:sy n="100" d="100"/>
        </p:scale>
        <p:origin x="3552" y="72"/>
      </p:cViewPr>
      <p:guideLst>
        <p:guide orient="horz" pos="2880"/>
        <p:guide pos="2160"/>
      </p:guideLst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presProps" Target="presProp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notesMaster" Target="notesMasters/notesMaster1.xml"/><Relationship Id="rId45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viewProps" Target="viewProps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20" Type="http://schemas.openxmlformats.org/officeDocument/2006/relationships/slide" Target="slides/slide19.xml"/><Relationship Id="rId41" Type="http://schemas.openxmlformats.org/officeDocument/2006/relationships/commentAuthors" Target="commentAuthor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fr-BE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CE9742F-4DAE-47F5-9244-6ACC3985DD6B}" type="datetimeFigureOut">
              <a:rPr lang="fr-BE" smtClean="0"/>
              <a:t>08-12-25</a:t>
            </a:fld>
            <a:endParaRPr lang="fr-BE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fr-BE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B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fr-B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0E3842A0-1A3F-4998-8237-CE5EEE5DFDF0}" type="slidenum">
              <a:rPr lang="fr-BE" smtClean="0"/>
              <a:t>‹N°›</a:t>
            </a:fld>
            <a:endParaRPr lang="fr-BE"/>
          </a:p>
        </p:txBody>
      </p:sp>
    </p:spTree>
    <p:extLst>
      <p:ext uri="{BB962C8B-B14F-4D97-AF65-F5344CB8AC3E}">
        <p14:creationId xmlns:p14="http://schemas.microsoft.com/office/powerpoint/2010/main" val="5560683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377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189" algn="l" defTabSz="914377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377" algn="l" defTabSz="914377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566" algn="l" defTabSz="914377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754" algn="l" defTabSz="914377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5943" algn="l" defTabSz="914377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131" algn="l" defTabSz="914377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320" algn="l" defTabSz="914377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509" algn="l" defTabSz="914377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482600" y="1279525"/>
            <a:ext cx="6140450" cy="34544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51" name="Google Shape;51;p1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2" name="Google Shape;52;p1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-BE"/>
              <a:t>1</a:t>
            </a:fld>
            <a:endParaRPr/>
          </a:p>
        </p:txBody>
      </p:sp>
      <p:sp>
        <p:nvSpPr>
          <p:cNvPr id="53" name="Google Shape;53;p1:notes"/>
          <p:cNvSpPr txBox="1">
            <a:spLocks noGrp="1"/>
          </p:cNvSpPr>
          <p:nvPr>
            <p:ph type="hdr" idx="3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fr-BE"/>
              <a:t>GESTIONNAIRE DE BASE DE DONNEES – NIVEAU ELEMENTAIRE - MS ACCESS</a:t>
            </a:r>
            <a:endParaRPr/>
          </a:p>
        </p:txBody>
      </p:sp>
      <p:sp>
        <p:nvSpPr>
          <p:cNvPr id="54" name="Google Shape;54;p1:notes"/>
          <p:cNvSpPr txBox="1">
            <a:spLocks noGrp="1"/>
          </p:cNvSpPr>
          <p:nvPr>
            <p:ph type="ftr" idx="11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fr-BE"/>
              <a:t>Professeur : Alain Wafflard</a:t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5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6" name="Google Shape;116;p5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5" name="Google Shape;35;p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625268767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Google Shape;41;gae4b1ffd_0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2" name="Google Shape;42;gae4b1ffd_0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600299914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Google Shape;47;gae4b1ffd_0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8" name="Google Shape;48;gae4b1ffd_0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381530667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gae4b1ffd_01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4" name="Google Shape;54;gae4b1ffd_01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152198566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gaf1ccaf6_01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0" name="Google Shape;60;gaf1ccaf6_01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026851449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" name="Google Shape;65;gae4b1ffd_03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6" name="Google Shape;66;gae4b1ffd_03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4164894277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Google Shape;100;gae4b1ffd_05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1" name="Google Shape;101;gae4b1ffd_05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871165286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g7b4200d84_0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2" name="Google Shape;132;g7b4200d84_0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54600775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g128d8db6e_03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59" name="Google Shape;159;g128d8db6e_03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451471079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8" name="Google Shape;178;g1dc672069_0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79" name="Google Shape;179;g1dc672069_0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635275754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g1dc672069_0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85" name="Google Shape;185;g1dc672069_0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657332580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g1dc672069_01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91" name="Google Shape;191;g1dc672069_01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77041044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g1dc672069_01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97" name="Google Shape;197;g1dc672069_01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083942374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g128d8db6e_03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59" name="Google Shape;159;g128d8db6e_03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74507754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g1e0fb6f38_01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35" name="Google Shape;235;g1e0fb6f38_01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723647733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g1e0fb6f38_01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1" name="Google Shape;241;g1e0fb6f38_01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744219410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6" name="Google Shape;246;g1e0fb6f38_02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7" name="Google Shape;247;g1e0fb6f38_02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710829990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g1e0fb6f38_03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53" name="Google Shape;253;g1e0fb6f38_03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364158805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g1e0fb6f38_02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59" name="Google Shape;259;g1e0fb6f38_02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332914192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g1e0fb6f38_04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65" name="Google Shape;265;g1e0fb6f38_04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396247183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g9196d74ea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77" name="Google Shape;277;g9196d74ea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93413968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4" name="Google Shape;284;g128d8db6e_03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85" name="Google Shape;285;g128d8db6e_03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954344150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g1e0fb6f38_01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35" name="Google Shape;235;g1e0fb6f38_01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72812464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g9196d74ea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77" name="Google Shape;277;g9196d74ea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43050385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e de 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  <a:solidFill>
            <a:schemeClr val="accent3">
              <a:lumMod val="40000"/>
              <a:lumOff val="60000"/>
            </a:schemeClr>
          </a:solidFill>
        </p:spPr>
        <p:txBody>
          <a:bodyPr anchor="b">
            <a:normAutofit/>
          </a:bodyPr>
          <a:lstStyle>
            <a:lvl1pPr algn="ctr">
              <a:defRPr lang="fr-BE">
                <a:solidFill>
                  <a:schemeClr val="accent2"/>
                </a:solidFill>
              </a:defRPr>
            </a:lvl1pPr>
          </a:lstStyle>
          <a:p>
            <a:r>
              <a:rPr lang="fr-FR"/>
              <a:t>Modifiez le style du titre</a:t>
            </a:r>
            <a:endParaRPr lang="fr-BE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7"/>
            <a:ext cx="9144000" cy="1655763"/>
          </a:xfrm>
        </p:spPr>
        <p:txBody>
          <a:bodyPr/>
          <a:lstStyle>
            <a:lvl1pPr marL="0" indent="0" algn="l">
              <a:buNone/>
              <a:defRPr sz="2400">
                <a:solidFill>
                  <a:schemeClr val="tx2"/>
                </a:solidFill>
              </a:defRPr>
            </a:lvl1pPr>
            <a:lvl2pPr marL="457189" indent="0" algn="ctr">
              <a:buNone/>
              <a:defRPr sz="2000"/>
            </a:lvl2pPr>
            <a:lvl3pPr marL="914377" indent="0" algn="ctr">
              <a:buNone/>
              <a:defRPr sz="1800"/>
            </a:lvl3pPr>
            <a:lvl4pPr marL="1371566" indent="0" algn="ctr">
              <a:buNone/>
              <a:defRPr sz="1600"/>
            </a:lvl4pPr>
            <a:lvl5pPr marL="1828754" indent="0" algn="ctr">
              <a:buNone/>
              <a:defRPr sz="1600"/>
            </a:lvl5pPr>
            <a:lvl6pPr marL="2285943" indent="0" algn="ctr">
              <a:buNone/>
              <a:defRPr sz="1600"/>
            </a:lvl6pPr>
            <a:lvl7pPr marL="2743131" indent="0" algn="ctr">
              <a:buNone/>
              <a:defRPr sz="1600"/>
            </a:lvl7pPr>
            <a:lvl8pPr marL="3200320" indent="0" algn="ctr">
              <a:buNone/>
              <a:defRPr sz="1600"/>
            </a:lvl8pPr>
            <a:lvl9pPr marL="3657509" indent="0" algn="ctr">
              <a:buNone/>
              <a:defRPr sz="1600"/>
            </a:lvl9pPr>
          </a:lstStyle>
          <a:p>
            <a:r>
              <a:rPr lang="fr-FR"/>
              <a:t>Modifiez le style des sous-titres du masque</a:t>
            </a:r>
            <a:endParaRPr lang="fr-BE"/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7F8EFA58-10A1-BAA7-B65E-A754A43B754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3953782-D06E-4853-BE3C-64C197273937}" type="datetimeFigureOut">
              <a:rPr lang="fr-BE" smtClean="0"/>
              <a:t>08-12-25</a:t>
            </a:fld>
            <a:endParaRPr lang="fr-BE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314B8606-B65F-6EB2-899E-91B5C83E757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BE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CB2FA919-3ED3-80D3-E61B-53F97BE66BE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C092ED-0E97-497E-99D9-BB9DD7276F53}" type="slidenum">
              <a:rPr lang="fr-BE" smtClean="0"/>
              <a:t>‹N°›</a:t>
            </a:fld>
            <a:endParaRPr lang="fr-BE"/>
          </a:p>
        </p:txBody>
      </p:sp>
    </p:spTree>
    <p:extLst>
      <p:ext uri="{BB962C8B-B14F-4D97-AF65-F5344CB8AC3E}">
        <p14:creationId xmlns:p14="http://schemas.microsoft.com/office/powerpoint/2010/main" val="205683176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>
        <p14:reveal/>
      </p:transition>
    </mc:Choice>
    <mc:Fallback xmlns="">
      <p:transition spd="slow">
        <p:fade/>
      </p:transition>
    </mc:Fallback>
  </mc:AlternateConten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  <a:endParaRPr lang="fr-BE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690689"/>
            <a:ext cx="10515600" cy="4486276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fr-BE"/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3268EF8D-0946-4672-F93D-1040FBC9971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3953782-D06E-4853-BE3C-64C197273937}" type="datetimeFigureOut">
              <a:rPr lang="fr-BE" smtClean="0"/>
              <a:t>08-12-25</a:t>
            </a:fld>
            <a:endParaRPr lang="fr-BE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8F8A40D7-7FAD-432F-7B9F-71125A565A9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BE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54A3E5DF-3F32-A840-9AC0-4B04DF13C48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C092ED-0E97-497E-99D9-BB9DD7276F53}" type="slidenum">
              <a:rPr lang="fr-BE" smtClean="0"/>
              <a:t>‹N°›</a:t>
            </a:fld>
            <a:endParaRPr lang="fr-BE"/>
          </a:p>
        </p:txBody>
      </p:sp>
    </p:spTree>
    <p:extLst>
      <p:ext uri="{BB962C8B-B14F-4D97-AF65-F5344CB8AC3E}">
        <p14:creationId xmlns:p14="http://schemas.microsoft.com/office/powerpoint/2010/main" val="380817930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>
        <p14:reveal/>
      </p:transition>
    </mc:Choice>
    <mc:Fallback xmlns="">
      <p:transition spd="slow">
        <p:fade/>
      </p:transition>
    </mc:Fallback>
  </mc:AlternateConten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re de 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1" y="1709740"/>
            <a:ext cx="10515600" cy="2852737"/>
          </a:xfrm>
        </p:spPr>
        <p:txBody>
          <a:bodyPr anchor="b">
            <a:normAutofit/>
          </a:bodyPr>
          <a:lstStyle>
            <a:lvl1pPr>
              <a:defRPr lang="fr-BE">
                <a:solidFill>
                  <a:schemeClr val="accent2"/>
                </a:solidFill>
              </a:defRPr>
            </a:lvl1pPr>
          </a:lstStyle>
          <a:p>
            <a:r>
              <a:rPr lang="fr-FR"/>
              <a:t>Modifiez le style du titre</a:t>
            </a:r>
            <a:endParaRPr lang="fr-BE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1" y="4589464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189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377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566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754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5943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131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32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509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Espace réservé pour une image  4">
            <a:extLst>
              <a:ext uri="{FF2B5EF4-FFF2-40B4-BE49-F238E27FC236}">
                <a16:creationId xmlns:a16="http://schemas.microsoft.com/office/drawing/2014/main" id="{83B7C617-6903-4988-8F47-3C72C68028FF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9000000" y="720000"/>
            <a:ext cx="2160000" cy="2160000"/>
          </a:xfrm>
        </p:spPr>
        <p:txBody>
          <a:bodyPr/>
          <a:lstStyle/>
          <a:p>
            <a:r>
              <a:rPr lang="fr-FR"/>
              <a:t>Cliquez sur l'icône pour ajouter une image</a:t>
            </a:r>
            <a:endParaRPr lang="fr-BE" dirty="0"/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F2D67B63-F450-35EF-442C-62311487D2F4}"/>
              </a:ext>
            </a:extLst>
          </p:cNvPr>
          <p:cNvSpPr>
            <a:spLocks noGrp="1"/>
          </p:cNvSpPr>
          <p:nvPr>
            <p:ph type="dt" sz="half" idx="11"/>
          </p:nvPr>
        </p:nvSpPr>
        <p:spPr/>
        <p:txBody>
          <a:bodyPr/>
          <a:lstStyle/>
          <a:p>
            <a:fld id="{F3953782-D06E-4853-BE3C-64C197273937}" type="datetimeFigureOut">
              <a:rPr lang="fr-BE" smtClean="0"/>
              <a:t>08-12-25</a:t>
            </a:fld>
            <a:endParaRPr lang="fr-BE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EBC20ED6-7274-FD2F-773B-9069D53732E9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/>
        <p:txBody>
          <a:bodyPr/>
          <a:lstStyle/>
          <a:p>
            <a:endParaRPr lang="fr-BE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DB282271-26EC-908B-2E9D-6EE95CFBEB1C}"/>
              </a:ext>
            </a:extLst>
          </p:cNvPr>
          <p:cNvSpPr>
            <a:spLocks noGrp="1"/>
          </p:cNvSpPr>
          <p:nvPr>
            <p:ph type="sldNum" sz="quarter" idx="13"/>
          </p:nvPr>
        </p:nvSpPr>
        <p:spPr/>
        <p:txBody>
          <a:bodyPr/>
          <a:lstStyle/>
          <a:p>
            <a:fld id="{02C092ED-0E97-497E-99D9-BB9DD7276F53}" type="slidenum">
              <a:rPr lang="fr-BE" smtClean="0"/>
              <a:t>‹N°›</a:t>
            </a:fld>
            <a:endParaRPr lang="fr-BE"/>
          </a:p>
        </p:txBody>
      </p:sp>
    </p:spTree>
    <p:extLst>
      <p:ext uri="{BB962C8B-B14F-4D97-AF65-F5344CB8AC3E}">
        <p14:creationId xmlns:p14="http://schemas.microsoft.com/office/powerpoint/2010/main" val="423293724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>
        <p14:reveal/>
      </p:transition>
    </mc:Choice>
    <mc:Fallback xmlns="">
      <p:transition spd="slow">
        <p:fade/>
      </p:transition>
    </mc:Fallback>
  </mc:AlternateConten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ub-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1" y="4544704"/>
            <a:ext cx="10515600" cy="1628211"/>
          </a:xfrm>
        </p:spPr>
        <p:txBody>
          <a:bodyPr anchor="b">
            <a:normAutofit/>
          </a:bodyPr>
          <a:lstStyle>
            <a:lvl1pPr>
              <a:defRPr sz="3600">
                <a:solidFill>
                  <a:schemeClr val="accent2"/>
                </a:solidFill>
              </a:defRPr>
            </a:lvl1pPr>
          </a:lstStyle>
          <a:p>
            <a:r>
              <a:rPr lang="fr-FR"/>
              <a:t>Modifiez le style du titre</a:t>
            </a:r>
            <a:endParaRPr lang="fr-BE" dirty="0"/>
          </a:p>
        </p:txBody>
      </p:sp>
      <p:sp>
        <p:nvSpPr>
          <p:cNvPr id="5" name="Espace réservé pour une image  4">
            <a:extLst>
              <a:ext uri="{FF2B5EF4-FFF2-40B4-BE49-F238E27FC236}">
                <a16:creationId xmlns:a16="http://schemas.microsoft.com/office/drawing/2014/main" id="{4FDD30A2-EFB1-4B31-8365-64458F4E13E2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9000000" y="720000"/>
            <a:ext cx="1440000" cy="1440000"/>
          </a:xfrm>
        </p:spPr>
        <p:txBody>
          <a:bodyPr/>
          <a:lstStyle/>
          <a:p>
            <a:r>
              <a:rPr lang="fr-FR"/>
              <a:t>Cliquez sur l'icône pour ajouter une image</a:t>
            </a:r>
            <a:endParaRPr lang="fr-BE" dirty="0"/>
          </a:p>
        </p:txBody>
      </p:sp>
      <p:sp>
        <p:nvSpPr>
          <p:cNvPr id="3" name="Espace réservé de la date 2">
            <a:extLst>
              <a:ext uri="{FF2B5EF4-FFF2-40B4-BE49-F238E27FC236}">
                <a16:creationId xmlns:a16="http://schemas.microsoft.com/office/drawing/2014/main" id="{B8BD7575-5E4D-B6F7-D511-002E7EBB1A2F}"/>
              </a:ext>
            </a:extLst>
          </p:cNvPr>
          <p:cNvSpPr>
            <a:spLocks noGrp="1"/>
          </p:cNvSpPr>
          <p:nvPr>
            <p:ph type="dt" sz="half" idx="11"/>
          </p:nvPr>
        </p:nvSpPr>
        <p:spPr/>
        <p:txBody>
          <a:bodyPr/>
          <a:lstStyle/>
          <a:p>
            <a:fld id="{F3953782-D06E-4853-BE3C-64C197273937}" type="datetimeFigureOut">
              <a:rPr lang="fr-BE" smtClean="0"/>
              <a:t>08-12-25</a:t>
            </a:fld>
            <a:endParaRPr lang="fr-BE"/>
          </a:p>
        </p:txBody>
      </p:sp>
      <p:sp>
        <p:nvSpPr>
          <p:cNvPr id="4" name="Espace réservé du pied de page 3">
            <a:extLst>
              <a:ext uri="{FF2B5EF4-FFF2-40B4-BE49-F238E27FC236}">
                <a16:creationId xmlns:a16="http://schemas.microsoft.com/office/drawing/2014/main" id="{F57AA542-0BD3-6896-CFBC-925661457ED8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/>
        <p:txBody>
          <a:bodyPr/>
          <a:lstStyle/>
          <a:p>
            <a:endParaRPr lang="fr-BE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FF1D4A95-E4A4-1574-4F11-DE8F1961354B}"/>
              </a:ext>
            </a:extLst>
          </p:cNvPr>
          <p:cNvSpPr>
            <a:spLocks noGrp="1"/>
          </p:cNvSpPr>
          <p:nvPr>
            <p:ph type="sldNum" sz="quarter" idx="13"/>
          </p:nvPr>
        </p:nvSpPr>
        <p:spPr/>
        <p:txBody>
          <a:bodyPr/>
          <a:lstStyle/>
          <a:p>
            <a:fld id="{02C092ED-0E97-497E-99D9-BB9DD7276F53}" type="slidenum">
              <a:rPr lang="fr-BE" smtClean="0"/>
              <a:t>‹N°›</a:t>
            </a:fld>
            <a:endParaRPr lang="fr-BE"/>
          </a:p>
        </p:txBody>
      </p:sp>
    </p:spTree>
    <p:extLst>
      <p:ext uri="{BB962C8B-B14F-4D97-AF65-F5344CB8AC3E}">
        <p14:creationId xmlns:p14="http://schemas.microsoft.com/office/powerpoint/2010/main" val="274298609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>
        <p14:reveal/>
      </p:transition>
    </mc:Choice>
    <mc:Fallback xmlns="">
      <p:transition spd="slow">
        <p:fade/>
      </p:transition>
    </mc:Fallback>
  </mc:AlternateConten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eux contenu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  <a:endParaRPr lang="fr-BE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690689"/>
            <a:ext cx="5181600" cy="4486276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fr-BE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690689"/>
            <a:ext cx="5181600" cy="4486276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fr-BE" dirty="0"/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023EE368-836F-D6B7-3720-94E515B8ED4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3953782-D06E-4853-BE3C-64C197273937}" type="datetimeFigureOut">
              <a:rPr lang="fr-BE" smtClean="0"/>
              <a:t>08-12-25</a:t>
            </a:fld>
            <a:endParaRPr lang="fr-BE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940FC0D1-460C-5274-B67A-CADD301151E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BE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7D5E82B2-87DB-8B8E-12FD-843E813524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C092ED-0E97-497E-99D9-BB9DD7276F53}" type="slidenum">
              <a:rPr lang="fr-BE" smtClean="0"/>
              <a:t>‹N°›</a:t>
            </a:fld>
            <a:endParaRPr lang="fr-BE"/>
          </a:p>
        </p:txBody>
      </p:sp>
    </p:spTree>
    <p:extLst>
      <p:ext uri="{BB962C8B-B14F-4D97-AF65-F5344CB8AC3E}">
        <p14:creationId xmlns:p14="http://schemas.microsoft.com/office/powerpoint/2010/main" val="278241091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>
        <p14:reveal/>
      </p:transition>
    </mc:Choice>
    <mc:Fallback xmlns="">
      <p:transition spd="slow">
        <p:fade/>
      </p:transition>
    </mc:Fallback>
  </mc:AlternateContent>
  <p:hf hdr="0" ftr="0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fr-FR"/>
              <a:t>Modifiez le style du titre</a:t>
            </a:r>
            <a:endParaRPr lang="fr-BE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9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189" indent="0">
              <a:buNone/>
              <a:defRPr sz="2000" b="1"/>
            </a:lvl2pPr>
            <a:lvl3pPr marL="914377" indent="0">
              <a:buNone/>
              <a:defRPr sz="1800" b="1"/>
            </a:lvl3pPr>
            <a:lvl4pPr marL="1371566" indent="0">
              <a:buNone/>
              <a:defRPr sz="1600" b="1"/>
            </a:lvl4pPr>
            <a:lvl5pPr marL="1828754" indent="0">
              <a:buNone/>
              <a:defRPr sz="1600" b="1"/>
            </a:lvl5pPr>
            <a:lvl6pPr marL="2285943" indent="0">
              <a:buNone/>
              <a:defRPr sz="1600" b="1"/>
            </a:lvl6pPr>
            <a:lvl7pPr marL="2743131" indent="0">
              <a:buNone/>
              <a:defRPr sz="1600" b="1"/>
            </a:lvl7pPr>
            <a:lvl8pPr marL="3200320" indent="0">
              <a:buNone/>
              <a:defRPr sz="1600" b="1"/>
            </a:lvl8pPr>
            <a:lvl9pPr marL="3657509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9" y="2505075"/>
            <a:ext cx="5157787" cy="368458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fr-BE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1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189" indent="0">
              <a:buNone/>
              <a:defRPr sz="2000" b="1"/>
            </a:lvl2pPr>
            <a:lvl3pPr marL="914377" indent="0">
              <a:buNone/>
              <a:defRPr sz="1800" b="1"/>
            </a:lvl3pPr>
            <a:lvl4pPr marL="1371566" indent="0">
              <a:buNone/>
              <a:defRPr sz="1600" b="1"/>
            </a:lvl4pPr>
            <a:lvl5pPr marL="1828754" indent="0">
              <a:buNone/>
              <a:defRPr sz="1600" b="1"/>
            </a:lvl5pPr>
            <a:lvl6pPr marL="2285943" indent="0">
              <a:buNone/>
              <a:defRPr sz="1600" b="1"/>
            </a:lvl6pPr>
            <a:lvl7pPr marL="2743131" indent="0">
              <a:buNone/>
              <a:defRPr sz="1600" b="1"/>
            </a:lvl7pPr>
            <a:lvl8pPr marL="3200320" indent="0">
              <a:buNone/>
              <a:defRPr sz="1600" b="1"/>
            </a:lvl8pPr>
            <a:lvl9pPr marL="3657509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1" y="2505075"/>
            <a:ext cx="5183188" cy="368458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fr-BE"/>
          </a:p>
        </p:txBody>
      </p:sp>
      <p:sp>
        <p:nvSpPr>
          <p:cNvPr id="7" name="Espace réservé de la date 6">
            <a:extLst>
              <a:ext uri="{FF2B5EF4-FFF2-40B4-BE49-F238E27FC236}">
                <a16:creationId xmlns:a16="http://schemas.microsoft.com/office/drawing/2014/main" id="{D605DBAD-E815-DA9F-C843-1DE122AA5FF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3953782-D06E-4853-BE3C-64C197273937}" type="datetimeFigureOut">
              <a:rPr lang="fr-BE" smtClean="0"/>
              <a:t>08-12-25</a:t>
            </a:fld>
            <a:endParaRPr lang="fr-BE"/>
          </a:p>
        </p:txBody>
      </p:sp>
      <p:sp>
        <p:nvSpPr>
          <p:cNvPr id="8" name="Espace réservé du pied de page 7">
            <a:extLst>
              <a:ext uri="{FF2B5EF4-FFF2-40B4-BE49-F238E27FC236}">
                <a16:creationId xmlns:a16="http://schemas.microsoft.com/office/drawing/2014/main" id="{F344211E-58E3-3B61-D18C-DCC7772A096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BE"/>
          </a:p>
        </p:txBody>
      </p:sp>
      <p:sp>
        <p:nvSpPr>
          <p:cNvPr id="9" name="Espace réservé du numéro de diapositive 8">
            <a:extLst>
              <a:ext uri="{FF2B5EF4-FFF2-40B4-BE49-F238E27FC236}">
                <a16:creationId xmlns:a16="http://schemas.microsoft.com/office/drawing/2014/main" id="{85F2F6A2-3605-D138-CBD4-299C105E10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C092ED-0E97-497E-99D9-BB9DD7276F53}" type="slidenum">
              <a:rPr lang="fr-BE" smtClean="0"/>
              <a:t>‹N°›</a:t>
            </a:fld>
            <a:endParaRPr lang="fr-BE"/>
          </a:p>
        </p:txBody>
      </p:sp>
    </p:spTree>
    <p:extLst>
      <p:ext uri="{BB962C8B-B14F-4D97-AF65-F5344CB8AC3E}">
        <p14:creationId xmlns:p14="http://schemas.microsoft.com/office/powerpoint/2010/main" val="66178683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>
        <p14:reveal/>
      </p:transition>
    </mc:Choice>
    <mc:Fallback xmlns="">
      <p:transition spd="slow">
        <p:fade/>
      </p:transition>
    </mc:Fallback>
  </mc:AlternateConten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re seu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  <a:endParaRPr lang="fr-BE"/>
          </a:p>
        </p:txBody>
      </p:sp>
      <p:sp>
        <p:nvSpPr>
          <p:cNvPr id="3" name="Espace réservé de la date 2">
            <a:extLst>
              <a:ext uri="{FF2B5EF4-FFF2-40B4-BE49-F238E27FC236}">
                <a16:creationId xmlns:a16="http://schemas.microsoft.com/office/drawing/2014/main" id="{BB23E5C8-1D92-E25A-D482-9866759B5BD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3953782-D06E-4853-BE3C-64C197273937}" type="datetimeFigureOut">
              <a:rPr lang="fr-BE" smtClean="0"/>
              <a:t>08-12-25</a:t>
            </a:fld>
            <a:endParaRPr lang="fr-BE"/>
          </a:p>
        </p:txBody>
      </p:sp>
      <p:sp>
        <p:nvSpPr>
          <p:cNvPr id="4" name="Espace réservé du pied de page 3">
            <a:extLst>
              <a:ext uri="{FF2B5EF4-FFF2-40B4-BE49-F238E27FC236}">
                <a16:creationId xmlns:a16="http://schemas.microsoft.com/office/drawing/2014/main" id="{55ACAADE-10AC-A5C6-B021-C668BC2068A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BE"/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64BD460E-C94D-0F17-7C77-D32F9CC12D7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C092ED-0E97-497E-99D9-BB9DD7276F53}" type="slidenum">
              <a:rPr lang="fr-BE" smtClean="0"/>
              <a:t>‹N°›</a:t>
            </a:fld>
            <a:endParaRPr lang="fr-BE"/>
          </a:p>
        </p:txBody>
      </p:sp>
    </p:spTree>
    <p:extLst>
      <p:ext uri="{BB962C8B-B14F-4D97-AF65-F5344CB8AC3E}">
        <p14:creationId xmlns:p14="http://schemas.microsoft.com/office/powerpoint/2010/main" val="102041671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>
        <p14:reveal/>
      </p:transition>
    </mc:Choice>
    <mc:Fallback xmlns="">
      <p:transition spd="slow">
        <p:fade/>
      </p:transition>
    </mc:Fallback>
  </mc:AlternateConten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91109985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>
        <p14:reveal/>
      </p:transition>
    </mc:Choice>
    <mc:Fallback xmlns="">
      <p:transition spd="slow">
        <p:fade/>
      </p:transition>
    </mc:Fallback>
  </mc:AlternateConten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fr-FR"/>
              <a:t>Modifiez le style du titre</a:t>
            </a:r>
            <a:endParaRPr lang="fr-BE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457200"/>
            <a:ext cx="6172200" cy="5403851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fr-BE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1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189" indent="0">
              <a:buNone/>
              <a:defRPr sz="1400"/>
            </a:lvl2pPr>
            <a:lvl3pPr marL="914377" indent="0">
              <a:buNone/>
              <a:defRPr sz="1200"/>
            </a:lvl3pPr>
            <a:lvl4pPr marL="1371566" indent="0">
              <a:buNone/>
              <a:defRPr sz="1000"/>
            </a:lvl4pPr>
            <a:lvl5pPr marL="1828754" indent="0">
              <a:buNone/>
              <a:defRPr sz="1000"/>
            </a:lvl5pPr>
            <a:lvl6pPr marL="2285943" indent="0">
              <a:buNone/>
              <a:defRPr sz="1000"/>
            </a:lvl6pPr>
            <a:lvl7pPr marL="2743131" indent="0">
              <a:buNone/>
              <a:defRPr sz="1000"/>
            </a:lvl7pPr>
            <a:lvl8pPr marL="3200320" indent="0">
              <a:buNone/>
              <a:defRPr sz="1000"/>
            </a:lvl8pPr>
            <a:lvl9pPr marL="3657509" indent="0">
              <a:buNone/>
              <a:defRPr sz="10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433BACDB-1022-3581-CB46-1F85D70253E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3953782-D06E-4853-BE3C-64C197273937}" type="datetimeFigureOut">
              <a:rPr lang="fr-BE" smtClean="0"/>
              <a:t>08-12-25</a:t>
            </a:fld>
            <a:endParaRPr lang="fr-BE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9C8F4609-0312-F825-CC91-FAC10F33018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BE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91F0E555-3A77-670E-9C69-DE1D8DE232F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C092ED-0E97-497E-99D9-BB9DD7276F53}" type="slidenum">
              <a:rPr lang="fr-BE" smtClean="0"/>
              <a:t>‹N°›</a:t>
            </a:fld>
            <a:endParaRPr lang="fr-BE"/>
          </a:p>
        </p:txBody>
      </p:sp>
    </p:spTree>
    <p:extLst>
      <p:ext uri="{BB962C8B-B14F-4D97-AF65-F5344CB8AC3E}">
        <p14:creationId xmlns:p14="http://schemas.microsoft.com/office/powerpoint/2010/main" val="22389483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>
        <p14:reveal/>
      </p:transition>
    </mc:Choice>
    <mc:Fallback xmlns="">
      <p:transition spd="slow">
        <p:fade/>
      </p:transition>
    </mc:Fallback>
  </mc:AlternateConten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itre de 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1" y="1709740"/>
            <a:ext cx="10515600" cy="2852737"/>
          </a:xfrm>
        </p:spPr>
        <p:txBody>
          <a:bodyPr anchor="b">
            <a:normAutofit/>
          </a:bodyPr>
          <a:lstStyle>
            <a:lvl1pPr>
              <a:defRPr lang="fr-BE"/>
            </a:lvl1pPr>
          </a:lstStyle>
          <a:p>
            <a:r>
              <a:rPr lang="fr-FR"/>
              <a:t>Modifiez le style du titre</a:t>
            </a:r>
            <a:endParaRPr lang="fr-BE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1" y="4589464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189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377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566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754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5943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131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32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509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Espace réservé pour une image  4">
            <a:extLst>
              <a:ext uri="{FF2B5EF4-FFF2-40B4-BE49-F238E27FC236}">
                <a16:creationId xmlns:a16="http://schemas.microsoft.com/office/drawing/2014/main" id="{83B7C617-6903-4988-8F47-3C72C68028FF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9000000" y="720000"/>
            <a:ext cx="2160000" cy="2160000"/>
          </a:xfrm>
        </p:spPr>
        <p:txBody>
          <a:bodyPr/>
          <a:lstStyle/>
          <a:p>
            <a:r>
              <a:rPr lang="fr-FR"/>
              <a:t>Cliquez sur l'icône pour ajouter une image</a:t>
            </a:r>
            <a:endParaRPr lang="fr-BE"/>
          </a:p>
        </p:txBody>
      </p:sp>
    </p:spTree>
    <p:extLst>
      <p:ext uri="{BB962C8B-B14F-4D97-AF65-F5344CB8AC3E}">
        <p14:creationId xmlns:p14="http://schemas.microsoft.com/office/powerpoint/2010/main" val="77641167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>
        <p14:reveal/>
      </p:transition>
    </mc:Choice>
    <mc:Fallback xmlns="">
      <p:transition spd="slow">
        <p:fade/>
      </p:transition>
    </mc:Fallback>
  </mc:AlternateConten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Sub-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1" y="4544704"/>
            <a:ext cx="10515600" cy="1628211"/>
          </a:xfrm>
        </p:spPr>
        <p:txBody>
          <a:bodyPr anchor="b">
            <a:normAutofit/>
          </a:bodyPr>
          <a:lstStyle>
            <a:lvl1pPr>
              <a:defRPr sz="3600"/>
            </a:lvl1pPr>
          </a:lstStyle>
          <a:p>
            <a:r>
              <a:rPr lang="fr-FR"/>
              <a:t>Modifiez le style du titre</a:t>
            </a:r>
            <a:endParaRPr lang="fr-BE" dirty="0"/>
          </a:p>
        </p:txBody>
      </p:sp>
      <p:sp>
        <p:nvSpPr>
          <p:cNvPr id="5" name="Espace réservé pour une image  4">
            <a:extLst>
              <a:ext uri="{FF2B5EF4-FFF2-40B4-BE49-F238E27FC236}">
                <a16:creationId xmlns:a16="http://schemas.microsoft.com/office/drawing/2014/main" id="{4FDD30A2-EFB1-4B31-8365-64458F4E13E2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9000000" y="720000"/>
            <a:ext cx="1440000" cy="1440000"/>
          </a:xfrm>
        </p:spPr>
        <p:txBody>
          <a:bodyPr/>
          <a:lstStyle/>
          <a:p>
            <a:r>
              <a:rPr lang="fr-FR"/>
              <a:t>Cliquez sur l'icône pour ajouter une image</a:t>
            </a:r>
            <a:endParaRPr lang="fr-BE"/>
          </a:p>
        </p:txBody>
      </p:sp>
    </p:spTree>
    <p:extLst>
      <p:ext uri="{BB962C8B-B14F-4D97-AF65-F5344CB8AC3E}">
        <p14:creationId xmlns:p14="http://schemas.microsoft.com/office/powerpoint/2010/main" val="378574761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>
        <p14:reveal/>
      </p:transition>
    </mc:Choice>
    <mc:Fallback xmlns="">
      <p:transition spd="slow">
        <p:fade/>
      </p:transition>
    </mc:Fallback>
  </mc:AlternateContent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mparaison" userDrawn="1">
  <p:cSld name="1_Comparaison">
    <p:spTree>
      <p:nvGrpSpPr>
        <p:cNvPr id="1" name="Shape 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Google Shape;41;p146"/>
          <p:cNvSpPr txBox="1"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18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2" name="Google Shape;42;p146"/>
          <p:cNvSpPr txBox="1">
            <a:spLocks noGrp="1"/>
          </p:cNvSpPr>
          <p:nvPr>
            <p:ph type="body" idx="1"/>
          </p:nvPr>
        </p:nvSpPr>
        <p:spPr>
          <a:xfrm>
            <a:off x="839788" y="1681163"/>
            <a:ext cx="3420000" cy="8239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43" name="Google Shape;43;p146"/>
          <p:cNvSpPr txBox="1">
            <a:spLocks noGrp="1"/>
          </p:cNvSpPr>
          <p:nvPr>
            <p:ph type="body" idx="2"/>
          </p:nvPr>
        </p:nvSpPr>
        <p:spPr>
          <a:xfrm>
            <a:off x="839788" y="2505075"/>
            <a:ext cx="3419999" cy="3684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bg1">
                  <a:lumMod val="50000"/>
                </a:schemeClr>
              </a:buClr>
              <a:buSzPts val="1800"/>
              <a:buFont typeface="Garamond" panose="02020404030301010803" pitchFamily="18" charset="0"/>
              <a:buChar char="■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44" name="Google Shape;44;p146"/>
          <p:cNvSpPr txBox="1">
            <a:spLocks noGrp="1"/>
          </p:cNvSpPr>
          <p:nvPr>
            <p:ph type="body" idx="3"/>
          </p:nvPr>
        </p:nvSpPr>
        <p:spPr>
          <a:xfrm>
            <a:off x="4394864" y="1677195"/>
            <a:ext cx="3420000" cy="8239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45" name="Google Shape;45;p146"/>
          <p:cNvSpPr txBox="1">
            <a:spLocks noGrp="1"/>
          </p:cNvSpPr>
          <p:nvPr>
            <p:ph type="body" idx="4"/>
          </p:nvPr>
        </p:nvSpPr>
        <p:spPr>
          <a:xfrm>
            <a:off x="4394863" y="2501107"/>
            <a:ext cx="3419999" cy="3684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bg1">
                  <a:lumMod val="50000"/>
                </a:schemeClr>
              </a:buClr>
              <a:buSzPts val="1800"/>
              <a:buFont typeface="Garamond" panose="02020404030301010803" pitchFamily="18" charset="0"/>
              <a:buChar char="■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2" name="Google Shape;44;p146">
            <a:extLst>
              <a:ext uri="{FF2B5EF4-FFF2-40B4-BE49-F238E27FC236}">
                <a16:creationId xmlns:a16="http://schemas.microsoft.com/office/drawing/2014/main" id="{2E687717-1647-0388-990E-8851C964199E}"/>
              </a:ext>
            </a:extLst>
          </p:cNvPr>
          <p:cNvSpPr txBox="1">
            <a:spLocks noGrp="1"/>
          </p:cNvSpPr>
          <p:nvPr>
            <p:ph type="body" idx="10"/>
          </p:nvPr>
        </p:nvSpPr>
        <p:spPr>
          <a:xfrm>
            <a:off x="7949940" y="1690688"/>
            <a:ext cx="3420000" cy="8239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3" name="Google Shape;45;p146">
            <a:extLst>
              <a:ext uri="{FF2B5EF4-FFF2-40B4-BE49-F238E27FC236}">
                <a16:creationId xmlns:a16="http://schemas.microsoft.com/office/drawing/2014/main" id="{D8C59DA1-11B0-4EEA-43AC-8402AF228130}"/>
              </a:ext>
            </a:extLst>
          </p:cNvPr>
          <p:cNvSpPr txBox="1">
            <a:spLocks noGrp="1"/>
          </p:cNvSpPr>
          <p:nvPr>
            <p:ph type="body" idx="11"/>
          </p:nvPr>
        </p:nvSpPr>
        <p:spPr>
          <a:xfrm>
            <a:off x="7949937" y="2529543"/>
            <a:ext cx="3433923" cy="3684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bg1">
                  <a:lumMod val="50000"/>
                </a:schemeClr>
              </a:buClr>
              <a:buSzPts val="1800"/>
              <a:buFont typeface="Garamond" panose="02020404030301010803" pitchFamily="18" charset="0"/>
              <a:buChar char="■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49614264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>
        <p14:reveal/>
      </p:transition>
    </mc:Choice>
    <mc:Fallback xmlns="">
      <p:transition spd="slow">
        <p:fade/>
      </p:transition>
    </mc:Fallback>
  </mc:AlternateContent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image" Target="../media/image1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3">
            <a:lumMod val="40000"/>
            <a:lumOff val="6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fr-FR"/>
              <a:t>Modifiez le style du titre</a:t>
            </a:r>
            <a:endParaRPr lang="fr-BE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9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fr-BE"/>
          </a:p>
        </p:txBody>
      </p:sp>
      <p:pic>
        <p:nvPicPr>
          <p:cNvPr id="8" name="Picture 7"/>
          <p:cNvPicPr>
            <a:picLocks noChangeAspect="1"/>
          </p:cNvPicPr>
          <p:nvPr/>
        </p:nvPicPr>
        <p:blipFill>
          <a:blip r:embed="rId1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830515" y="5719725"/>
            <a:ext cx="1046571" cy="914479"/>
          </a:xfrm>
          <a:prstGeom prst="rect">
            <a:avLst/>
          </a:prstGeom>
        </p:spPr>
      </p:pic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FD73148E-CCCA-4F1F-A836-655D884BBFF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9526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2C092ED-0E97-497E-99D9-BB9DD7276F53}" type="slidenum">
              <a:rPr lang="fr-BE" smtClean="0"/>
              <a:t>‹N°›</a:t>
            </a:fld>
            <a:endParaRPr lang="fr-BE"/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7E29B381-A1A5-FC30-27CA-947A2690386C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3953782-D06E-4853-BE3C-64C197273937}" type="datetimeFigureOut">
              <a:rPr lang="fr-BE" smtClean="0"/>
              <a:t>08-12-25</a:t>
            </a:fld>
            <a:endParaRPr lang="fr-BE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7BFB2116-0A00-B6AB-43FF-F23B8EB09A3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fr-BE"/>
          </a:p>
        </p:txBody>
      </p:sp>
      <p:pic>
        <p:nvPicPr>
          <p:cNvPr id="7" name="Picture 7">
            <a:extLst>
              <a:ext uri="{FF2B5EF4-FFF2-40B4-BE49-F238E27FC236}">
                <a16:creationId xmlns:a16="http://schemas.microsoft.com/office/drawing/2014/main" id="{0ACFF670-65EF-AAD9-D180-4FB3AFC05700}"/>
              </a:ext>
            </a:extLst>
          </p:cNvPr>
          <p:cNvPicPr>
            <a:picLocks noChangeAspect="1"/>
          </p:cNvPicPr>
          <p:nvPr userDrawn="1"/>
        </p:nvPicPr>
        <p:blipFill>
          <a:blip r:embed="rId1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830515" y="5719725"/>
            <a:ext cx="1046571" cy="91447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5906791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858" r:id="rId1"/>
    <p:sldLayoutId id="2147483859" r:id="rId2"/>
    <p:sldLayoutId id="2147483860" r:id="rId3"/>
    <p:sldLayoutId id="2147483861" r:id="rId4"/>
    <p:sldLayoutId id="2147483862" r:id="rId5"/>
    <p:sldLayoutId id="2147483863" r:id="rId6"/>
    <p:sldLayoutId id="2147483864" r:id="rId7"/>
    <p:sldLayoutId id="2147483865" r:id="rId8"/>
    <p:sldLayoutId id="2147483866" r:id="rId9"/>
    <p:sldLayoutId id="2147483853" r:id="rId10"/>
    <p:sldLayoutId id="2147483852" r:id="rId11"/>
    <p:sldLayoutId id="2147483867" r:id="rId12"/>
  </p:sldLayoutIdLst>
  <mc:AlternateContent xmlns:mc="http://schemas.openxmlformats.org/markup-compatibility/2006" xmlns:p14="http://schemas.microsoft.com/office/powerpoint/2010/main">
    <mc:Choice Requires="p14">
      <p:transition spd="slow">
        <p14:reveal/>
      </p:transition>
    </mc:Choice>
    <mc:Fallback xmlns="">
      <p:transition spd="slow">
        <p:fade/>
      </p:transition>
    </mc:Fallback>
  </mc:AlternateContent>
  <p:hf hdr="0" ftr="0"/>
  <p:txStyles>
    <p:titleStyle>
      <a:lvl1pPr algn="l" defTabSz="914377" rtl="0" eaLnBrk="1" latinLnBrk="0" hangingPunct="1">
        <a:lnSpc>
          <a:spcPct val="90000"/>
        </a:lnSpc>
        <a:spcBef>
          <a:spcPct val="0"/>
        </a:spcBef>
        <a:buNone/>
        <a:defRPr sz="4400" b="1" kern="1200">
          <a:solidFill>
            <a:schemeClr val="accent5"/>
          </a:solidFill>
          <a:latin typeface="+mn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228594" indent="-228594" algn="l" defTabSz="914377" rtl="0" eaLnBrk="1" latinLnBrk="0" hangingPunct="1">
        <a:lnSpc>
          <a:spcPct val="90000"/>
        </a:lnSpc>
        <a:spcBef>
          <a:spcPts val="1000"/>
        </a:spcBef>
        <a:buClr>
          <a:schemeClr val="bg1">
            <a:lumMod val="50000"/>
          </a:schemeClr>
        </a:buClr>
        <a:buFont typeface="Wingdings" panose="05000000000000000000" pitchFamily="2" charset="2"/>
        <a:buChar char="§"/>
        <a:defRPr sz="3600" kern="1200">
          <a:solidFill>
            <a:schemeClr val="tx1"/>
          </a:solidFill>
          <a:latin typeface="+mn-lt"/>
          <a:ea typeface="+mn-ea"/>
          <a:cs typeface="+mn-cs"/>
        </a:defRPr>
      </a:lvl1pPr>
      <a:lvl2pPr marL="685783" indent="-228594" algn="l" defTabSz="914377" rtl="0" eaLnBrk="1" latinLnBrk="0" hangingPunct="1">
        <a:lnSpc>
          <a:spcPct val="90000"/>
        </a:lnSpc>
        <a:spcBef>
          <a:spcPts val="500"/>
        </a:spcBef>
        <a:buClr>
          <a:schemeClr val="bg1">
            <a:lumMod val="50000"/>
          </a:schemeClr>
        </a:buClr>
        <a:buFont typeface="Wingdings" panose="05000000000000000000" pitchFamily="2" charset="2"/>
        <a:buChar char="§"/>
        <a:defRPr sz="3200" kern="1200">
          <a:solidFill>
            <a:schemeClr val="tx1"/>
          </a:solidFill>
          <a:latin typeface="+mn-lt"/>
          <a:ea typeface="+mn-ea"/>
          <a:cs typeface="+mn-cs"/>
        </a:defRPr>
      </a:lvl2pPr>
      <a:lvl3pPr marL="1142971" indent="-228594" algn="l" defTabSz="914377" rtl="0" eaLnBrk="1" latinLnBrk="0" hangingPunct="1">
        <a:lnSpc>
          <a:spcPct val="90000"/>
        </a:lnSpc>
        <a:spcBef>
          <a:spcPts val="500"/>
        </a:spcBef>
        <a:buClr>
          <a:schemeClr val="bg1">
            <a:lumMod val="50000"/>
          </a:schemeClr>
        </a:buClr>
        <a:buFont typeface="Wingdings" panose="05000000000000000000" pitchFamily="2" charset="2"/>
        <a:buChar char="§"/>
        <a:defRPr sz="28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160" indent="-228594" algn="l" defTabSz="914377" rtl="0" eaLnBrk="1" latinLnBrk="0" hangingPunct="1">
        <a:lnSpc>
          <a:spcPct val="90000"/>
        </a:lnSpc>
        <a:spcBef>
          <a:spcPts val="500"/>
        </a:spcBef>
        <a:buClr>
          <a:schemeClr val="bg1">
            <a:lumMod val="50000"/>
          </a:schemeClr>
        </a:buClr>
        <a:buFont typeface="Wingdings" panose="05000000000000000000" pitchFamily="2" charset="2"/>
        <a:buChar char="§"/>
        <a:defRPr sz="24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349" indent="-228594" algn="l" defTabSz="914377" rtl="0" eaLnBrk="1" latinLnBrk="0" hangingPunct="1">
        <a:lnSpc>
          <a:spcPct val="90000"/>
        </a:lnSpc>
        <a:spcBef>
          <a:spcPts val="500"/>
        </a:spcBef>
        <a:buClr>
          <a:schemeClr val="bg1">
            <a:lumMod val="50000"/>
          </a:schemeClr>
        </a:buClr>
        <a:buFont typeface="Wingdings" panose="05000000000000000000" pitchFamily="2" charset="2"/>
        <a:buChar char="§"/>
        <a:defRPr sz="24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537" indent="-228594" algn="l" defTabSz="91437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726" indent="-228594" algn="l" defTabSz="91437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8914" indent="-228594" algn="l" defTabSz="91437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103" indent="-228594" algn="l" defTabSz="91437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fr-FR"/>
      </a:defPPr>
      <a:lvl1pPr marL="0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189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377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566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754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5943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131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320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509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hyperlink" Target="http://i.i.com.com/cnwk.1d/i/tim/2011/01/18/HTML5_Logo_550px_270x270.png" TargetMode="External"/><Relationship Id="rId1" Type="http://schemas.openxmlformats.org/officeDocument/2006/relationships/slideLayout" Target="../slideLayouts/slideLayout3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6.gif"/><Relationship Id="rId4" Type="http://schemas.openxmlformats.org/officeDocument/2006/relationships/image" Target="../media/image5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12.png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3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15.pn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5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3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18.png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3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18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1"/>
          <p:cNvSpPr txBox="1">
            <a:spLocks noGrp="1"/>
          </p:cNvSpPr>
          <p:nvPr>
            <p:ph type="ctrTitle"/>
          </p:nvPr>
        </p:nvSpPr>
        <p:spPr>
          <a:noFill/>
          <a:ln>
            <a:noFill/>
          </a:ln>
        </p:spPr>
        <p:txBody>
          <a:bodyPr spcFirstLastPara="1" wrap="square" lIns="91425" tIns="45700" rIns="91425" bIns="45700" anchor="b" anchorCtr="0">
            <a:normAutofit fontScale="90000"/>
          </a:bodyPr>
          <a:lstStyle/>
          <a:p>
            <a:pPr lvl="0"/>
            <a:r>
              <a:rPr lang="fr-BE" dirty="0"/>
              <a:t>Bachelier en Informatique de Gestion</a:t>
            </a:r>
            <a:br>
              <a:rPr lang="fr-BE" dirty="0"/>
            </a:br>
            <a:r>
              <a:rPr lang="fr-BE"/>
              <a:t/>
            </a:r>
            <a:br>
              <a:rPr lang="fr-BE"/>
            </a:br>
            <a:r>
              <a:rPr lang="fr-BE"/>
              <a:t>Web </a:t>
            </a:r>
            <a:r>
              <a:rPr lang="fr-BE" dirty="0"/>
              <a:t>: principes </a:t>
            </a:r>
            <a:r>
              <a:rPr lang="fr-BE"/>
              <a:t>de base</a:t>
            </a:r>
            <a:br>
              <a:rPr lang="fr-BE"/>
            </a:br>
            <a:r>
              <a:rPr lang="fr-BE"/>
              <a:t>Projet de Développement Web</a:t>
            </a:r>
            <a:endParaRPr lang="fr-BE" dirty="0"/>
          </a:p>
        </p:txBody>
      </p:sp>
      <p:sp>
        <p:nvSpPr>
          <p:cNvPr id="57" name="Google Shape;57;p1"/>
          <p:cNvSpPr txBox="1">
            <a:spLocks noGrp="1"/>
          </p:cNvSpPr>
          <p:nvPr>
            <p:ph type="subTitle" idx="1"/>
          </p:nvPr>
        </p:nvSpPr>
        <p:spPr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lvl="0"/>
            <a:r>
              <a:rPr lang="fr-BE" dirty="0"/>
              <a:t>Enseignement supérieur économique de type court</a:t>
            </a:r>
          </a:p>
          <a:p>
            <a:pPr lvl="0"/>
            <a:r>
              <a:rPr lang="fr-BE" dirty="0"/>
              <a:t>Code </a:t>
            </a:r>
            <a:r>
              <a:rPr lang="fr-BE" dirty="0" err="1"/>
              <a:t>FWB</a:t>
            </a:r>
            <a:r>
              <a:rPr lang="fr-BE"/>
              <a:t> : 7534 29 U32 D1, 7534 30 U32 D3</a:t>
            </a:r>
          </a:p>
          <a:p>
            <a:pPr lvl="0"/>
            <a:r>
              <a:rPr lang="fr-BE"/>
              <a:t>Code ISFCE : 4IWPB, 4IPW3</a:t>
            </a:r>
          </a:p>
          <a:p>
            <a:pPr lvl="0"/>
            <a:endParaRPr lang="fr-BE"/>
          </a:p>
        </p:txBody>
      </p:sp>
      <p:pic>
        <p:nvPicPr>
          <p:cNvPr id="58" name="Google Shape;58;p1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0406447" y="5094815"/>
            <a:ext cx="1674557" cy="1674557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>
        <p14:reveal/>
      </p:transition>
    </mc:Choice>
    <mc:Fallback xmlns="" xmlns:mv="urn:schemas-microsoft-com:mac:vml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5="http://schemas.microsoft.com/office/powerpoint/2012/main" xmlns:ahyp="http://schemas.microsoft.com/office/drawing/2018/hyperlinkcolor">
      <p:transition spd="med"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"/>
          <p:cNvSpPr txBox="1">
            <a:spLocks noGrp="1"/>
          </p:cNvSpPr>
          <p:nvPr>
            <p:ph type="title"/>
          </p:nvPr>
        </p:nvSpPr>
        <p:spPr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lvl="0"/>
            <a:r>
              <a:rPr lang="fr-BE"/>
              <a:t>Table des matières</a:t>
            </a:r>
          </a:p>
        </p:txBody>
      </p:sp>
      <p:sp>
        <p:nvSpPr>
          <p:cNvPr id="119" name="Google Shape;119;p5"/>
          <p:cNvSpPr txBox="1">
            <a:spLocks noGrp="1"/>
          </p:cNvSpPr>
          <p:nvPr>
            <p:ph type="body" idx="1"/>
          </p:nvPr>
        </p:nvSpPr>
        <p:spPr>
          <a:noFill/>
          <a:ln>
            <a:noFill/>
          </a:ln>
        </p:spPr>
        <p:txBody>
          <a:bodyPr spcFirstLastPara="1" wrap="square" lIns="91425" tIns="45700" rIns="91425" bIns="45700" numCol="1" anchor="t" anchorCtr="0">
            <a:normAutofit/>
          </a:bodyPr>
          <a:lstStyle/>
          <a:p>
            <a:pPr lvl="0"/>
            <a:r>
              <a:rPr lang="fr-FR"/>
              <a:t>Généralités</a:t>
            </a:r>
          </a:p>
        </p:txBody>
      </p:sp>
      <p:sp>
        <p:nvSpPr>
          <p:cNvPr id="2" name="Espace réservé du texte 1">
            <a:extLst>
              <a:ext uri="{FF2B5EF4-FFF2-40B4-BE49-F238E27FC236}">
                <a16:creationId xmlns:a16="http://schemas.microsoft.com/office/drawing/2014/main" id="{D1162652-D4A8-152D-F88F-9B8516AF8775}"/>
              </a:ext>
            </a:extLst>
          </p:cNvPr>
          <p:cNvSpPr>
            <a:spLocks noGrp="1"/>
          </p:cNvSpPr>
          <p:nvPr>
            <p:ph type="body" idx="2"/>
          </p:nvPr>
        </p:nvSpPr>
        <p:spPr/>
        <p:txBody>
          <a:bodyPr>
            <a:normAutofit/>
          </a:bodyPr>
          <a:lstStyle/>
          <a:p>
            <a:pPr marL="114300" indent="0">
              <a:buNone/>
            </a:pPr>
            <a:r>
              <a:rPr lang="fr-BE" sz="2400"/>
              <a:t>01. Introduction au web</a:t>
            </a:r>
          </a:p>
          <a:p>
            <a:pPr marL="114300" indent="0">
              <a:buNone/>
            </a:pPr>
            <a:r>
              <a:rPr lang="fr-BE" sz="2400"/>
              <a:t>03. Outils</a:t>
            </a:r>
          </a:p>
          <a:p>
            <a:pPr marL="114300" indent="0">
              <a:buNone/>
            </a:pPr>
            <a:r>
              <a:rPr lang="fr-BE" sz="2400"/>
              <a:t>05. Format XML</a:t>
            </a:r>
          </a:p>
          <a:p>
            <a:pPr marL="114300" indent="0">
              <a:buNone/>
            </a:pPr>
            <a:r>
              <a:rPr lang="fr-BE" sz="2400"/>
              <a:t>06. Format JSON</a:t>
            </a:r>
          </a:p>
          <a:p>
            <a:pPr marL="114300" indent="0">
              <a:buNone/>
            </a:pPr>
            <a:endParaRPr lang="fr-BE" sz="2400"/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D06D5135-B8A1-9E24-38EE-4C72679CDE7E}"/>
              </a:ext>
            </a:extLst>
          </p:cNvPr>
          <p:cNvSpPr>
            <a:spLocks noGrp="1"/>
          </p:cNvSpPr>
          <p:nvPr>
            <p:ph type="body" idx="3"/>
          </p:nvPr>
        </p:nvSpPr>
        <p:spPr/>
        <p:txBody>
          <a:bodyPr anchor="t"/>
          <a:lstStyle/>
          <a:p>
            <a:pPr lvl="0"/>
            <a:r>
              <a:rPr lang="fr-FR"/>
              <a:t>Front-End</a:t>
            </a:r>
          </a:p>
        </p:txBody>
      </p:sp>
      <p:sp>
        <p:nvSpPr>
          <p:cNvPr id="4" name="Espace réservé du texte 3">
            <a:extLst>
              <a:ext uri="{FF2B5EF4-FFF2-40B4-BE49-F238E27FC236}">
                <a16:creationId xmlns:a16="http://schemas.microsoft.com/office/drawing/2014/main" id="{17D87172-3FAF-5725-E789-9405D66598A7}"/>
              </a:ext>
            </a:extLst>
          </p:cNvPr>
          <p:cNvSpPr>
            <a:spLocks noGrp="1"/>
          </p:cNvSpPr>
          <p:nvPr>
            <p:ph type="body" idx="4"/>
          </p:nvPr>
        </p:nvSpPr>
        <p:spPr>
          <a:xfrm>
            <a:off x="4105275" y="2501107"/>
            <a:ext cx="3709587" cy="3684588"/>
          </a:xfrm>
        </p:spPr>
        <p:txBody>
          <a:bodyPr>
            <a:normAutofit/>
          </a:bodyPr>
          <a:lstStyle/>
          <a:p>
            <a:pPr marL="114300" lvl="0" indent="0">
              <a:buNone/>
            </a:pPr>
            <a:r>
              <a:rPr lang="fr-BE" sz="2400"/>
              <a:t>12. Structure HTML </a:t>
            </a:r>
          </a:p>
          <a:p>
            <a:pPr marL="114300" indent="0">
              <a:buNone/>
            </a:pPr>
            <a:r>
              <a:rPr lang="fr-BE" sz="2400"/>
              <a:t>13. Formulaire HTML</a:t>
            </a:r>
          </a:p>
          <a:p>
            <a:pPr marL="114300" lvl="0" indent="0">
              <a:buNone/>
            </a:pPr>
            <a:r>
              <a:rPr lang="fr-BE" sz="2400"/>
              <a:t>14. Mise en forme CSS</a:t>
            </a:r>
          </a:p>
          <a:p>
            <a:pPr marL="114300" lvl="0" indent="0">
              <a:buNone/>
            </a:pPr>
            <a:r>
              <a:rPr lang="fr-BE" sz="2400"/>
              <a:t>15. Adaptabilité</a:t>
            </a:r>
          </a:p>
          <a:p>
            <a:pPr marL="114300" lvl="0" indent="0">
              <a:buNone/>
            </a:pPr>
            <a:r>
              <a:rPr lang="fr-BE" sz="2400"/>
              <a:t>17. Javascript</a:t>
            </a:r>
          </a:p>
          <a:p>
            <a:pPr marL="114300" lvl="0" indent="0">
              <a:buNone/>
            </a:pPr>
            <a:r>
              <a:rPr lang="fr-BE" sz="2400"/>
              <a:t>18. Bibliothèque jQuery</a:t>
            </a:r>
          </a:p>
          <a:p>
            <a:pPr marL="114300" lvl="0" indent="0">
              <a:buNone/>
            </a:pPr>
            <a:r>
              <a:rPr lang="fr-BE" sz="2400"/>
              <a:t>19. Composant Vue.js</a:t>
            </a:r>
          </a:p>
        </p:txBody>
      </p:sp>
      <p:sp>
        <p:nvSpPr>
          <p:cNvPr id="10" name="Espace réservé du texte 9">
            <a:extLst>
              <a:ext uri="{FF2B5EF4-FFF2-40B4-BE49-F238E27FC236}">
                <a16:creationId xmlns:a16="http://schemas.microsoft.com/office/drawing/2014/main" id="{A5FC1231-1E2C-7231-4486-8114EAEE6AAF}"/>
              </a:ext>
            </a:extLst>
          </p:cNvPr>
          <p:cNvSpPr>
            <a:spLocks noGrp="1"/>
          </p:cNvSpPr>
          <p:nvPr>
            <p:ph type="body" idx="10"/>
          </p:nvPr>
        </p:nvSpPr>
        <p:spPr/>
        <p:txBody>
          <a:bodyPr anchor="t"/>
          <a:lstStyle/>
          <a:p>
            <a:r>
              <a:rPr lang="fr-BE"/>
              <a:t>Back-End</a:t>
            </a:r>
          </a:p>
        </p:txBody>
      </p:sp>
      <p:sp>
        <p:nvSpPr>
          <p:cNvPr id="18" name="Espace réservé du texte 17">
            <a:extLst>
              <a:ext uri="{FF2B5EF4-FFF2-40B4-BE49-F238E27FC236}">
                <a16:creationId xmlns:a16="http://schemas.microsoft.com/office/drawing/2014/main" id="{EDB2CC52-B967-555D-C3A7-C4B10EB02D18}"/>
              </a:ext>
            </a:extLst>
          </p:cNvPr>
          <p:cNvSpPr>
            <a:spLocks noGrp="1"/>
          </p:cNvSpPr>
          <p:nvPr>
            <p:ph type="body" idx="11"/>
          </p:nvPr>
        </p:nvSpPr>
        <p:spPr/>
        <p:txBody>
          <a:bodyPr>
            <a:normAutofit/>
          </a:bodyPr>
          <a:lstStyle/>
          <a:p>
            <a:pPr marL="114300" lvl="0" indent="0">
              <a:buNone/>
            </a:pPr>
            <a:r>
              <a:rPr lang="fr-BE" sz="2400"/>
              <a:t>21. Middleware PHP</a:t>
            </a:r>
          </a:p>
          <a:p>
            <a:pPr marL="114300" indent="0">
              <a:buNone/>
            </a:pPr>
            <a:r>
              <a:rPr lang="fr-BE" sz="2400">
                <a:solidFill>
                  <a:schemeClr val="accent2"/>
                </a:solidFill>
              </a:rPr>
              <a:t>22. Traitement du formulaire</a:t>
            </a:r>
          </a:p>
          <a:p>
            <a:pPr marL="114300" lvl="0" indent="0">
              <a:buNone/>
            </a:pPr>
            <a:r>
              <a:rPr lang="fr-BE" sz="2400"/>
              <a:t>23. Architecture MVC</a:t>
            </a:r>
          </a:p>
          <a:p>
            <a:pPr marL="114300" lvl="0" indent="0">
              <a:buNone/>
            </a:pPr>
            <a:r>
              <a:rPr lang="fr-BE" sz="2400"/>
              <a:t>24. Données SQL</a:t>
            </a:r>
          </a:p>
          <a:p>
            <a:pPr marL="114300" lvl="0" indent="0">
              <a:buNone/>
            </a:pPr>
            <a:r>
              <a:rPr lang="fr-BE" sz="2400"/>
              <a:t>25. Données NoSQL</a:t>
            </a:r>
          </a:p>
          <a:p>
            <a:pPr marL="114300" indent="0">
              <a:buNone/>
            </a:pPr>
            <a:r>
              <a:rPr lang="fr-BE" sz="2400"/>
              <a:t>27. Requête asynchrone</a:t>
            </a:r>
          </a:p>
          <a:p>
            <a:pPr marL="114300" indent="0">
              <a:buNone/>
            </a:pPr>
            <a:endParaRPr lang="fr-BE" sz="2400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>
        <p14:reveal/>
      </p:transition>
    </mc:Choice>
    <mc:Fallback xmlns:ahyp="http://schemas.microsoft.com/office/drawing/2018/hyperlinkcolor" xmlns:p15="http://schemas.microsoft.com/office/powerpoint/2012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="">
      <p:transition spd="med"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Google Shape;37;p8"/>
          <p:cNvSpPr txBox="1"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BE">
                <a:sym typeface="Calibri"/>
              </a:rPr>
              <a:t>22. Traitement du Formulaire</a:t>
            </a:r>
          </a:p>
        </p:txBody>
      </p:sp>
      <p:sp>
        <p:nvSpPr>
          <p:cNvPr id="38" name="Google Shape;38;p8"/>
          <p:cNvSpPr txBox="1">
            <a:spLocks noGrp="1"/>
          </p:cNvSpPr>
          <p:nvPr>
            <p:ph type="body" idx="1"/>
          </p:nvPr>
        </p:nvSpPr>
        <p:spPr/>
        <p:txBody>
          <a:bodyPr numCol="3">
            <a:normAutofit/>
          </a:bodyPr>
          <a:lstStyle/>
          <a:p>
            <a:r>
              <a:rPr lang="fr-BE">
                <a:sym typeface="Calibri"/>
              </a:rPr>
              <a:t>Transit des données</a:t>
            </a:r>
          </a:p>
          <a:p>
            <a:r>
              <a:rPr lang="fr-BE">
                <a:sym typeface="Calibri"/>
              </a:rPr>
              <a:t>Balises</a:t>
            </a:r>
          </a:p>
          <a:p>
            <a:r>
              <a:rPr lang="fr-BE"/>
              <a:t>Super Globales PHP</a:t>
            </a:r>
          </a:p>
          <a:p>
            <a:r>
              <a:rPr lang="fr-BE">
                <a:sym typeface="Calibri"/>
              </a:rPr>
              <a:t>$_GET et $_POST</a:t>
            </a:r>
          </a:p>
          <a:p>
            <a:r>
              <a:rPr lang="fr-BE">
                <a:sym typeface="Calibri"/>
              </a:rPr>
              <a:t>$_SESSION</a:t>
            </a:r>
          </a:p>
          <a:p>
            <a:r>
              <a:rPr lang="fr-BE">
                <a:sym typeface="Calibri"/>
              </a:rPr>
              <a:t>$_COOKIES</a:t>
            </a:r>
          </a:p>
        </p:txBody>
      </p:sp>
      <p:sp>
        <p:nvSpPr>
          <p:cNvPr id="3" name="Espace réservé pour une image  2">
            <a:extLst>
              <a:ext uri="{FF2B5EF4-FFF2-40B4-BE49-F238E27FC236}">
                <a16:creationId xmlns:a16="http://schemas.microsoft.com/office/drawing/2014/main" id="{9E2A9F8B-5759-A6D8-BFFE-36543CB433DC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/>
        <p:txBody>
          <a:bodyPr/>
          <a:lstStyle/>
          <a:p>
            <a:endParaRPr lang="fr-BE"/>
          </a:p>
        </p:txBody>
      </p:sp>
    </p:spTree>
    <p:extLst>
      <p:ext uri="{BB962C8B-B14F-4D97-AF65-F5344CB8AC3E}">
        <p14:creationId xmlns:p14="http://schemas.microsoft.com/office/powerpoint/2010/main" val="305876493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>
        <p14:reveal/>
      </p:transition>
    </mc:Choice>
    <mc:Fallback xmlns="">
      <p:transition spd="slow"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re 3">
            <a:extLst>
              <a:ext uri="{FF2B5EF4-FFF2-40B4-BE49-F238E27FC236}">
                <a16:creationId xmlns:a16="http://schemas.microsoft.com/office/drawing/2014/main" id="{6BC2345B-F403-44E5-97C3-F5BDF024DC4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BE">
                <a:sym typeface="Calibri"/>
              </a:rPr>
              <a:t>Transit des données</a:t>
            </a:r>
            <a:endParaRPr lang="fr-BE"/>
          </a:p>
        </p:txBody>
      </p:sp>
      <p:sp>
        <p:nvSpPr>
          <p:cNvPr id="2" name="Espace réservé du texte 1">
            <a:extLst>
              <a:ext uri="{FF2B5EF4-FFF2-40B4-BE49-F238E27FC236}">
                <a16:creationId xmlns:a16="http://schemas.microsoft.com/office/drawing/2014/main" id="{B8FC7467-3A2C-9409-377D-B7D912D5E2B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BE"/>
          </a:p>
        </p:txBody>
      </p:sp>
      <p:sp>
        <p:nvSpPr>
          <p:cNvPr id="5" name="Espace réservé pour une image  4">
            <a:extLst>
              <a:ext uri="{FF2B5EF4-FFF2-40B4-BE49-F238E27FC236}">
                <a16:creationId xmlns:a16="http://schemas.microsoft.com/office/drawing/2014/main" id="{40318622-D037-2334-20A2-48658796B323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/>
        <p:txBody>
          <a:bodyPr/>
          <a:lstStyle/>
          <a:p>
            <a:endParaRPr lang="fr-BE"/>
          </a:p>
        </p:txBody>
      </p:sp>
    </p:spTree>
    <p:extLst>
      <p:ext uri="{BB962C8B-B14F-4D97-AF65-F5344CB8AC3E}">
        <p14:creationId xmlns:p14="http://schemas.microsoft.com/office/powerpoint/2010/main" val="2850547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>
        <p14:reveal/>
      </p:transition>
    </mc:Choice>
    <mc:Fallback xmlns="">
      <p:transition spd="slow"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9"/>
          <p:cNvSpPr txBox="1"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BE">
                <a:sym typeface="Calibri"/>
              </a:rPr>
              <a:t>Objectifs des formulaires</a:t>
            </a:r>
          </a:p>
        </p:txBody>
      </p:sp>
      <p:sp>
        <p:nvSpPr>
          <p:cNvPr id="45" name="Google Shape;45;p9"/>
          <p:cNvSpPr txBox="1"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fr-BE">
                <a:sym typeface="Calibri"/>
              </a:rPr>
              <a:t>La création d'un formulaire se fait via la balise </a:t>
            </a:r>
            <a:r>
              <a:rPr lang="fr-BE" b="1">
                <a:solidFill>
                  <a:schemeClr val="accent6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Courier New"/>
              </a:rPr>
              <a:t>&lt;form&gt;</a:t>
            </a:r>
          </a:p>
          <a:p>
            <a:r>
              <a:rPr lang="fr-BE">
                <a:sym typeface="Calibri"/>
              </a:rPr>
              <a:t>Les formulaires sont utilisés pour récolter des informations des utilisateurs.</a:t>
            </a:r>
          </a:p>
          <a:p>
            <a:r>
              <a:rPr lang="fr-BE">
                <a:sym typeface="Calibri"/>
              </a:rPr>
              <a:t>Deux problèmes:</a:t>
            </a:r>
          </a:p>
          <a:p>
            <a:pPr lvl="1"/>
            <a:r>
              <a:rPr lang="fr-BE">
                <a:sym typeface="Calibri"/>
              </a:rPr>
              <a:t>Comment envoyer les données au serveur ?</a:t>
            </a:r>
          </a:p>
          <a:p>
            <a:pPr lvl="1"/>
            <a:r>
              <a:rPr lang="fr-BE">
                <a:sym typeface="Calibri"/>
              </a:rPr>
              <a:t>Comment le serveur traite-t-il les données reçues?</a:t>
            </a:r>
          </a:p>
        </p:txBody>
      </p:sp>
    </p:spTree>
    <p:extLst>
      <p:ext uri="{BB962C8B-B14F-4D97-AF65-F5344CB8AC3E}">
        <p14:creationId xmlns:p14="http://schemas.microsoft.com/office/powerpoint/2010/main" val="281717932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>
        <p14:reveal/>
      </p:transition>
    </mc:Choice>
    <mc:Fallback xmlns="">
      <p:transition spd="slow">
        <p:fade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10"/>
          <p:cNvSpPr txBox="1"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BE">
                <a:sym typeface="Calibri"/>
              </a:rPr>
              <a:t>Comment faire transiter les données?</a:t>
            </a:r>
          </a:p>
        </p:txBody>
      </p:sp>
      <p:sp>
        <p:nvSpPr>
          <p:cNvPr id="51" name="Google Shape;51;p10"/>
          <p:cNvSpPr txBox="1"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fr-BE">
                <a:sym typeface="Calibri"/>
              </a:rPr>
              <a:t>Deux méthodes :</a:t>
            </a:r>
          </a:p>
          <a:p>
            <a:pPr lvl="1"/>
            <a:r>
              <a:rPr lang="fr-BE">
                <a:solidFill>
                  <a:schemeClr val="accent2"/>
                </a:solidFill>
                <a:sym typeface="Calibri"/>
              </a:rPr>
              <a:t>GET</a:t>
            </a:r>
            <a:r>
              <a:rPr lang="fr-BE">
                <a:sym typeface="Calibri"/>
              </a:rPr>
              <a:t>: envoie les données dans l'URL de la page</a:t>
            </a:r>
          </a:p>
          <a:p>
            <a:pPr lvl="2"/>
            <a:r>
              <a:rPr lang="fr-BE">
                <a:sym typeface="Courier New"/>
              </a:rPr>
              <a:t>https://www.google.com/search ? </a:t>
            </a:r>
            <a:r>
              <a:rPr lang="fr-BE">
                <a:solidFill>
                  <a:schemeClr val="accent2"/>
                </a:solidFill>
                <a:sym typeface="Courier New"/>
              </a:rPr>
              <a:t>q=</a:t>
            </a:r>
            <a:r>
              <a:rPr lang="fr-BE" err="1">
                <a:solidFill>
                  <a:schemeClr val="accent2"/>
                </a:solidFill>
                <a:sym typeface="Courier New"/>
              </a:rPr>
              <a:t>developpement+photo</a:t>
            </a:r>
            <a:endParaRPr lang="fr-BE">
              <a:solidFill>
                <a:schemeClr val="accent2"/>
              </a:solidFill>
              <a:sym typeface="Courier New"/>
            </a:endParaRPr>
          </a:p>
          <a:p>
            <a:pPr lvl="2"/>
            <a:r>
              <a:rPr lang="fr-BE">
                <a:sym typeface="Calibri"/>
              </a:rPr>
              <a:t>Limité à 255 caractères</a:t>
            </a:r>
          </a:p>
          <a:p>
            <a:pPr lvl="2"/>
            <a:r>
              <a:rPr lang="fr-BE">
                <a:sym typeface="Calibri"/>
              </a:rPr>
              <a:t>Paramètres visibles</a:t>
            </a:r>
          </a:p>
          <a:p>
            <a:pPr lvl="1"/>
            <a:r>
              <a:rPr lang="fr-BE">
                <a:solidFill>
                  <a:schemeClr val="accent2"/>
                </a:solidFill>
                <a:sym typeface="Calibri"/>
              </a:rPr>
              <a:t>POST</a:t>
            </a:r>
            <a:r>
              <a:rPr lang="fr-BE">
                <a:sym typeface="Calibri"/>
              </a:rPr>
              <a:t>: envoie les données via la requête HTTP</a:t>
            </a:r>
          </a:p>
          <a:p>
            <a:pPr lvl="2"/>
            <a:r>
              <a:rPr lang="fr-BE">
                <a:sym typeface="Calibri"/>
              </a:rPr>
              <a:t>Permet de faire transiter un plus gros nombre de caractères</a:t>
            </a:r>
          </a:p>
          <a:p>
            <a:pPr lvl="2"/>
            <a:r>
              <a:rPr lang="fr-BE">
                <a:sym typeface="Calibri"/>
              </a:rPr>
              <a:t>Paramètres invisibles</a:t>
            </a:r>
          </a:p>
          <a:p>
            <a:r>
              <a:rPr lang="fr-BE">
                <a:sym typeface="Calibri"/>
              </a:rPr>
              <a:t>Défini avec l'attribut "</a:t>
            </a:r>
            <a:r>
              <a:rPr lang="fr-BE" err="1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  <a:sym typeface="Courier New"/>
              </a:rPr>
              <a:t>method</a:t>
            </a:r>
            <a:r>
              <a:rPr lang="fr-BE">
                <a:sym typeface="Courier New"/>
              </a:rPr>
              <a:t>"</a:t>
            </a:r>
            <a:r>
              <a:rPr lang="fr-BE">
                <a:sym typeface="Calibri"/>
              </a:rPr>
              <a:t> de la balise </a:t>
            </a:r>
            <a:r>
              <a:rPr lang="fr-BE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  <a:sym typeface="Calibri"/>
              </a:rPr>
              <a:t>&lt;</a:t>
            </a:r>
            <a:r>
              <a:rPr lang="fr-BE" err="1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  <a:sym typeface="Calibri"/>
              </a:rPr>
              <a:t>form</a:t>
            </a:r>
            <a:r>
              <a:rPr lang="fr-BE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  <a:sym typeface="Calibri"/>
              </a:rPr>
              <a:t>&gt;</a:t>
            </a:r>
          </a:p>
          <a:p>
            <a:pPr marL="457189" lvl="1" indent="0">
              <a:buNone/>
            </a:pPr>
            <a:r>
              <a:rPr lang="fr-BE" sz="280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  <a:sym typeface="Calibri"/>
              </a:rPr>
              <a:t>&lt;</a:t>
            </a:r>
            <a:r>
              <a:rPr lang="fr-BE" sz="2800" err="1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  <a:sym typeface="Calibri"/>
              </a:rPr>
              <a:t>form</a:t>
            </a:r>
            <a:r>
              <a:rPr lang="fr-BE" sz="280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  <a:sym typeface="Calibri"/>
              </a:rPr>
              <a:t> </a:t>
            </a:r>
            <a:r>
              <a:rPr lang="fr-BE" sz="2800" err="1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  <a:sym typeface="Courier New"/>
              </a:rPr>
              <a:t>method</a:t>
            </a:r>
            <a:r>
              <a:rPr lang="fr-BE" sz="280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  <a:sym typeface="Courier New"/>
              </a:rPr>
              <a:t>="</a:t>
            </a:r>
            <a:r>
              <a:rPr lang="fr-BE" sz="2800" err="1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  <a:sym typeface="Courier New"/>
              </a:rPr>
              <a:t>get</a:t>
            </a:r>
            <a:r>
              <a:rPr lang="fr-BE" sz="280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  <a:sym typeface="Courier New"/>
              </a:rPr>
              <a:t>" …</a:t>
            </a:r>
          </a:p>
          <a:p>
            <a:pPr marL="457189" lvl="1" indent="0">
              <a:buNone/>
            </a:pPr>
            <a:r>
              <a:rPr lang="fr-BE" sz="280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  <a:sym typeface="Calibri"/>
              </a:rPr>
              <a:t>&lt;</a:t>
            </a:r>
            <a:r>
              <a:rPr lang="fr-BE" sz="2800" err="1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  <a:sym typeface="Calibri"/>
              </a:rPr>
              <a:t>form</a:t>
            </a:r>
            <a:r>
              <a:rPr lang="fr-BE" sz="280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  <a:sym typeface="Calibri"/>
              </a:rPr>
              <a:t> </a:t>
            </a:r>
            <a:r>
              <a:rPr lang="fr-BE" sz="2800" err="1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  <a:sym typeface="Courier New"/>
              </a:rPr>
              <a:t>method</a:t>
            </a:r>
            <a:r>
              <a:rPr lang="fr-BE" sz="280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  <a:sym typeface="Courier New"/>
              </a:rPr>
              <a:t>="post" …</a:t>
            </a:r>
          </a:p>
        </p:txBody>
      </p:sp>
    </p:spTree>
    <p:extLst>
      <p:ext uri="{BB962C8B-B14F-4D97-AF65-F5344CB8AC3E}">
        <p14:creationId xmlns:p14="http://schemas.microsoft.com/office/powerpoint/2010/main" val="176184945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>
        <p14:reveal/>
      </p:transition>
    </mc:Choice>
    <mc:Fallback xmlns=""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11"/>
          <p:cNvSpPr txBox="1"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BE">
                <a:sym typeface="Calibri"/>
              </a:rPr>
              <a:t>Comment traiter les données?</a:t>
            </a:r>
          </a:p>
        </p:txBody>
      </p:sp>
      <p:sp>
        <p:nvSpPr>
          <p:cNvPr id="57" name="Google Shape;57;p11"/>
          <p:cNvSpPr txBox="1"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BE">
                <a:sym typeface="Calibri"/>
              </a:rPr>
              <a:t>Il faut envoyer la requête contenant les données du formulaire (via GET ou POST) à un </a:t>
            </a:r>
            <a:r>
              <a:rPr lang="fr-BE">
                <a:solidFill>
                  <a:schemeClr val="accent2"/>
                </a:solidFill>
                <a:sym typeface="Calibri"/>
              </a:rPr>
              <a:t>script</a:t>
            </a:r>
            <a:r>
              <a:rPr lang="fr-BE">
                <a:sym typeface="Calibri"/>
              </a:rPr>
              <a:t> qui pourra les traiter (ex. page contenant du PHP)</a:t>
            </a:r>
          </a:p>
          <a:p>
            <a:r>
              <a:rPr lang="fr-BE">
                <a:sym typeface="Calibri"/>
              </a:rPr>
              <a:t>Défini avec l'attribut </a:t>
            </a:r>
            <a:r>
              <a:rPr lang="fr-BE">
                <a:sym typeface="Courier New"/>
              </a:rPr>
              <a:t>action</a:t>
            </a:r>
          </a:p>
          <a:p>
            <a:pPr marL="457189" lvl="1" indent="0">
              <a:buNone/>
            </a:pPr>
            <a:r>
              <a:rPr lang="fr-BE" sz="280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  <a:sym typeface="Calibri"/>
              </a:rPr>
              <a:t>&lt;form </a:t>
            </a:r>
            <a:r>
              <a:rPr lang="fr-BE" sz="280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  <a:sym typeface="Courier New"/>
              </a:rPr>
              <a:t>method="get" action="./register.php" …</a:t>
            </a:r>
          </a:p>
        </p:txBody>
      </p:sp>
    </p:spTree>
    <p:extLst>
      <p:ext uri="{BB962C8B-B14F-4D97-AF65-F5344CB8AC3E}">
        <p14:creationId xmlns:p14="http://schemas.microsoft.com/office/powerpoint/2010/main" val="165481567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>
        <p14:reveal/>
      </p:transition>
    </mc:Choice>
    <mc:Fallback xmlns="">
      <p:transition spd="slow">
        <p:fade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12"/>
          <p:cNvSpPr txBox="1"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BE">
                <a:sym typeface="Calibri"/>
              </a:rPr>
              <a:t>Exemple de formulaire</a:t>
            </a:r>
          </a:p>
        </p:txBody>
      </p:sp>
      <p:sp>
        <p:nvSpPr>
          <p:cNvPr id="63" name="Google Shape;63;p12"/>
          <p:cNvSpPr txBox="1"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BE">
                <a:sym typeface="Calibri"/>
              </a:rPr>
              <a:t>Déclaration d'un formulaire</a:t>
            </a:r>
          </a:p>
          <a:p>
            <a:endParaRPr lang="fr-BE">
              <a:sym typeface="Courier New"/>
            </a:endParaRPr>
          </a:p>
          <a:p>
            <a:pPr marL="0" indent="0">
              <a:buNone/>
            </a:pPr>
            <a:r>
              <a:rPr lang="fr-BE" sz="280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  <a:sym typeface="Courier New"/>
              </a:rPr>
              <a:t>&lt;form method="get" action="./register.php"&gt;</a:t>
            </a:r>
          </a:p>
          <a:p>
            <a:pPr marL="0" indent="0">
              <a:buNone/>
            </a:pPr>
            <a:r>
              <a:rPr lang="fr-BE" sz="280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  <a:sym typeface="Courier New"/>
              </a:rPr>
              <a:t>	...</a:t>
            </a:r>
          </a:p>
          <a:p>
            <a:pPr marL="0" indent="0">
              <a:buNone/>
            </a:pPr>
            <a:r>
              <a:rPr lang="fr-BE" sz="280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  <a:sym typeface="Courier New"/>
              </a:rPr>
              <a:t>&lt;/form&gt;</a:t>
            </a:r>
          </a:p>
          <a:p>
            <a:endParaRPr lang="fr-BE"/>
          </a:p>
        </p:txBody>
      </p:sp>
    </p:spTree>
    <p:extLst>
      <p:ext uri="{BB962C8B-B14F-4D97-AF65-F5344CB8AC3E}">
        <p14:creationId xmlns:p14="http://schemas.microsoft.com/office/powerpoint/2010/main" val="257361048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>
        <p14:reveal/>
      </p:transition>
    </mc:Choice>
    <mc:Fallback xmlns="">
      <p:transition spd="slow">
        <p:fade/>
      </p:transition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re 3">
            <a:extLst>
              <a:ext uri="{FF2B5EF4-FFF2-40B4-BE49-F238E27FC236}">
                <a16:creationId xmlns:a16="http://schemas.microsoft.com/office/drawing/2014/main" id="{6BC2345B-F403-44E5-97C3-F5BDF024DC4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BE">
                <a:sym typeface="Calibri"/>
              </a:rPr>
              <a:t>Balises HTML Form</a:t>
            </a:r>
            <a:endParaRPr lang="fr-BE"/>
          </a:p>
        </p:txBody>
      </p:sp>
      <p:sp>
        <p:nvSpPr>
          <p:cNvPr id="2" name="Espace réservé du texte 1">
            <a:extLst>
              <a:ext uri="{FF2B5EF4-FFF2-40B4-BE49-F238E27FC236}">
                <a16:creationId xmlns:a16="http://schemas.microsoft.com/office/drawing/2014/main" id="{6FAA6F38-334B-E8B2-9E64-AE74E2D45E0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BE"/>
              <a:t>Rappel</a:t>
            </a:r>
          </a:p>
        </p:txBody>
      </p:sp>
      <p:pic>
        <p:nvPicPr>
          <p:cNvPr id="6" name="Google Shape;39;p8">
            <a:hlinkClick r:id="rId2"/>
            <a:extLst>
              <a:ext uri="{FF2B5EF4-FFF2-40B4-BE49-F238E27FC236}">
                <a16:creationId xmlns:a16="http://schemas.microsoft.com/office/drawing/2014/main" id="{F73F5139-A5C5-497C-AE5C-231EBB7AE61F}"/>
              </a:ext>
            </a:extLst>
          </p:cNvPr>
          <p:cNvPicPr preferRelativeResize="0">
            <a:picLocks noGrp="1"/>
          </p:cNvPicPr>
          <p:nvPr>
            <p:ph type="pic" sz="quarter" idx="10"/>
          </p:nvPr>
        </p:nvPicPr>
        <p:blipFill>
          <a:blip r:embed="rId3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t="37" b="37"/>
          <a:stretch/>
        </p:blipFill>
        <p:spPr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333540989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>
        <p14:reveal/>
      </p:transition>
    </mc:Choice>
    <mc:Fallback xmlns="">
      <p:transition spd="slow">
        <p:fade/>
      </p:transition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Google Shape;68;p13"/>
          <p:cNvSpPr txBox="1"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BE">
                <a:sym typeface="Calibri"/>
              </a:rPr>
              <a:t>La balise &lt;input&gt;</a:t>
            </a:r>
          </a:p>
        </p:txBody>
      </p:sp>
      <p:sp>
        <p:nvSpPr>
          <p:cNvPr id="69" name="Google Shape;69;p13"/>
          <p:cNvSpPr txBox="1"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fr-BE">
                <a:sym typeface="Calibri"/>
              </a:rPr>
              <a:t>L'élément le plus populaire d'un formulaire est la balise </a:t>
            </a:r>
            <a:r>
              <a:rPr lang="fr-BE" sz="320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  <a:sym typeface="Courier New"/>
              </a:rPr>
              <a:t>&lt;input&gt;</a:t>
            </a:r>
            <a:r>
              <a:rPr lang="fr-BE">
                <a:sym typeface="Courier New"/>
              </a:rPr>
              <a:t>.</a:t>
            </a:r>
            <a:endParaRPr lang="fr-BE" b="1">
              <a:solidFill>
                <a:schemeClr val="accent6">
                  <a:lumMod val="50000"/>
                </a:schemeClr>
              </a:solidFill>
              <a:latin typeface="Courier New" panose="02070309020205020404" pitchFamily="49" charset="0"/>
              <a:cs typeface="Courier New" panose="02070309020205020404" pitchFamily="49" charset="0"/>
              <a:sym typeface="Courier New"/>
            </a:endParaRPr>
          </a:p>
          <a:p>
            <a:pPr lvl="1"/>
            <a:r>
              <a:rPr lang="fr-BE">
                <a:sym typeface="Calibri"/>
              </a:rPr>
              <a:t>utilisé de nombreuses manières différentes </a:t>
            </a:r>
          </a:p>
          <a:p>
            <a:pPr lvl="1"/>
            <a:r>
              <a:rPr lang="fr-BE">
                <a:sym typeface="Calibri"/>
              </a:rPr>
              <a:t>en fonction de la valeur de son attribut </a:t>
            </a:r>
            <a:r>
              <a:rPr lang="fr-BE" sz="280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  <a:sym typeface="Courier New"/>
              </a:rPr>
              <a:t>type</a:t>
            </a:r>
            <a:r>
              <a:rPr lang="fr-BE">
                <a:sym typeface="Courier New"/>
              </a:rPr>
              <a:t>.</a:t>
            </a:r>
          </a:p>
          <a:p>
            <a:endParaRPr lang="fr-BE">
              <a:sym typeface="Courier New"/>
            </a:endParaRPr>
          </a:p>
        </p:txBody>
      </p:sp>
      <p:pic>
        <p:nvPicPr>
          <p:cNvPr id="2" name="Google Shape;85;p15">
            <a:extLst>
              <a:ext uri="{FF2B5EF4-FFF2-40B4-BE49-F238E27FC236}">
                <a16:creationId xmlns:a16="http://schemas.microsoft.com/office/drawing/2014/main" id="{BCC30021-91CF-4250-9BFF-80E4289A7D29}"/>
              </a:ext>
            </a:extLst>
          </p:cNvPr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180913" y="5167311"/>
            <a:ext cx="1624211" cy="1143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3" name="Google Shape;76;p14">
            <a:extLst>
              <a:ext uri="{FF2B5EF4-FFF2-40B4-BE49-F238E27FC236}">
                <a16:creationId xmlns:a16="http://schemas.microsoft.com/office/drawing/2014/main" id="{F731EA1D-4F65-C8E5-D028-0B737517A8A4}"/>
              </a:ext>
            </a:extLst>
          </p:cNvPr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371218" y="3933827"/>
            <a:ext cx="5225811" cy="643038"/>
          </a:xfrm>
          <a:prstGeom prst="rect">
            <a:avLst/>
          </a:prstGeom>
          <a:noFill/>
          <a:ln>
            <a:noFill/>
          </a:ln>
        </p:spPr>
      </p:pic>
      <p:pic>
        <p:nvPicPr>
          <p:cNvPr id="4" name="Google Shape;90;p16">
            <a:extLst>
              <a:ext uri="{FF2B5EF4-FFF2-40B4-BE49-F238E27FC236}">
                <a16:creationId xmlns:a16="http://schemas.microsoft.com/office/drawing/2014/main" id="{6C7FA848-CAE6-D450-D281-9BF7BBF293D6}"/>
              </a:ext>
            </a:extLst>
          </p:cNvPr>
          <p:cNvPicPr preferRelativeResize="0"/>
          <p:nvPr/>
        </p:nvPicPr>
        <p:blipFill rotWithShape="1">
          <a:blip r:embed="rId5">
            <a:alphaModFix/>
          </a:blip>
          <a:srcRect l="28074"/>
          <a:stretch/>
        </p:blipFill>
        <p:spPr>
          <a:xfrm>
            <a:off x="3147837" y="4687395"/>
            <a:ext cx="2088457" cy="1805480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363143382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>
        <p14:reveal/>
      </p:transition>
    </mc:Choice>
    <mc:Fallback xmlns="">
      <p:transition spd="slow">
        <p:fade/>
      </p:transition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18"/>
          <p:cNvSpPr txBox="1"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BE">
                <a:sym typeface="Calibri"/>
              </a:rPr>
              <a:t>Autres balises</a:t>
            </a:r>
          </a:p>
        </p:txBody>
      </p:sp>
      <p:sp>
        <p:nvSpPr>
          <p:cNvPr id="104" name="Google Shape;104;p18"/>
          <p:cNvSpPr txBox="1"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BE" sz="320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  <a:sym typeface="Courier New"/>
              </a:rPr>
              <a:t>&lt;textarea rows="10" cols="30"&gt;</a:t>
            </a:r>
          </a:p>
          <a:p>
            <a:r>
              <a:rPr lang="fr-BE" sz="320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  <a:sym typeface="Courier New"/>
              </a:rPr>
              <a:t>&lt;input list="browsers"&gt;</a:t>
            </a:r>
            <a:br>
              <a:rPr lang="fr-BE" sz="320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  <a:sym typeface="Courier New"/>
              </a:rPr>
            </a:br>
            <a:r>
              <a:rPr lang="fr-BE" sz="320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  <a:sym typeface="Courier New"/>
              </a:rPr>
              <a:t>&lt;datalist id="browsers"&gt;</a:t>
            </a:r>
          </a:p>
          <a:p>
            <a:r>
              <a:rPr lang="fr-BE" sz="320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  <a:sym typeface="Courier New"/>
              </a:rPr>
              <a:t>&lt;label for="male"&gt;Male&lt;/label&gt;</a:t>
            </a:r>
          </a:p>
          <a:p>
            <a:r>
              <a:rPr lang="fr-BE" sz="320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&lt;input type="color"&gt;</a:t>
            </a:r>
          </a:p>
          <a:p>
            <a:endParaRPr lang="fr-BE" b="1">
              <a:solidFill>
                <a:schemeClr val="accent6">
                  <a:lumMod val="50000"/>
                </a:schemeClr>
              </a:solidFill>
              <a:latin typeface="Courier New" panose="02070309020205020404" pitchFamily="49" charset="0"/>
              <a:cs typeface="Courier New" panose="02070309020205020404" pitchFamily="49" charset="0"/>
              <a:sym typeface="Courier New"/>
            </a:endParaRPr>
          </a:p>
          <a:p>
            <a:endParaRPr lang="fr-BE" b="1">
              <a:solidFill>
                <a:schemeClr val="accent6">
                  <a:lumMod val="50000"/>
                </a:schemeClr>
              </a:solidFill>
              <a:latin typeface="Courier New" panose="02070309020205020404" pitchFamily="49" charset="0"/>
              <a:cs typeface="Courier New" panose="02070309020205020404" pitchFamily="49" charset="0"/>
              <a:sym typeface="Courier New"/>
            </a:endParaRPr>
          </a:p>
          <a:p>
            <a:endParaRPr lang="fr-BE" b="1">
              <a:solidFill>
                <a:schemeClr val="accent6">
                  <a:lumMod val="50000"/>
                </a:schemeClr>
              </a:solidFill>
              <a:latin typeface="Courier New" panose="02070309020205020404" pitchFamily="49" charset="0"/>
              <a:cs typeface="Courier New" panose="02070309020205020404" pitchFamily="49" charset="0"/>
              <a:sym typeface="Courier New"/>
            </a:endParaRPr>
          </a:p>
          <a:p>
            <a:endParaRPr lang="fr-BE"/>
          </a:p>
        </p:txBody>
      </p:sp>
      <p:pic>
        <p:nvPicPr>
          <p:cNvPr id="4" name="Picture 3"/>
          <p:cNvPicPr>
            <a:picLocks noChangeAspect="1"/>
          </p:cNvPicPr>
          <p:nvPr/>
        </p:nvPicPr>
        <p:blipFill rotWithShape="1">
          <a:blip r:embed="rId3"/>
          <a:srcRect b="51013"/>
          <a:stretch/>
        </p:blipFill>
        <p:spPr>
          <a:xfrm>
            <a:off x="-190623" y="5625681"/>
            <a:ext cx="4888830" cy="1232319"/>
          </a:xfrm>
          <a:prstGeom prst="rect">
            <a:avLst/>
          </a:prstGeom>
        </p:spPr>
      </p:pic>
      <p:pic>
        <p:nvPicPr>
          <p:cNvPr id="2" name="Picture 1">
            <a:extLst>
              <a:ext uri="{FF2B5EF4-FFF2-40B4-BE49-F238E27FC236}">
                <a16:creationId xmlns:a16="http://schemas.microsoft.com/office/drawing/2014/main" id="{EBF3DCBF-FE03-AB66-602E-A79ADF691C8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198321" y="4770304"/>
            <a:ext cx="2521692" cy="2180522"/>
          </a:xfrm>
          <a:prstGeom prst="rect">
            <a:avLst/>
          </a:prstGeom>
        </p:spPr>
      </p:pic>
      <p:pic>
        <p:nvPicPr>
          <p:cNvPr id="3" name="Content Placeholder 8">
            <a:extLst>
              <a:ext uri="{FF2B5EF4-FFF2-40B4-BE49-F238E27FC236}">
                <a16:creationId xmlns:a16="http://schemas.microsoft.com/office/drawing/2014/main" id="{DBF4EEA7-97CC-156E-7BA5-8096A6C8CF1D}"/>
              </a:ext>
            </a:extLst>
          </p:cNvPr>
          <p:cNvPicPr>
            <a:picLocks noChangeAspect="1"/>
          </p:cNvPicPr>
          <p:nvPr/>
        </p:nvPicPr>
        <p:blipFill>
          <a:blip r:embed="rId5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8558213" y="4245602"/>
            <a:ext cx="3633787" cy="261239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7399719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>
        <p14:reveal/>
      </p:transition>
    </mc:Choice>
    <mc:Fallback xmlns="">
      <p:transition spd="slow">
        <p:fade/>
      </p:transition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3"/>
          <p:cNvSpPr txBox="1"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BE"/>
              <a:t>Soumettre un formulaire </a:t>
            </a:r>
          </a:p>
        </p:txBody>
      </p:sp>
      <p:sp>
        <p:nvSpPr>
          <p:cNvPr id="135" name="Google Shape;135;p23"/>
          <p:cNvSpPr txBox="1"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fr-BE">
                <a:sym typeface="Calibri"/>
              </a:rPr>
              <a:t>Une fois rempli, le formulaire est "soumis au serveur", càd que les données y sont envoyées.</a:t>
            </a:r>
          </a:p>
          <a:p>
            <a:r>
              <a:rPr lang="fr-BE">
                <a:sym typeface="Calibri"/>
              </a:rPr>
              <a:t>Bouton de type “</a:t>
            </a:r>
            <a:r>
              <a:rPr lang="fr-BE" err="1">
                <a:solidFill>
                  <a:schemeClr val="accent2"/>
                </a:solidFill>
                <a:sym typeface="Calibri"/>
              </a:rPr>
              <a:t>submit</a:t>
            </a:r>
            <a:r>
              <a:rPr lang="fr-BE">
                <a:sym typeface="Calibri"/>
              </a:rPr>
              <a:t>” </a:t>
            </a:r>
          </a:p>
          <a:p>
            <a:pPr marL="457189" lvl="1" indent="0">
              <a:buNone/>
            </a:pPr>
            <a:r>
              <a:rPr lang="fr-BE" sz="300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  <a:sym typeface="Courier New"/>
              </a:rPr>
              <a:t>&lt;</a:t>
            </a:r>
            <a:r>
              <a:rPr lang="fr-BE" sz="3000" err="1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  <a:sym typeface="Courier New"/>
              </a:rPr>
              <a:t>button</a:t>
            </a:r>
            <a:r>
              <a:rPr lang="fr-BE" sz="300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  <a:sym typeface="Courier New"/>
              </a:rPr>
              <a:t> type="</a:t>
            </a:r>
            <a:r>
              <a:rPr lang="fr-BE" sz="3000" err="1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  <a:sym typeface="Courier New"/>
              </a:rPr>
              <a:t>submit</a:t>
            </a:r>
            <a:r>
              <a:rPr lang="fr-BE" sz="300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  <a:sym typeface="Courier New"/>
              </a:rPr>
              <a:t>"&gt;S'inscrire&lt;/</a:t>
            </a:r>
            <a:r>
              <a:rPr lang="fr-BE" sz="3000" err="1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  <a:sym typeface="Courier New"/>
              </a:rPr>
              <a:t>button</a:t>
            </a:r>
            <a:r>
              <a:rPr lang="fr-BE" sz="300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  <a:sym typeface="Courier New"/>
              </a:rPr>
              <a:t>&gt;</a:t>
            </a:r>
            <a:endParaRPr lang="fr-BE" sz="3000">
              <a:solidFill>
                <a:schemeClr val="accent6">
                  <a:lumMod val="50000"/>
                </a:schemeClr>
              </a:solidFill>
              <a:latin typeface="Consolas" panose="020B0609020204030204" pitchFamily="49" charset="0"/>
              <a:cs typeface="Courier New" panose="02070309020205020404" pitchFamily="49" charset="0"/>
              <a:sym typeface="Calibri"/>
            </a:endParaRPr>
          </a:p>
          <a:p>
            <a:pPr lvl="1"/>
            <a:r>
              <a:rPr lang="fr-BE">
                <a:sym typeface="Calibri"/>
              </a:rPr>
              <a:t>remarque : il existe un codage ancien</a:t>
            </a:r>
            <a:br>
              <a:rPr lang="fr-BE">
                <a:sym typeface="Calibri"/>
              </a:rPr>
            </a:br>
            <a:r>
              <a:rPr lang="fr-BE" sz="300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  <a:sym typeface="Courier New"/>
              </a:rPr>
              <a:t>&lt;input type="</a:t>
            </a:r>
            <a:r>
              <a:rPr lang="fr-BE" sz="3000" err="1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  <a:sym typeface="Courier New"/>
              </a:rPr>
              <a:t>submit</a:t>
            </a:r>
            <a:r>
              <a:rPr lang="fr-BE" sz="300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  <a:sym typeface="Courier New"/>
              </a:rPr>
              <a:t>" value="S'inscrire"&gt;</a:t>
            </a:r>
            <a:endParaRPr lang="fr-BE">
              <a:solidFill>
                <a:schemeClr val="accent6">
                  <a:lumMod val="50000"/>
                </a:schemeClr>
              </a:solidFill>
              <a:latin typeface="Consolas" panose="020B0609020204030204" pitchFamily="49" charset="0"/>
              <a:cs typeface="Courier New" panose="02070309020205020404" pitchFamily="49" charset="0"/>
              <a:sym typeface="Courier New"/>
            </a:endParaRPr>
          </a:p>
          <a:p>
            <a:r>
              <a:rPr lang="fr-BE">
                <a:sym typeface="Calibri"/>
              </a:rPr>
              <a:t>Bouton de type “</a:t>
            </a:r>
            <a:r>
              <a:rPr lang="fr-BE" err="1">
                <a:solidFill>
                  <a:schemeClr val="accent2"/>
                </a:solidFill>
                <a:sym typeface="Calibri"/>
              </a:rPr>
              <a:t>button</a:t>
            </a:r>
            <a:r>
              <a:rPr lang="fr-BE">
                <a:sym typeface="Calibri"/>
              </a:rPr>
              <a:t>”</a:t>
            </a:r>
          </a:p>
          <a:p>
            <a:pPr lvl="1"/>
            <a:r>
              <a:rPr lang="fr-BE">
                <a:sym typeface="Calibri"/>
              </a:rPr>
              <a:t>appel d'un code JavaScript = programmation !</a:t>
            </a:r>
          </a:p>
          <a:p>
            <a:pPr lvl="1"/>
            <a:r>
              <a:rPr lang="fr-BE">
                <a:sym typeface="Calibri"/>
              </a:rPr>
              <a:t>formulaire non envoyé automatiquement au serveur</a:t>
            </a:r>
          </a:p>
          <a:p>
            <a:pPr lvl="1"/>
            <a:r>
              <a:rPr lang="fr-BE">
                <a:sym typeface="Calibri"/>
              </a:rPr>
              <a:t>exemple : un tel bouton peut valider les input, envoyer le </a:t>
            </a:r>
            <a:r>
              <a:rPr lang="fr-BE" err="1">
                <a:sym typeface="Calibri"/>
              </a:rPr>
              <a:t>form</a:t>
            </a:r>
            <a:r>
              <a:rPr lang="fr-BE">
                <a:sym typeface="Calibri"/>
              </a:rPr>
              <a:t> au serveur et afficher "veuillez patienter".</a:t>
            </a:r>
          </a:p>
        </p:txBody>
      </p:sp>
      <p:pic>
        <p:nvPicPr>
          <p:cNvPr id="136" name="Google Shape;136;p23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8483171" y="632668"/>
            <a:ext cx="2196375" cy="921350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51433829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>
        <p14:reveal/>
      </p:transition>
    </mc:Choice>
    <mc:Fallback xmlns="">
      <p:transition spd="slow">
        <p:fade/>
      </p:transition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5C0BBCCE-1F42-461F-8A23-86524CC68B1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BE"/>
              <a:t>Exo 01 : Sample "Atomic" Form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145875B2-75BB-4B16-80B8-D47D82AD71C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690689"/>
            <a:ext cx="10515600" cy="2181224"/>
          </a:xfrm>
        </p:spPr>
        <p:txBody>
          <a:bodyPr numCol="1">
            <a:normAutofit lnSpcReduction="10000"/>
          </a:bodyPr>
          <a:lstStyle/>
          <a:p>
            <a:r>
              <a:rPr lang="fr-BE"/>
              <a:t>Télécharger et placer dans le WAMP les deux fichiers </a:t>
            </a:r>
          </a:p>
          <a:p>
            <a:pPr lvl="1">
              <a:lnSpc>
                <a:spcPct val="100000"/>
              </a:lnSpc>
            </a:pPr>
            <a:r>
              <a:rPr lang="en-US" sz="280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exo01_sample_atomic_form.html</a:t>
            </a:r>
            <a:endParaRPr lang="fr-BE" sz="2800">
              <a:solidFill>
                <a:schemeClr val="accent6">
                  <a:lumMod val="50000"/>
                </a:schemeClr>
              </a:solidFill>
              <a:latin typeface="Consolas" panose="020B0609020204030204" pitchFamily="49" charset="0"/>
              <a:cs typeface="Courier New" panose="02070309020205020404" pitchFamily="49" charset="0"/>
            </a:endParaRPr>
          </a:p>
          <a:p>
            <a:pPr lvl="1">
              <a:lnSpc>
                <a:spcPct val="100000"/>
              </a:lnSpc>
            </a:pPr>
            <a:r>
              <a:rPr lang="en-US" sz="280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exo01_sample_atomic_form.php</a:t>
            </a:r>
          </a:p>
          <a:p>
            <a:r>
              <a:rPr lang="fr-BE"/>
              <a:t>Démo de </a:t>
            </a:r>
          </a:p>
          <a:p>
            <a:endParaRPr lang="en-US"/>
          </a:p>
          <a:p>
            <a:endParaRPr lang="en-US"/>
          </a:p>
          <a:p>
            <a:endParaRPr lang="en-US"/>
          </a:p>
        </p:txBody>
      </p:sp>
      <p:sp>
        <p:nvSpPr>
          <p:cNvPr id="4" name="Espace réservé du contenu 3">
            <a:extLst>
              <a:ext uri="{FF2B5EF4-FFF2-40B4-BE49-F238E27FC236}">
                <a16:creationId xmlns:a16="http://schemas.microsoft.com/office/drawing/2014/main" id="{42F5B0D2-F4F6-4962-92C4-9372257CD4C0}"/>
              </a:ext>
            </a:extLst>
          </p:cNvPr>
          <p:cNvSpPr>
            <a:spLocks noGrp="1"/>
          </p:cNvSpPr>
          <p:nvPr>
            <p:ph sz="half" idx="4294967295"/>
          </p:nvPr>
        </p:nvSpPr>
        <p:spPr>
          <a:xfrm>
            <a:off x="0" y="3730625"/>
            <a:ext cx="10766425" cy="2747963"/>
          </a:xfrm>
        </p:spPr>
        <p:txBody>
          <a:bodyPr numCol="2">
            <a:normAutofit/>
          </a:bodyPr>
          <a:lstStyle/>
          <a:p>
            <a:pPr lvl="1"/>
            <a:r>
              <a:rPr lang="fr-BE"/>
              <a:t>Input type </a:t>
            </a:r>
            <a:r>
              <a:rPr lang="fr-BE" err="1"/>
              <a:t>text</a:t>
            </a:r>
            <a:endParaRPr lang="fr-BE"/>
          </a:p>
          <a:p>
            <a:pPr lvl="1"/>
            <a:r>
              <a:rPr lang="fr-BE"/>
              <a:t>Input type </a:t>
            </a:r>
            <a:r>
              <a:rPr lang="fr-BE" err="1"/>
              <a:t>password</a:t>
            </a:r>
            <a:endParaRPr lang="fr-BE"/>
          </a:p>
          <a:p>
            <a:pPr lvl="1"/>
            <a:r>
              <a:rPr lang="fr-BE"/>
              <a:t>Input type radio </a:t>
            </a:r>
          </a:p>
          <a:p>
            <a:pPr lvl="1"/>
            <a:r>
              <a:rPr lang="fr-BE"/>
              <a:t>Input type </a:t>
            </a:r>
            <a:r>
              <a:rPr lang="fr-BE" err="1"/>
              <a:t>checkbox</a:t>
            </a:r>
            <a:endParaRPr lang="fr-BE"/>
          </a:p>
          <a:p>
            <a:pPr lvl="1"/>
            <a:r>
              <a:rPr lang="fr-BE"/>
              <a:t>Select option</a:t>
            </a:r>
          </a:p>
          <a:p>
            <a:pPr lvl="1"/>
            <a:r>
              <a:rPr lang="fr-BE"/>
              <a:t>Input + Datalist</a:t>
            </a:r>
          </a:p>
          <a:p>
            <a:pPr lvl="1"/>
            <a:r>
              <a:rPr lang="fr-BE"/>
              <a:t>Input type color</a:t>
            </a:r>
          </a:p>
          <a:p>
            <a:pPr lvl="1"/>
            <a:r>
              <a:rPr lang="fr-BE"/>
              <a:t>Input type range</a:t>
            </a:r>
          </a:p>
          <a:p>
            <a:pPr lvl="1"/>
            <a:r>
              <a:rPr lang="fr-BE"/>
              <a:t>Button type </a:t>
            </a:r>
            <a:r>
              <a:rPr lang="fr-BE" err="1"/>
              <a:t>submit</a:t>
            </a:r>
            <a:endParaRPr lang="fr-BE"/>
          </a:p>
          <a:p>
            <a:pPr lvl="1"/>
            <a:r>
              <a:rPr lang="fr-BE"/>
              <a:t>Button type button</a:t>
            </a:r>
          </a:p>
        </p:txBody>
      </p:sp>
    </p:spTree>
    <p:extLst>
      <p:ext uri="{BB962C8B-B14F-4D97-AF65-F5344CB8AC3E}">
        <p14:creationId xmlns:p14="http://schemas.microsoft.com/office/powerpoint/2010/main" val="103318257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>
        <p14:reveal/>
      </p:transition>
    </mc:Choice>
    <mc:Fallback xmlns="">
      <p:transition spd="slow">
        <p:fade/>
      </p:transition>
    </mc:Fallback>
  </mc:AlternateConten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5C0BBCCE-1F42-461F-8A23-86524CC68B1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BE"/>
              <a:t>Exo 03 : Sample "Molecular" Form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145875B2-75BB-4B16-80B8-D47D82AD71C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690689"/>
            <a:ext cx="10515600" cy="4802186"/>
          </a:xfrm>
        </p:spPr>
        <p:txBody>
          <a:bodyPr numCol="1">
            <a:normAutofit/>
          </a:bodyPr>
          <a:lstStyle/>
          <a:p>
            <a:r>
              <a:rPr lang="fr-BE"/>
              <a:t>Télécharger et placer dans le WAMP les deux fichiers </a:t>
            </a:r>
          </a:p>
          <a:p>
            <a:pPr lvl="1"/>
            <a:r>
              <a:rPr lang="en-US" sz="280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exo03_sample_atomic_form.html</a:t>
            </a:r>
            <a:endParaRPr lang="fr-BE" sz="2800">
              <a:solidFill>
                <a:schemeClr val="accent6">
                  <a:lumMod val="50000"/>
                </a:schemeClr>
              </a:solidFill>
              <a:latin typeface="Consolas" panose="020B0609020204030204" pitchFamily="49" charset="0"/>
              <a:cs typeface="Courier New" panose="02070309020205020404" pitchFamily="49" charset="0"/>
            </a:endParaRPr>
          </a:p>
          <a:p>
            <a:pPr lvl="1"/>
            <a:r>
              <a:rPr lang="en-US" sz="280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exo03_sample_atomic_form.php</a:t>
            </a:r>
            <a:endParaRPr lang="en-US">
              <a:solidFill>
                <a:schemeClr val="accent6">
                  <a:lumMod val="50000"/>
                </a:schemeClr>
              </a:solidFill>
              <a:latin typeface="Consolas" panose="020B0609020204030204" pitchFamily="49" charset="0"/>
              <a:cs typeface="Courier New" panose="02070309020205020404" pitchFamily="49" charset="0"/>
            </a:endParaRPr>
          </a:p>
          <a:p>
            <a:r>
              <a:rPr lang="fr-BE"/>
              <a:t>Démo de</a:t>
            </a:r>
          </a:p>
          <a:p>
            <a:pPr lvl="1"/>
            <a:r>
              <a:rPr lang="fr-BE"/>
              <a:t>Image Upload</a:t>
            </a:r>
          </a:p>
          <a:p>
            <a:pPr lvl="1"/>
            <a:r>
              <a:rPr lang="fr-BE"/>
              <a:t>File Upload</a:t>
            </a:r>
          </a:p>
        </p:txBody>
      </p:sp>
    </p:spTree>
    <p:extLst>
      <p:ext uri="{BB962C8B-B14F-4D97-AF65-F5344CB8AC3E}">
        <p14:creationId xmlns:p14="http://schemas.microsoft.com/office/powerpoint/2010/main" val="141926529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>
        <p14:reveal/>
      </p:transition>
    </mc:Choice>
    <mc:Fallback xmlns="">
      <p:transition spd="slow">
        <p:fade/>
      </p:transition>
    </mc:Fallback>
  </mc:AlternateContent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7"/>
          <p:cNvSpPr txBox="1"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fr-BE"/>
              <a:t>Exo 05 : Catalogue + </a:t>
            </a:r>
            <a:r>
              <a:rPr lang="fr-BE" err="1"/>
              <a:t>Form</a:t>
            </a:r>
            <a:r>
              <a:rPr lang="fr-BE"/>
              <a:t> Input</a:t>
            </a:r>
          </a:p>
        </p:txBody>
      </p:sp>
      <p:sp>
        <p:nvSpPr>
          <p:cNvPr id="162" name="Google Shape;162;p27"/>
          <p:cNvSpPr txBox="1">
            <a:spLocks noGrp="1"/>
          </p:cNvSpPr>
          <p:nvPr>
            <p:ph sz="half" idx="1"/>
          </p:nvPr>
        </p:nvSpPr>
        <p:spPr/>
        <p:txBody>
          <a:bodyPr>
            <a:normAutofit lnSpcReduction="10000"/>
          </a:bodyPr>
          <a:lstStyle/>
          <a:p>
            <a:r>
              <a:rPr lang="fr-BE"/>
              <a:t>Créer un formulaire qui permet d’ajouter des éléments dans le tableau HTML.</a:t>
            </a:r>
          </a:p>
          <a:p>
            <a:r>
              <a:rPr lang="fr-BE"/>
              <a:t>Ci-contre un exemple de formulaire.</a:t>
            </a:r>
          </a:p>
          <a:p>
            <a:r>
              <a:rPr lang="fr-BE"/>
              <a:t>fichiers exo :</a:t>
            </a:r>
          </a:p>
          <a:p>
            <a:pPr lvl="1"/>
            <a:r>
              <a:rPr lang="fr-BE" sz="260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</a:rPr>
              <a:t>database_catalogue.csv</a:t>
            </a:r>
          </a:p>
          <a:p>
            <a:pPr lvl="1"/>
            <a:r>
              <a:rPr lang="fr-BE" sz="260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</a:rPr>
              <a:t>exo05_reading_csv.php</a:t>
            </a:r>
          </a:p>
        </p:txBody>
      </p:sp>
      <p:pic>
        <p:nvPicPr>
          <p:cNvPr id="9" name="Google Shape;163;p27"/>
          <p:cNvPicPr preferRelativeResize="0">
            <a:picLocks noGrp="1"/>
          </p:cNvPicPr>
          <p:nvPr>
            <p:ph sz="half" idx="2"/>
          </p:nvPr>
        </p:nvPicPr>
        <p:blipFill>
          <a:blip r:embed="rId3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6172200" y="2863891"/>
            <a:ext cx="5181600" cy="2139869"/>
          </a:xfrm>
          <a:prstGeom prst="rect">
            <a:avLst/>
          </a:prstGeom>
          <a:noFill/>
          <a:ln>
            <a:noFill/>
          </a:ln>
        </p:spPr>
      </p:pic>
      <p:pic>
        <p:nvPicPr>
          <p:cNvPr id="6" name="Google Shape;156;p26">
            <a:extLst>
              <a:ext uri="{FF2B5EF4-FFF2-40B4-BE49-F238E27FC236}">
                <a16:creationId xmlns:a16="http://schemas.microsoft.com/office/drawing/2014/main" id="{C6B25BE4-F46D-4286-874D-3AA1AB1ACA87}"/>
              </a:ext>
            </a:extLst>
          </p:cNvPr>
          <p:cNvPicPr preferRelativeResize="0">
            <a:picLocks/>
          </p:cNvPicPr>
          <p:nvPr/>
        </p:nvPicPr>
        <p:blipFill rotWithShape="1">
          <a:blip r:embed="rId4">
            <a:alphaModFix/>
          </a:blip>
          <a:srcRect r="18798" b="26254"/>
          <a:stretch/>
        </p:blipFill>
        <p:spPr>
          <a:xfrm>
            <a:off x="7390032" y="1401478"/>
            <a:ext cx="3673983" cy="2886419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39756194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>
        <p14:reveal/>
      </p:transition>
    </mc:Choice>
    <mc:Fallback xmlns="">
      <p:transition spd="slow">
        <p:fade/>
      </p:transition>
    </mc:Fallback>
  </mc:AlternateContent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p30"/>
          <p:cNvSpPr txBox="1"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BE"/>
              <a:t>Super Globales : $_GET et $_POST</a:t>
            </a:r>
          </a:p>
        </p:txBody>
      </p:sp>
      <p:sp>
        <p:nvSpPr>
          <p:cNvPr id="2" name="Espace réservé du texte 1">
            <a:extLst>
              <a:ext uri="{FF2B5EF4-FFF2-40B4-BE49-F238E27FC236}">
                <a16:creationId xmlns:a16="http://schemas.microsoft.com/office/drawing/2014/main" id="{41F1FFBC-B412-2DC0-CC34-28465DACD50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BE"/>
          </a:p>
        </p:txBody>
      </p:sp>
      <p:sp>
        <p:nvSpPr>
          <p:cNvPr id="4" name="Espace réservé pour une image  3">
            <a:extLst>
              <a:ext uri="{FF2B5EF4-FFF2-40B4-BE49-F238E27FC236}">
                <a16:creationId xmlns:a16="http://schemas.microsoft.com/office/drawing/2014/main" id="{E580BD68-B2D7-CD7F-664C-0BDC3E6E39ED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/>
        <p:txBody>
          <a:bodyPr/>
          <a:lstStyle/>
          <a:p>
            <a:endParaRPr lang="fr-BE"/>
          </a:p>
        </p:txBody>
      </p:sp>
    </p:spTree>
    <p:extLst>
      <p:ext uri="{BB962C8B-B14F-4D97-AF65-F5344CB8AC3E}">
        <p14:creationId xmlns:p14="http://schemas.microsoft.com/office/powerpoint/2010/main" val="81318914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>
        <p14:reveal/>
      </p:transition>
    </mc:Choice>
    <mc:Fallback xmlns="">
      <p:transition spd="slow">
        <p:fade/>
      </p:transition>
    </mc:Fallback>
  </mc:AlternateContent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31"/>
          <p:cNvSpPr txBox="1"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BE"/>
              <a:t>$_GET et $_POST</a:t>
            </a:r>
          </a:p>
        </p:txBody>
      </p:sp>
      <p:sp>
        <p:nvSpPr>
          <p:cNvPr id="188" name="Google Shape;188;p31"/>
          <p:cNvSpPr txBox="1"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BE"/>
              <a:t>Les variables super globales </a:t>
            </a:r>
            <a:r>
              <a:rPr lang="fr-BE" sz="320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  <a:sym typeface="Courier New"/>
              </a:rPr>
              <a:t>$_GET</a:t>
            </a:r>
            <a:r>
              <a:rPr lang="fr-BE"/>
              <a:t> et </a:t>
            </a:r>
            <a:r>
              <a:rPr lang="fr-BE" sz="320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  <a:sym typeface="Courier New"/>
              </a:rPr>
              <a:t>$_POST</a:t>
            </a:r>
            <a:r>
              <a:rPr lang="fr-BE"/>
              <a:t> permettent de récupérer des données envoyées via l’url ou la requête HTTP</a:t>
            </a:r>
          </a:p>
          <a:p>
            <a:r>
              <a:rPr lang="fr-BE" sz="320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  <a:sym typeface="Courier New"/>
              </a:rPr>
              <a:t>$_GET</a:t>
            </a:r>
            <a:r>
              <a:rPr lang="fr-BE" sz="320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 		</a:t>
            </a:r>
            <a:r>
              <a:rPr lang="fr-BE"/>
              <a:t>: 	url</a:t>
            </a:r>
          </a:p>
          <a:p>
            <a:r>
              <a:rPr lang="fr-BE" sz="320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  <a:sym typeface="Courier New"/>
              </a:rPr>
              <a:t>$_POST	</a:t>
            </a:r>
            <a:r>
              <a:rPr lang="fr-BE" sz="320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 	</a:t>
            </a:r>
            <a:r>
              <a:rPr lang="fr-BE"/>
              <a:t>:	http</a:t>
            </a:r>
          </a:p>
          <a:p>
            <a:endParaRPr lang="fr-BE"/>
          </a:p>
          <a:p>
            <a:endParaRPr lang="fr-BE"/>
          </a:p>
        </p:txBody>
      </p:sp>
    </p:spTree>
    <p:extLst>
      <p:ext uri="{BB962C8B-B14F-4D97-AF65-F5344CB8AC3E}">
        <p14:creationId xmlns:p14="http://schemas.microsoft.com/office/powerpoint/2010/main" val="190207529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>
        <p14:reveal/>
      </p:transition>
    </mc:Choice>
    <mc:Fallback xmlns="">
      <p:transition spd="slow">
        <p:fade/>
      </p:transition>
    </mc:Fallback>
  </mc:AlternateContent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p32"/>
          <p:cNvSpPr txBox="1"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BE"/>
              <a:t>$_GET et $_POST</a:t>
            </a:r>
          </a:p>
        </p:txBody>
      </p:sp>
      <p:sp>
        <p:nvSpPr>
          <p:cNvPr id="194" name="Google Shape;194;p32"/>
          <p:cNvSpPr txBox="1"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fr-BE">
                <a:sym typeface="Calibri"/>
              </a:rPr>
              <a:t>tableaux associatifs : éléments accessibles via une clé</a:t>
            </a:r>
          </a:p>
          <a:p>
            <a:r>
              <a:rPr lang="fr-BE">
                <a:sym typeface="Calibri"/>
              </a:rPr>
              <a:t>URL</a:t>
            </a:r>
          </a:p>
          <a:p>
            <a:pPr marL="914377" lvl="2" indent="0">
              <a:buNone/>
            </a:pPr>
            <a:r>
              <a:rPr lang="fr-BE">
                <a:sym typeface="Courier New"/>
              </a:rPr>
              <a:t>http://localhost/exercice.php?</a:t>
            </a:r>
            <a:r>
              <a:rPr lang="fr-BE" b="1">
                <a:solidFill>
                  <a:schemeClr val="accent2"/>
                </a:solidFill>
                <a:sym typeface="Courier New"/>
              </a:rPr>
              <a:t>name=jean&amp;age=23</a:t>
            </a:r>
          </a:p>
          <a:p>
            <a:r>
              <a:rPr lang="fr-BE">
                <a:sym typeface="Calibri"/>
              </a:rPr>
              <a:t>PHP</a:t>
            </a:r>
          </a:p>
          <a:p>
            <a:pPr marL="0" lvl="0" indent="0" defTabSz="914400">
              <a:lnSpc>
                <a:spcPct val="100000"/>
              </a:lnSpc>
              <a:spcBef>
                <a:spcPts val="600"/>
              </a:spcBef>
              <a:buClr>
                <a:srgbClr val="000000"/>
              </a:buClr>
              <a:buSzPts val="3000"/>
              <a:buNone/>
            </a:pPr>
            <a:r>
              <a:rPr lang="fr-BE" sz="2400" b="1" kern="0">
                <a:solidFill>
                  <a:srgbClr val="000000"/>
                </a:solidFill>
                <a:latin typeface="Courier New"/>
                <a:ea typeface="Courier New"/>
                <a:cs typeface="Courier New"/>
                <a:sym typeface="Courier New"/>
              </a:rPr>
              <a:t>	</a:t>
            </a:r>
            <a:r>
              <a:rPr lang="fr-BE" sz="300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  <a:sym typeface="Courier New"/>
              </a:rPr>
              <a:t>&lt;?</a:t>
            </a:r>
            <a:r>
              <a:rPr lang="fr-BE" sz="3000" err="1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  <a:sym typeface="Courier New"/>
              </a:rPr>
              <a:t>php</a:t>
            </a:r>
            <a:endParaRPr lang="fr-BE" sz="3000">
              <a:solidFill>
                <a:schemeClr val="accent6">
                  <a:lumMod val="50000"/>
                </a:schemeClr>
              </a:solidFill>
              <a:latin typeface="Consolas" panose="020B0609020204030204" pitchFamily="49" charset="0"/>
              <a:cs typeface="Courier New" panose="02070309020205020404" pitchFamily="49" charset="0"/>
              <a:sym typeface="Courier New"/>
            </a:endParaRPr>
          </a:p>
          <a:p>
            <a:pPr marL="0" lvl="0" indent="457200" defTabSz="914400">
              <a:lnSpc>
                <a:spcPct val="100000"/>
              </a:lnSpc>
              <a:spcBef>
                <a:spcPts val="600"/>
              </a:spcBef>
              <a:buClr>
                <a:srgbClr val="000000"/>
              </a:buClr>
              <a:buSzPts val="3000"/>
              <a:buNone/>
            </a:pPr>
            <a:r>
              <a:rPr lang="fr-BE" sz="3000" kern="0">
                <a:solidFill>
                  <a:srgbClr val="2388DB"/>
                </a:solidFill>
                <a:latin typeface="Consolas" panose="020B0609020204030204" pitchFamily="49" charset="0"/>
                <a:ea typeface="Courier New"/>
                <a:cs typeface="Courier New"/>
                <a:sym typeface="Courier New"/>
              </a:rPr>
              <a:t>	</a:t>
            </a:r>
            <a:r>
              <a:rPr lang="fr-BE" sz="3000" err="1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  <a:sym typeface="Courier New"/>
              </a:rPr>
              <a:t>echo</a:t>
            </a:r>
            <a:r>
              <a:rPr lang="fr-BE" sz="300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  <a:sym typeface="Courier New"/>
              </a:rPr>
              <a:t> $_GET['</a:t>
            </a:r>
            <a:r>
              <a:rPr lang="fr-BE" sz="3000" err="1">
                <a:solidFill>
                  <a:schemeClr val="accent2"/>
                </a:solidFill>
                <a:latin typeface="Consolas" panose="020B0609020204030204" pitchFamily="49" charset="0"/>
                <a:cs typeface="Courier New" panose="02070309020205020404" pitchFamily="49" charset="0"/>
                <a:sym typeface="Courier New"/>
              </a:rPr>
              <a:t>name</a:t>
            </a:r>
            <a:r>
              <a:rPr lang="fr-BE" sz="300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  <a:sym typeface="Courier New"/>
              </a:rPr>
              <a:t>']; </a:t>
            </a:r>
            <a:r>
              <a:rPr lang="fr-BE" sz="3000" kern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ea typeface="Courier New"/>
                <a:cs typeface="Courier New"/>
                <a:sym typeface="Courier New"/>
              </a:rPr>
              <a:t>// affiche </a:t>
            </a:r>
            <a:r>
              <a:rPr lang="fr-BE" sz="3000" kern="0" err="1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ea typeface="Courier New"/>
                <a:cs typeface="Courier New"/>
                <a:sym typeface="Courier New"/>
              </a:rPr>
              <a:t>‘jean</a:t>
            </a:r>
            <a:r>
              <a:rPr lang="fr-BE" sz="3000" kern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ea typeface="Courier New"/>
                <a:cs typeface="Courier New"/>
                <a:sym typeface="Courier New"/>
              </a:rPr>
              <a:t>’</a:t>
            </a:r>
          </a:p>
          <a:p>
            <a:pPr marL="0" lvl="0" indent="457200" defTabSz="914400">
              <a:lnSpc>
                <a:spcPct val="100000"/>
              </a:lnSpc>
              <a:spcBef>
                <a:spcPts val="600"/>
              </a:spcBef>
              <a:buClr>
                <a:srgbClr val="000000"/>
              </a:buClr>
              <a:buSzPts val="3000"/>
              <a:buNone/>
            </a:pPr>
            <a:r>
              <a:rPr lang="fr-BE" sz="3000" kern="0">
                <a:solidFill>
                  <a:srgbClr val="2388DB"/>
                </a:solidFill>
                <a:latin typeface="Consolas" panose="020B0609020204030204" pitchFamily="49" charset="0"/>
                <a:ea typeface="Courier New"/>
                <a:cs typeface="Courier New"/>
                <a:sym typeface="Courier New"/>
              </a:rPr>
              <a:t>	</a:t>
            </a:r>
            <a:r>
              <a:rPr lang="fr-BE" sz="3000" err="1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  <a:sym typeface="Courier New"/>
              </a:rPr>
              <a:t>echo</a:t>
            </a:r>
            <a:r>
              <a:rPr lang="fr-BE" sz="300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  <a:sym typeface="Courier New"/>
              </a:rPr>
              <a:t> $_GET['</a:t>
            </a:r>
            <a:r>
              <a:rPr lang="fr-BE" sz="3000" err="1">
                <a:solidFill>
                  <a:schemeClr val="accent2"/>
                </a:solidFill>
                <a:latin typeface="Consolas" panose="020B0609020204030204" pitchFamily="49" charset="0"/>
                <a:cs typeface="Courier New" panose="02070309020205020404" pitchFamily="49" charset="0"/>
                <a:sym typeface="Courier New"/>
              </a:rPr>
              <a:t>age</a:t>
            </a:r>
            <a:r>
              <a:rPr lang="fr-BE" sz="300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  <a:sym typeface="Courier New"/>
              </a:rPr>
              <a:t>'];  </a:t>
            </a:r>
            <a:r>
              <a:rPr lang="fr-BE" sz="3000" kern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ea typeface="Courier New"/>
                <a:cs typeface="Courier New"/>
                <a:sym typeface="Courier New"/>
              </a:rPr>
              <a:t>// affiche ‘23’</a:t>
            </a:r>
          </a:p>
          <a:p>
            <a:pPr marL="0" lvl="0" indent="457200" defTabSz="914400">
              <a:lnSpc>
                <a:spcPct val="100000"/>
              </a:lnSpc>
              <a:spcBef>
                <a:spcPts val="600"/>
              </a:spcBef>
              <a:buClr>
                <a:srgbClr val="000000"/>
              </a:buClr>
              <a:buSzPts val="3000"/>
              <a:buNone/>
            </a:pPr>
            <a:r>
              <a:rPr lang="fr-BE" sz="3000" kern="0">
                <a:solidFill>
                  <a:srgbClr val="000000"/>
                </a:solidFill>
                <a:latin typeface="Consolas" panose="020B0609020204030204" pitchFamily="49" charset="0"/>
                <a:ea typeface="Courier New"/>
                <a:cs typeface="Courier New"/>
                <a:sym typeface="Courier New"/>
              </a:rPr>
              <a:t>	</a:t>
            </a:r>
            <a:r>
              <a:rPr lang="fr-BE" sz="300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  <a:sym typeface="Courier New"/>
              </a:rPr>
              <a:t>?&gt;</a:t>
            </a:r>
          </a:p>
        </p:txBody>
      </p:sp>
    </p:spTree>
    <p:extLst>
      <p:ext uri="{BB962C8B-B14F-4D97-AF65-F5344CB8AC3E}">
        <p14:creationId xmlns:p14="http://schemas.microsoft.com/office/powerpoint/2010/main" val="226827661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>
        <p14:reveal/>
      </p:transition>
    </mc:Choice>
    <mc:Fallback xmlns="">
      <p:transition spd="slow">
        <p:fade/>
      </p:transition>
    </mc:Fallback>
  </mc:AlternateContent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33"/>
          <p:cNvSpPr txBox="1"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BE"/>
              <a:t>Exo 06 : lire le </a:t>
            </a:r>
            <a:r>
              <a:rPr lang="fr-BE" err="1"/>
              <a:t>form</a:t>
            </a:r>
            <a:endParaRPr lang="fr-BE"/>
          </a:p>
        </p:txBody>
      </p:sp>
      <p:sp>
        <p:nvSpPr>
          <p:cNvPr id="200" name="Google Shape;200;p33"/>
          <p:cNvSpPr txBox="1">
            <a:spLocks noGrp="1"/>
          </p:cNvSpPr>
          <p:nvPr>
            <p:ph idx="1"/>
          </p:nvPr>
        </p:nvSpPr>
        <p:spPr>
          <a:xfrm>
            <a:off x="838200" y="1825625"/>
            <a:ext cx="10515600" cy="4351339"/>
          </a:xfrm>
        </p:spPr>
        <p:txBody>
          <a:bodyPr>
            <a:noAutofit/>
          </a:bodyPr>
          <a:lstStyle/>
          <a:p>
            <a:pPr defTabSz="914400">
              <a:lnSpc>
                <a:spcPct val="100000"/>
              </a:lnSpc>
              <a:spcBef>
                <a:spcPts val="600"/>
              </a:spcBef>
              <a:buClr>
                <a:srgbClr val="000000"/>
              </a:buClr>
              <a:buSzPct val="100000"/>
            </a:pPr>
            <a:r>
              <a:rPr lang="fr-BE"/>
              <a:t>Comment parcourir les données reçues du formulaire ? </a:t>
            </a:r>
          </a:p>
          <a:p>
            <a:pPr marL="0" lvl="0" indent="0" defTabSz="914400">
              <a:lnSpc>
                <a:spcPct val="100000"/>
              </a:lnSpc>
              <a:spcBef>
                <a:spcPts val="600"/>
              </a:spcBef>
              <a:buClr>
                <a:srgbClr val="000000"/>
              </a:buClr>
              <a:buSzPts val="1100"/>
              <a:buNone/>
            </a:pPr>
            <a:r>
              <a:rPr lang="en-US" sz="3000" b="1">
                <a:solidFill>
                  <a:schemeClr val="accent6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Courier New"/>
              </a:rPr>
              <a:t>	</a:t>
            </a:r>
            <a:r>
              <a:rPr lang="en-US" sz="300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  <a:sym typeface="Courier New"/>
              </a:rPr>
              <a:t>foreach( </a:t>
            </a:r>
            <a:r>
              <a:rPr lang="en-US" sz="3000">
                <a:solidFill>
                  <a:schemeClr val="accent2"/>
                </a:solidFill>
                <a:latin typeface="Consolas" panose="020B0609020204030204" pitchFamily="49" charset="0"/>
                <a:cs typeface="Courier New" panose="02070309020205020404" pitchFamily="49" charset="0"/>
                <a:sym typeface="Courier New"/>
              </a:rPr>
              <a:t>$_GET </a:t>
            </a:r>
            <a:r>
              <a:rPr lang="en-US" sz="300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  <a:sym typeface="Courier New"/>
              </a:rPr>
              <a:t>as $key =&gt; $val ) </a:t>
            </a:r>
          </a:p>
          <a:p>
            <a:pPr marL="0" lvl="0" indent="0" defTabSz="914400">
              <a:lnSpc>
                <a:spcPct val="100000"/>
              </a:lnSpc>
              <a:spcBef>
                <a:spcPts val="600"/>
              </a:spcBef>
              <a:buClr>
                <a:srgbClr val="000000"/>
              </a:buClr>
              <a:buSzPts val="1100"/>
              <a:buNone/>
            </a:pPr>
            <a:r>
              <a:rPr lang="en-US" sz="300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  <a:sym typeface="Courier New"/>
              </a:rPr>
              <a:t>	{</a:t>
            </a:r>
          </a:p>
          <a:p>
            <a:pPr marL="0" lvl="0" indent="0" defTabSz="914400">
              <a:lnSpc>
                <a:spcPct val="100000"/>
              </a:lnSpc>
              <a:spcBef>
                <a:spcPts val="600"/>
              </a:spcBef>
              <a:buClr>
                <a:srgbClr val="000000"/>
              </a:buClr>
              <a:buSzPts val="1100"/>
              <a:buNone/>
            </a:pPr>
            <a:r>
              <a:rPr lang="en-US" sz="300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  <a:sym typeface="Courier New"/>
              </a:rPr>
              <a:t>		echo "$key : $val&lt;</a:t>
            </a:r>
            <a:r>
              <a:rPr lang="en-US" sz="3000" err="1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  <a:sym typeface="Courier New"/>
              </a:rPr>
              <a:t>br</a:t>
            </a:r>
            <a:r>
              <a:rPr lang="en-US" sz="300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  <a:sym typeface="Courier New"/>
              </a:rPr>
              <a:t>/&gt;";</a:t>
            </a:r>
          </a:p>
          <a:p>
            <a:pPr marL="0" lvl="0" indent="0" defTabSz="914400">
              <a:lnSpc>
                <a:spcPct val="100000"/>
              </a:lnSpc>
              <a:spcBef>
                <a:spcPts val="600"/>
              </a:spcBef>
              <a:buClr>
                <a:srgbClr val="000000"/>
              </a:buClr>
              <a:buSzPts val="1100"/>
              <a:buNone/>
            </a:pPr>
            <a:r>
              <a:rPr lang="en-US" sz="300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  <a:sym typeface="Courier New"/>
              </a:rPr>
              <a:t>	}</a:t>
            </a:r>
          </a:p>
          <a:p>
            <a:pPr defTabSz="914400">
              <a:lnSpc>
                <a:spcPct val="100000"/>
              </a:lnSpc>
              <a:spcBef>
                <a:spcPts val="600"/>
              </a:spcBef>
              <a:buClr>
                <a:srgbClr val="000000"/>
              </a:buClr>
              <a:buSzPct val="100000"/>
            </a:pPr>
            <a:r>
              <a:rPr lang="en-US" err="1">
                <a:sym typeface="Courier New"/>
              </a:rPr>
              <a:t>ou</a:t>
            </a:r>
            <a:r>
              <a:rPr lang="en-US">
                <a:sym typeface="Courier New"/>
              </a:rPr>
              <a:t> </a:t>
            </a:r>
          </a:p>
          <a:p>
            <a:pPr marL="0" indent="0" defTabSz="914400">
              <a:lnSpc>
                <a:spcPct val="100000"/>
              </a:lnSpc>
              <a:spcBef>
                <a:spcPts val="600"/>
              </a:spcBef>
              <a:buClr>
                <a:srgbClr val="000000"/>
              </a:buClr>
              <a:buSzPts val="1100"/>
              <a:buNone/>
            </a:pPr>
            <a:r>
              <a:rPr lang="en-US" sz="3000" b="1">
                <a:solidFill>
                  <a:schemeClr val="accent6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Courier New"/>
              </a:rPr>
              <a:t>	</a:t>
            </a:r>
            <a:r>
              <a:rPr lang="en-US" sz="300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  <a:sym typeface="Courier New"/>
              </a:rPr>
              <a:t>print_r</a:t>
            </a:r>
            <a:r>
              <a:rPr lang="en-US" sz="3000">
                <a:solidFill>
                  <a:schemeClr val="accent2"/>
                </a:solidFill>
                <a:latin typeface="Consolas" panose="020B0609020204030204" pitchFamily="49" charset="0"/>
                <a:cs typeface="Courier New" panose="02070309020205020404" pitchFamily="49" charset="0"/>
                <a:sym typeface="Courier New"/>
              </a:rPr>
              <a:t>($_GET</a:t>
            </a:r>
            <a:r>
              <a:rPr lang="en-US" sz="300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  <a:sym typeface="Courier New"/>
              </a:rPr>
              <a:t>) ;</a:t>
            </a:r>
          </a:p>
          <a:p>
            <a:pPr marL="0" indent="0" defTabSz="914400">
              <a:lnSpc>
                <a:spcPct val="100000"/>
              </a:lnSpc>
              <a:spcBef>
                <a:spcPts val="600"/>
              </a:spcBef>
              <a:buClr>
                <a:srgbClr val="000000"/>
              </a:buClr>
              <a:buSzPts val="1100"/>
              <a:buNone/>
            </a:pPr>
            <a:r>
              <a:rPr lang="en-US" sz="300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  <a:sym typeface="Courier New"/>
              </a:rPr>
              <a:t>	var_dump</a:t>
            </a:r>
            <a:r>
              <a:rPr lang="en-US" sz="3000">
                <a:solidFill>
                  <a:schemeClr val="accent2"/>
                </a:solidFill>
                <a:latin typeface="Consolas" panose="020B0609020204030204" pitchFamily="49" charset="0"/>
                <a:cs typeface="Courier New" panose="02070309020205020404" pitchFamily="49" charset="0"/>
                <a:sym typeface="Courier New"/>
              </a:rPr>
              <a:t>($_GET</a:t>
            </a:r>
            <a:r>
              <a:rPr lang="en-US" sz="300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  <a:sym typeface="Courier New"/>
              </a:rPr>
              <a:t>) ;</a:t>
            </a:r>
          </a:p>
        </p:txBody>
      </p:sp>
    </p:spTree>
    <p:extLst>
      <p:ext uri="{BB962C8B-B14F-4D97-AF65-F5344CB8AC3E}">
        <p14:creationId xmlns:p14="http://schemas.microsoft.com/office/powerpoint/2010/main" val="298748055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>
        <p14:reveal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C06BBC3E-496E-4F87-9848-839E97457E1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BE"/>
              <a:t>Exo 07 : login élémentaire et bibliothèque de fonction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3E538AFD-2AC4-4406-9BF8-39F4BCE8770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690689"/>
            <a:ext cx="5857240" cy="3029717"/>
          </a:xfrm>
        </p:spPr>
        <p:txBody>
          <a:bodyPr>
            <a:normAutofit fontScale="92500" lnSpcReduction="20000"/>
          </a:bodyPr>
          <a:lstStyle/>
          <a:p>
            <a:r>
              <a:rPr lang="fr-BE"/>
              <a:t>Écrivez un programme qui</a:t>
            </a:r>
          </a:p>
          <a:p>
            <a:pPr lvl="1"/>
            <a:r>
              <a:rPr lang="fr-BE"/>
              <a:t>Lit un login entré par l'utilisateur </a:t>
            </a:r>
          </a:p>
          <a:p>
            <a:pPr lvl="1"/>
            <a:r>
              <a:rPr lang="fr-BE"/>
              <a:t>Évalue si ce login est correct (un seul login hard-codé)</a:t>
            </a:r>
          </a:p>
          <a:p>
            <a:pPr lvl="1"/>
            <a:r>
              <a:rPr lang="fr-BE"/>
              <a:t>Affiche en conséquence un message de bienvenue ou de rejet </a:t>
            </a:r>
          </a:p>
          <a:p>
            <a:pPr lvl="1"/>
            <a:r>
              <a:rPr lang="fr-BE"/>
              <a:t>Organisation du code en fonctions PHP </a:t>
            </a:r>
          </a:p>
        </p:txBody>
      </p:sp>
      <p:pic>
        <p:nvPicPr>
          <p:cNvPr id="8" name="Espace réservé du contenu 7">
            <a:extLst>
              <a:ext uri="{FF2B5EF4-FFF2-40B4-BE49-F238E27FC236}">
                <a16:creationId xmlns:a16="http://schemas.microsoft.com/office/drawing/2014/main" id="{06CDB9FE-B339-4E7E-9BA8-828C0C254D98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2"/>
          <a:stretch>
            <a:fillRect/>
          </a:stretch>
        </p:blipFill>
        <p:spPr>
          <a:xfrm>
            <a:off x="6852899" y="4811846"/>
            <a:ext cx="5181600" cy="1170038"/>
          </a:xfrm>
        </p:spPr>
      </p:pic>
      <p:pic>
        <p:nvPicPr>
          <p:cNvPr id="5" name="Image 4">
            <a:extLst>
              <a:ext uri="{FF2B5EF4-FFF2-40B4-BE49-F238E27FC236}">
                <a16:creationId xmlns:a16="http://schemas.microsoft.com/office/drawing/2014/main" id="{9E749FC1-0544-4023-ACA1-1FD58860099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86880" y="1882539"/>
            <a:ext cx="5247619" cy="1304762"/>
          </a:xfrm>
          <a:prstGeom prst="rect">
            <a:avLst/>
          </a:prstGeom>
        </p:spPr>
      </p:pic>
      <p:pic>
        <p:nvPicPr>
          <p:cNvPr id="10" name="Image 9">
            <a:extLst>
              <a:ext uri="{FF2B5EF4-FFF2-40B4-BE49-F238E27FC236}">
                <a16:creationId xmlns:a16="http://schemas.microsoft.com/office/drawing/2014/main" id="{25F63018-231D-49C5-BA87-2C642056486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86880" y="3315758"/>
            <a:ext cx="5228571" cy="1276190"/>
          </a:xfrm>
          <a:prstGeom prst="rect">
            <a:avLst/>
          </a:prstGeom>
        </p:spPr>
      </p:pic>
      <p:sp>
        <p:nvSpPr>
          <p:cNvPr id="4" name="ZoneTexte 3">
            <a:extLst>
              <a:ext uri="{FF2B5EF4-FFF2-40B4-BE49-F238E27FC236}">
                <a16:creationId xmlns:a16="http://schemas.microsoft.com/office/drawing/2014/main" id="{15AF670C-BE8C-D8BC-F53F-2C22E6C3CD70}"/>
              </a:ext>
            </a:extLst>
          </p:cNvPr>
          <p:cNvSpPr txBox="1"/>
          <p:nvPr/>
        </p:nvSpPr>
        <p:spPr>
          <a:xfrm>
            <a:off x="362373" y="4427369"/>
            <a:ext cx="7061200" cy="19389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lvl="2" indent="0">
              <a:buNone/>
            </a:pPr>
            <a:r>
              <a:rPr lang="fr-BE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html_head($title="4IPDW")</a:t>
            </a:r>
          </a:p>
          <a:p>
            <a:pPr marL="0" lvl="2" indent="0">
              <a:buNone/>
            </a:pPr>
            <a:r>
              <a:rPr lang="fr-BE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html_welcome($text)</a:t>
            </a:r>
          </a:p>
          <a:p>
            <a:pPr marL="0" lvl="2" indent="0">
              <a:buNone/>
            </a:pPr>
            <a:r>
              <a:rPr lang="en-US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html_login_form($intro="", $value="")</a:t>
            </a:r>
          </a:p>
          <a:p>
            <a:pPr marL="0" lvl="2" indent="0">
              <a:buNone/>
            </a:pPr>
            <a:r>
              <a:rPr lang="fr-BE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html_welcome_user($people)</a:t>
            </a:r>
          </a:p>
          <a:p>
            <a:pPr marL="0" lvl="2" indent="0">
              <a:buNone/>
            </a:pPr>
            <a:r>
              <a:rPr lang="fr-BE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html_foot()</a:t>
            </a:r>
          </a:p>
        </p:txBody>
      </p:sp>
    </p:spTree>
    <p:extLst>
      <p:ext uri="{BB962C8B-B14F-4D97-AF65-F5344CB8AC3E}">
        <p14:creationId xmlns:p14="http://schemas.microsoft.com/office/powerpoint/2010/main" val="426984517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>
        <p14:reveal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7"/>
          <p:cNvSpPr txBox="1"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fr-BE"/>
              <a:t>Exo 11 : Catalogue + Insertion CSV</a:t>
            </a:r>
          </a:p>
        </p:txBody>
      </p:sp>
      <p:sp>
        <p:nvSpPr>
          <p:cNvPr id="162" name="Google Shape;162;p27"/>
          <p:cNvSpPr txBox="1">
            <a:spLocks noGrp="1"/>
          </p:cNvSpPr>
          <p:nvPr>
            <p:ph sz="half"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fr-BE"/>
              <a:t>A la suite des exercices précédents, écrivez le code PHP correspondant au formulaire. </a:t>
            </a:r>
          </a:p>
          <a:p>
            <a:r>
              <a:rPr lang="fr-BE"/>
              <a:t>Fonction : Le script PHP insère les données dans le fichier CSV, puis réaffiche le tableau.</a:t>
            </a:r>
          </a:p>
          <a:p>
            <a:r>
              <a:rPr lang="fr-BE"/>
              <a:t>fichiers exo :</a:t>
            </a:r>
          </a:p>
          <a:p>
            <a:pPr lvl="1"/>
            <a:r>
              <a:rPr lang="fr-BE" sz="260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</a:rPr>
              <a:t>database_catalogue.csv</a:t>
            </a:r>
          </a:p>
          <a:p>
            <a:pPr lvl="1"/>
            <a:r>
              <a:rPr lang="fr-BE" sz="260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</a:rPr>
              <a:t>exo11_catalogue.php</a:t>
            </a:r>
          </a:p>
          <a:p>
            <a:endParaRPr lang="fr-BE"/>
          </a:p>
        </p:txBody>
      </p:sp>
      <p:pic>
        <p:nvPicPr>
          <p:cNvPr id="6" name="Google Shape;219;p36"/>
          <p:cNvPicPr preferRelativeResize="0">
            <a:picLocks noGrp="1"/>
          </p:cNvPicPr>
          <p:nvPr>
            <p:ph sz="half" idx="2"/>
          </p:nvPr>
        </p:nvPicPr>
        <p:blipFill>
          <a:blip r:embed="rId3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6172200" y="1690689"/>
            <a:ext cx="5857240" cy="4006710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91558031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>
        <p14:reveal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39"/>
          <p:cNvSpPr txBox="1"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BE"/>
              <a:t>Super Globales : $_SESSION</a:t>
            </a:r>
          </a:p>
        </p:txBody>
      </p:sp>
      <p:sp>
        <p:nvSpPr>
          <p:cNvPr id="4" name="Espace réservé du texte 3">
            <a:extLst>
              <a:ext uri="{FF2B5EF4-FFF2-40B4-BE49-F238E27FC236}">
                <a16:creationId xmlns:a16="http://schemas.microsoft.com/office/drawing/2014/main" id="{799C89DA-3AB0-A457-F2E6-99A9BD32AC7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BE"/>
          </a:p>
        </p:txBody>
      </p:sp>
      <p:sp>
        <p:nvSpPr>
          <p:cNvPr id="5" name="Espace réservé pour une image  4">
            <a:extLst>
              <a:ext uri="{FF2B5EF4-FFF2-40B4-BE49-F238E27FC236}">
                <a16:creationId xmlns:a16="http://schemas.microsoft.com/office/drawing/2014/main" id="{20A5EE0F-E680-2E4A-E09C-FD198E71710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/>
        <p:txBody>
          <a:bodyPr/>
          <a:lstStyle/>
          <a:p>
            <a:endParaRPr lang="fr-BE"/>
          </a:p>
        </p:txBody>
      </p:sp>
    </p:spTree>
    <p:extLst>
      <p:ext uri="{BB962C8B-B14F-4D97-AF65-F5344CB8AC3E}">
        <p14:creationId xmlns:p14="http://schemas.microsoft.com/office/powerpoint/2010/main" val="309191031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>
        <p14:reveal/>
      </p:transition>
    </mc:Choice>
    <mc:Fallback xmlns="">
      <p:transition spd="slow">
        <p:fade/>
      </p:transition>
    </mc:Fallback>
  </mc:AlternateContent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3" name="Google Shape;243;p40"/>
          <p:cNvSpPr txBox="1"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BE"/>
              <a:t>Définition</a:t>
            </a:r>
          </a:p>
        </p:txBody>
      </p:sp>
      <p:sp>
        <p:nvSpPr>
          <p:cNvPr id="244" name="Google Shape;244;p40"/>
          <p:cNvSpPr txBox="1"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BE"/>
              <a:t>En informatique et en télécommunication, une </a:t>
            </a:r>
            <a:r>
              <a:rPr lang="fr-BE">
                <a:solidFill>
                  <a:schemeClr val="accent2"/>
                </a:solidFill>
              </a:rPr>
              <a:t>session</a:t>
            </a:r>
            <a:r>
              <a:rPr lang="fr-BE"/>
              <a:t> est une période délimitée pendant laquelle un système informatique ou "serveur" est en </a:t>
            </a:r>
            <a:r>
              <a:rPr lang="fr-BE">
                <a:solidFill>
                  <a:schemeClr val="accent2"/>
                </a:solidFill>
              </a:rPr>
              <a:t>communication</a:t>
            </a:r>
            <a:r>
              <a:rPr lang="fr-BE"/>
              <a:t> avec et réalise des </a:t>
            </a:r>
            <a:r>
              <a:rPr lang="fr-BE">
                <a:solidFill>
                  <a:schemeClr val="accent2"/>
                </a:solidFill>
              </a:rPr>
              <a:t>opérations</a:t>
            </a:r>
            <a:r>
              <a:rPr lang="fr-BE"/>
              <a:t> pour un "client" - un usager, un logiciel ou un autre système.</a:t>
            </a:r>
          </a:p>
          <a:p>
            <a:endParaRPr lang="fr-BE"/>
          </a:p>
        </p:txBody>
      </p:sp>
    </p:spTree>
    <p:extLst>
      <p:ext uri="{BB962C8B-B14F-4D97-AF65-F5344CB8AC3E}">
        <p14:creationId xmlns:p14="http://schemas.microsoft.com/office/powerpoint/2010/main" val="377537902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>
        <p14:reveal/>
      </p:transition>
    </mc:Choice>
    <mc:Fallback xmlns="">
      <p:transition spd="slow">
        <p:fade/>
      </p:transition>
    </mc:Fallback>
  </mc:AlternateContent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9" name="Google Shape;249;p41"/>
          <p:cNvSpPr txBox="1"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BE">
                <a:latin typeface="Courier New" panose="02070309020205020404" pitchFamily="49" charset="0"/>
                <a:cs typeface="Courier New" panose="02070309020205020404" pitchFamily="49" charset="0"/>
              </a:rPr>
              <a:t>session_start()</a:t>
            </a:r>
          </a:p>
        </p:txBody>
      </p:sp>
      <p:sp>
        <p:nvSpPr>
          <p:cNvPr id="250" name="Google Shape;250;p41"/>
          <p:cNvSpPr txBox="1"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BE"/>
              <a:t>Crée une session ou restaure celle trouvée sur le serveur, via l'identifiant de session passé dans une requête </a:t>
            </a:r>
            <a:r>
              <a:rPr lang="fr-BE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GET</a:t>
            </a:r>
            <a:r>
              <a:rPr lang="fr-BE"/>
              <a:t>, </a:t>
            </a:r>
            <a:r>
              <a:rPr lang="fr-BE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POST</a:t>
            </a:r>
            <a:r>
              <a:rPr lang="fr-BE"/>
              <a:t> ou par un cookie.</a:t>
            </a:r>
          </a:p>
          <a:p>
            <a:endParaRPr lang="fr-BE"/>
          </a:p>
        </p:txBody>
      </p:sp>
    </p:spTree>
    <p:extLst>
      <p:ext uri="{BB962C8B-B14F-4D97-AF65-F5344CB8AC3E}">
        <p14:creationId xmlns:p14="http://schemas.microsoft.com/office/powerpoint/2010/main" val="13779073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>
        <p14:reveal/>
      </p:transition>
    </mc:Choice>
    <mc:Fallback xmlns="">
      <p:transition spd="slow">
        <p:fade/>
      </p:transition>
    </mc:Fallback>
  </mc:AlternateContent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42"/>
          <p:cNvSpPr txBox="1"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BE">
                <a:latin typeface="Courier New" panose="02070309020205020404" pitchFamily="49" charset="0"/>
                <a:cs typeface="Courier New" panose="02070309020205020404" pitchFamily="49" charset="0"/>
              </a:rPr>
              <a:t>session_unset()</a:t>
            </a:r>
          </a:p>
        </p:txBody>
      </p:sp>
      <p:sp>
        <p:nvSpPr>
          <p:cNvPr id="256" name="Google Shape;256;p42"/>
          <p:cNvSpPr txBox="1"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BE"/>
              <a:t>Détruit toutes les données associées à la session courante.</a:t>
            </a:r>
          </a:p>
          <a:p>
            <a:r>
              <a:rPr lang="fr-BE"/>
              <a:t>Si </a:t>
            </a:r>
            <a:r>
              <a:rPr lang="fr-BE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  <a:sym typeface="Courier New"/>
              </a:rPr>
              <a:t>session_unset()</a:t>
            </a:r>
            <a:r>
              <a:rPr lang="fr-BE"/>
              <a:t> n’est pas explicitement lancée, alors la session sera détruite automatiquement après un “time-out”.</a:t>
            </a:r>
          </a:p>
          <a:p>
            <a:endParaRPr lang="fr-BE"/>
          </a:p>
        </p:txBody>
      </p:sp>
    </p:spTree>
    <p:extLst>
      <p:ext uri="{BB962C8B-B14F-4D97-AF65-F5344CB8AC3E}">
        <p14:creationId xmlns:p14="http://schemas.microsoft.com/office/powerpoint/2010/main" val="190396211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>
        <p14:reveal/>
      </p:transition>
    </mc:Choice>
    <mc:Fallback xmlns="">
      <p:transition spd="slow">
        <p:fade/>
      </p:transition>
    </mc:Fallback>
  </mc:AlternateContent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1" name="Google Shape;261;p43"/>
          <p:cNvSpPr txBox="1"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BE">
                <a:latin typeface="Courier New" panose="02070309020205020404" pitchFamily="49" charset="0"/>
                <a:cs typeface="Courier New" panose="02070309020205020404" pitchFamily="49" charset="0"/>
              </a:rPr>
              <a:t>$_SESSION</a:t>
            </a:r>
          </a:p>
        </p:txBody>
      </p:sp>
      <p:sp>
        <p:nvSpPr>
          <p:cNvPr id="262" name="Google Shape;262;p43"/>
          <p:cNvSpPr txBox="1"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fr-BE"/>
              <a:t>La variable super globale </a:t>
            </a:r>
            <a:r>
              <a:rPr lang="fr-BE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  <a:sym typeface="Courier New"/>
              </a:rPr>
              <a:t>$_SESSION</a:t>
            </a:r>
            <a:r>
              <a:rPr lang="fr-BE" b="1">
                <a:solidFill>
                  <a:schemeClr val="accent6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fr-BE"/>
              <a:t>permet d’enregistrer des données coté serveur sur un utilisateur pendant une session</a:t>
            </a:r>
          </a:p>
          <a:p>
            <a:r>
              <a:rPr lang="fr-BE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  <a:sym typeface="Courier New"/>
              </a:rPr>
              <a:t>$_SESSION</a:t>
            </a:r>
            <a:endParaRPr lang="fr-BE">
              <a:solidFill>
                <a:schemeClr val="accent6">
                  <a:lumMod val="50000"/>
                </a:schemeClr>
              </a:solidFill>
              <a:latin typeface="Consolas" panose="020B0609020204030204" pitchFamily="49" charset="0"/>
              <a:cs typeface="Courier New" panose="02070309020205020404" pitchFamily="49" charset="0"/>
            </a:endParaRPr>
          </a:p>
          <a:p>
            <a:pPr lvl="1"/>
            <a:r>
              <a:rPr lang="fr-BE"/>
              <a:t>est </a:t>
            </a:r>
            <a:r>
              <a:rPr lang="fr-BE">
                <a:solidFill>
                  <a:schemeClr val="accent2"/>
                </a:solidFill>
              </a:rPr>
              <a:t>unique</a:t>
            </a:r>
            <a:r>
              <a:rPr lang="fr-BE"/>
              <a:t> pour chaque session</a:t>
            </a:r>
          </a:p>
          <a:p>
            <a:pPr lvl="1"/>
            <a:r>
              <a:rPr lang="fr-BE"/>
              <a:t>ne dure </a:t>
            </a:r>
            <a:r>
              <a:rPr lang="fr-BE">
                <a:solidFill>
                  <a:schemeClr val="accent2"/>
                </a:solidFill>
              </a:rPr>
              <a:t>que le temps </a:t>
            </a:r>
            <a:r>
              <a:rPr lang="fr-BE"/>
              <a:t>de la session</a:t>
            </a:r>
          </a:p>
          <a:p>
            <a:pPr lvl="1"/>
            <a:r>
              <a:rPr lang="fr-BE"/>
              <a:t>s’utilise comme un tableau associatif</a:t>
            </a:r>
          </a:p>
          <a:p>
            <a:endParaRPr lang="fr-BE"/>
          </a:p>
        </p:txBody>
      </p:sp>
    </p:spTree>
    <p:extLst>
      <p:ext uri="{BB962C8B-B14F-4D97-AF65-F5344CB8AC3E}">
        <p14:creationId xmlns:p14="http://schemas.microsoft.com/office/powerpoint/2010/main" val="344144507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>
        <p14:reveal/>
      </p:transition>
    </mc:Choice>
    <mc:Fallback xmlns="">
      <p:transition spd="slow">
        <p:fade/>
      </p:transition>
    </mc:Fallback>
  </mc:AlternateContent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44"/>
          <p:cNvSpPr txBox="1"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BE">
                <a:latin typeface="Courier New" panose="02070309020205020404" pitchFamily="49" charset="0"/>
                <a:cs typeface="Courier New" panose="02070309020205020404" pitchFamily="49" charset="0"/>
              </a:rPr>
              <a:t>isset($var)</a:t>
            </a:r>
          </a:p>
        </p:txBody>
      </p:sp>
      <p:sp>
        <p:nvSpPr>
          <p:cNvPr id="268" name="Google Shape;268;p44"/>
          <p:cNvSpPr txBox="1"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BE"/>
              <a:t>Détermine si la variable </a:t>
            </a:r>
            <a:r>
              <a:rPr lang="fr-BE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$var</a:t>
            </a:r>
            <a:r>
              <a:rPr lang="fr-BE"/>
              <a:t> est définie</a:t>
            </a:r>
          </a:p>
          <a:p>
            <a:r>
              <a:rPr lang="fr-BE"/>
              <a:t>return : boolean</a:t>
            </a:r>
          </a:p>
        </p:txBody>
      </p:sp>
    </p:spTree>
    <p:extLst>
      <p:ext uri="{BB962C8B-B14F-4D97-AF65-F5344CB8AC3E}">
        <p14:creationId xmlns:p14="http://schemas.microsoft.com/office/powerpoint/2010/main" val="377577050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>
        <p14:reveal/>
      </p:transition>
    </mc:Choice>
    <mc:Fallback xmlns="">
      <p:transition spd="slow">
        <p:fade/>
      </p:transition>
    </mc:Fallback>
  </mc:AlternateContent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46"/>
          <p:cNvSpPr txBox="1"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BE"/>
              <a:t>Exo 21 : </a:t>
            </a:r>
            <a:r>
              <a:rPr lang="fr-BE" err="1"/>
              <a:t>log-in</a:t>
            </a:r>
            <a:r>
              <a:rPr lang="fr-BE"/>
              <a:t>, log-out</a:t>
            </a:r>
          </a:p>
        </p:txBody>
      </p:sp>
      <p:sp>
        <p:nvSpPr>
          <p:cNvPr id="280" name="Google Shape;280;p46"/>
          <p:cNvSpPr txBox="1">
            <a:spLocks noGrp="1"/>
          </p:cNvSpPr>
          <p:nvPr>
            <p:ph sz="half" idx="1"/>
          </p:nvPr>
        </p:nvSpPr>
        <p:spPr/>
        <p:txBody>
          <a:bodyPr numCol="1">
            <a:normAutofit fontScale="92500" lnSpcReduction="20000"/>
          </a:bodyPr>
          <a:lstStyle/>
          <a:p>
            <a:r>
              <a:rPr lang="fr-BE"/>
              <a:t>Ecrivez un programme </a:t>
            </a:r>
            <a:r>
              <a:rPr lang="fr-BE" err="1"/>
              <a:t>php</a:t>
            </a:r>
            <a:r>
              <a:rPr lang="fr-BE"/>
              <a:t> qui permet à  l’utilisateur de se </a:t>
            </a:r>
            <a:r>
              <a:rPr lang="fr-BE" err="1"/>
              <a:t>logguer</a:t>
            </a:r>
            <a:r>
              <a:rPr lang="fr-BE"/>
              <a:t>, en saisissant son nom dans un input </a:t>
            </a:r>
            <a:r>
              <a:rPr lang="fr-BE" err="1"/>
              <a:t>field</a:t>
            </a:r>
            <a:r>
              <a:rPr lang="fr-BE"/>
              <a:t>.</a:t>
            </a:r>
          </a:p>
          <a:p>
            <a:r>
              <a:rPr lang="fr-BE"/>
              <a:t>Ensuite, écrivez un programme </a:t>
            </a:r>
            <a:r>
              <a:rPr lang="fr-BE" err="1"/>
              <a:t>php</a:t>
            </a:r>
            <a:r>
              <a:rPr lang="fr-BE"/>
              <a:t> qui permet à  l’utilisateur de se </a:t>
            </a:r>
            <a:r>
              <a:rPr lang="fr-BE" err="1"/>
              <a:t>délogguer</a:t>
            </a:r>
            <a:r>
              <a:rPr lang="fr-BE"/>
              <a:t>.</a:t>
            </a:r>
          </a:p>
          <a:p>
            <a:r>
              <a:rPr lang="fr-BE"/>
              <a:t>Le login de l'utilisateur est enregistré dans une variable </a:t>
            </a:r>
            <a:r>
              <a:rPr lang="fr-BE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$_SESSION</a:t>
            </a:r>
            <a:r>
              <a:rPr lang="fr-BE"/>
              <a:t>.</a:t>
            </a:r>
          </a:p>
        </p:txBody>
      </p:sp>
      <p:pic>
        <p:nvPicPr>
          <p:cNvPr id="281" name="Google Shape;281;p46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6191480" y="2689492"/>
            <a:ext cx="5916057" cy="739508"/>
          </a:xfrm>
          <a:prstGeom prst="rect">
            <a:avLst/>
          </a:prstGeom>
          <a:noFill/>
          <a:ln>
            <a:noFill/>
          </a:ln>
        </p:spPr>
      </p:pic>
      <p:pic>
        <p:nvPicPr>
          <p:cNvPr id="282" name="Google Shape;282;p46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6191480" y="4080689"/>
            <a:ext cx="2392575" cy="1279750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325622646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>
        <p14:reveal/>
      </p:transition>
    </mc:Choice>
    <mc:Fallback xmlns="">
      <p:transition spd="slow">
        <p:fade/>
      </p:transition>
    </mc:Fallback>
  </mc:AlternateContent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7" name="Google Shape;287;p47"/>
          <p:cNvSpPr txBox="1"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fr-BE"/>
              <a:t>Exo 24 : </a:t>
            </a:r>
            <a:r>
              <a:rPr lang="fr-BE" err="1"/>
              <a:t>log-in</a:t>
            </a:r>
            <a:r>
              <a:rPr lang="fr-BE"/>
              <a:t> et identification</a:t>
            </a:r>
          </a:p>
        </p:txBody>
      </p:sp>
      <p:sp>
        <p:nvSpPr>
          <p:cNvPr id="288" name="Google Shape;288;p47"/>
          <p:cNvSpPr txBox="1"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fr-BE"/>
              <a:t>Reprenez le formulaire HTML de l'exercice 06-21 et ajoutez-y un </a:t>
            </a:r>
            <a:r>
              <a:rPr lang="fr-BE">
                <a:solidFill>
                  <a:schemeClr val="accent2"/>
                </a:solidFill>
              </a:rPr>
              <a:t>mot de passe</a:t>
            </a:r>
            <a:r>
              <a:rPr lang="fr-BE"/>
              <a:t>.</a:t>
            </a:r>
          </a:p>
          <a:p>
            <a:r>
              <a:rPr lang="fr-BE"/>
              <a:t>Vérifier si le login et le mot de passe sont corrects et si l’utilisateur peut être </a:t>
            </a:r>
            <a:r>
              <a:rPr lang="fr-BE">
                <a:solidFill>
                  <a:schemeClr val="accent2"/>
                </a:solidFill>
              </a:rPr>
              <a:t>connecté</a:t>
            </a:r>
            <a:r>
              <a:rPr lang="fr-BE"/>
              <a:t>.</a:t>
            </a:r>
          </a:p>
          <a:p>
            <a:r>
              <a:rPr lang="fr-BE"/>
              <a:t>Tous les login et mot de passe sont stockés de manière non cryptée dans un </a:t>
            </a:r>
            <a:r>
              <a:rPr lang="fr-BE">
                <a:solidFill>
                  <a:schemeClr val="accent2"/>
                </a:solidFill>
              </a:rPr>
              <a:t>fichier CSV</a:t>
            </a:r>
            <a:r>
              <a:rPr lang="fr-BE"/>
              <a:t>.</a:t>
            </a:r>
          </a:p>
          <a:p>
            <a:r>
              <a:rPr lang="fr-BE"/>
              <a:t>fichiers exo :</a:t>
            </a:r>
          </a:p>
          <a:p>
            <a:pPr lvl="1"/>
            <a:r>
              <a:rPr lang="fr-BE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</a:rPr>
              <a:t>database_login.csv</a:t>
            </a:r>
          </a:p>
          <a:p>
            <a:pPr lvl="1"/>
            <a:r>
              <a:rPr lang="fr-BE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</a:rPr>
              <a:t>exo24_login_password_session.php</a:t>
            </a:r>
          </a:p>
        </p:txBody>
      </p:sp>
    </p:spTree>
    <p:extLst>
      <p:ext uri="{BB962C8B-B14F-4D97-AF65-F5344CB8AC3E}">
        <p14:creationId xmlns:p14="http://schemas.microsoft.com/office/powerpoint/2010/main" val="320666266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>
        <p14:reveal/>
      </p:transition>
    </mc:Choice>
    <mc:Fallback xmlns="">
      <p:transition spd="slow">
        <p:fade/>
      </p:transition>
    </mc:Fallback>
  </mc:AlternateContent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39"/>
          <p:cNvSpPr txBox="1"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BE"/>
              <a:t>Super Globales : $_COOKIE</a:t>
            </a:r>
          </a:p>
        </p:txBody>
      </p:sp>
      <p:sp>
        <p:nvSpPr>
          <p:cNvPr id="4" name="Espace réservé du texte 3">
            <a:extLst>
              <a:ext uri="{FF2B5EF4-FFF2-40B4-BE49-F238E27FC236}">
                <a16:creationId xmlns:a16="http://schemas.microsoft.com/office/drawing/2014/main" id="{69E7B575-B8E8-03A0-E2FC-82A833BDBFC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BE"/>
          </a:p>
        </p:txBody>
      </p:sp>
      <p:sp>
        <p:nvSpPr>
          <p:cNvPr id="5" name="Espace réservé pour une image  4">
            <a:extLst>
              <a:ext uri="{FF2B5EF4-FFF2-40B4-BE49-F238E27FC236}">
                <a16:creationId xmlns:a16="http://schemas.microsoft.com/office/drawing/2014/main" id="{0B1065CE-9197-0C66-4E85-55CC793B09EB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/>
        <p:txBody>
          <a:bodyPr/>
          <a:lstStyle/>
          <a:p>
            <a:endParaRPr lang="fr-BE"/>
          </a:p>
        </p:txBody>
      </p:sp>
    </p:spTree>
    <p:extLst>
      <p:ext uri="{BB962C8B-B14F-4D97-AF65-F5344CB8AC3E}">
        <p14:creationId xmlns:p14="http://schemas.microsoft.com/office/powerpoint/2010/main" val="104283165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>
        <p14:reveal/>
      </p:transition>
    </mc:Choice>
    <mc:Fallback xmlns="">
      <p:transition spd="slow">
        <p:fade/>
      </p:transition>
    </mc:Fallback>
  </mc:AlternateContent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re 3">
            <a:extLst>
              <a:ext uri="{FF2B5EF4-FFF2-40B4-BE49-F238E27FC236}">
                <a16:creationId xmlns:a16="http://schemas.microsoft.com/office/drawing/2014/main" id="{15DA5B29-5402-4F39-8FAE-057E93616AE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BE"/>
              <a:t>Qu'est-ce qu'un cookie?</a:t>
            </a:r>
          </a:p>
        </p:txBody>
      </p:sp>
      <p:sp>
        <p:nvSpPr>
          <p:cNvPr id="5" name="Espace réservé du contenu 4">
            <a:extLst>
              <a:ext uri="{FF2B5EF4-FFF2-40B4-BE49-F238E27FC236}">
                <a16:creationId xmlns:a16="http://schemas.microsoft.com/office/drawing/2014/main" id="{A8E05BFB-519C-4DA7-8D8F-058BDAD2D6E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fr-BE"/>
              <a:t>Un petit fichier que le serveur web place sur l'ordinateur de l'utilisateur. </a:t>
            </a:r>
          </a:p>
          <a:p>
            <a:r>
              <a:rPr lang="fr-BE"/>
              <a:t>Application populaire:</a:t>
            </a:r>
          </a:p>
          <a:p>
            <a:pPr lvl="1"/>
            <a:r>
              <a:rPr lang="fr-BE"/>
              <a:t>Conserver l'identité d'un utilisateur de page en page</a:t>
            </a:r>
          </a:p>
          <a:p>
            <a:r>
              <a:rPr lang="fr-BE"/>
              <a:t>En PHP, vous créez, lisez, modifiez et supprimez vos propres cookies.</a:t>
            </a:r>
          </a:p>
          <a:p>
            <a:endParaRPr lang="fr-BE"/>
          </a:p>
        </p:txBody>
      </p:sp>
    </p:spTree>
    <p:extLst>
      <p:ext uri="{BB962C8B-B14F-4D97-AF65-F5344CB8AC3E}">
        <p14:creationId xmlns:p14="http://schemas.microsoft.com/office/powerpoint/2010/main" val="252109196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>
        <p14:reveal/>
      </p:transition>
    </mc:Choice>
    <mc:Fallback xmlns="">
      <p:transition spd="slow">
        <p:fade/>
      </p:transition>
    </mc:Fallback>
  </mc:AlternateContent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09EB4D1A-1C79-44E3-B12C-F5993958C48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BE"/>
              <a:t>Créer des cookies avec PHP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03255889-0074-4AF9-88AB-6C763349B6B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pPr marL="0" indent="0">
              <a:buNone/>
            </a:pPr>
            <a:r>
              <a:rPr lang="en-US" err="1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setcookie</a:t>
            </a:r>
            <a:r>
              <a:rPr lang="en-US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( </a:t>
            </a:r>
            <a:r>
              <a:rPr lang="en-US">
                <a:solidFill>
                  <a:schemeClr val="accent5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name</a:t>
            </a:r>
            <a:r>
              <a:rPr lang="en-US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, </a:t>
            </a:r>
            <a:r>
              <a:rPr lang="en-US">
                <a:solidFill>
                  <a:schemeClr val="accent4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value</a:t>
            </a:r>
            <a:r>
              <a:rPr lang="en-US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, </a:t>
            </a:r>
            <a:r>
              <a:rPr lang="en-US">
                <a:solidFill>
                  <a:schemeClr val="accent6">
                    <a:lumMod val="2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expire</a:t>
            </a:r>
            <a:r>
              <a:rPr lang="en-US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, </a:t>
            </a:r>
            <a:r>
              <a:rPr lang="en-US">
                <a:solidFill>
                  <a:schemeClr val="bg2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path</a:t>
            </a:r>
            <a:r>
              <a:rPr lang="en-US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,</a:t>
            </a:r>
            <a:br>
              <a:rPr lang="en-US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</a:br>
            <a:r>
              <a:rPr lang="en-US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		   domain, secure, </a:t>
            </a:r>
            <a:r>
              <a:rPr lang="en-US" err="1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httponly</a:t>
            </a:r>
            <a:r>
              <a:rPr lang="en-US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 );</a:t>
            </a:r>
          </a:p>
          <a:p>
            <a:pPr lvl="1"/>
            <a:r>
              <a:rPr lang="en-US">
                <a:solidFill>
                  <a:schemeClr val="accent5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name</a:t>
            </a:r>
            <a:r>
              <a:rPr lang="fr-BE"/>
              <a:t> : nom du cookie</a:t>
            </a:r>
          </a:p>
          <a:p>
            <a:pPr lvl="1"/>
            <a:r>
              <a:rPr lang="en-US">
                <a:solidFill>
                  <a:schemeClr val="accent4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value</a:t>
            </a:r>
            <a:r>
              <a:rPr lang="en-US"/>
              <a:t> : </a:t>
            </a:r>
            <a:r>
              <a:rPr lang="en-US" err="1"/>
              <a:t>valeur</a:t>
            </a:r>
            <a:r>
              <a:rPr lang="en-US"/>
              <a:t> du cookie </a:t>
            </a:r>
          </a:p>
          <a:p>
            <a:pPr lvl="1"/>
            <a:r>
              <a:rPr lang="en-US">
                <a:solidFill>
                  <a:schemeClr val="accent6">
                    <a:lumMod val="2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expire</a:t>
            </a:r>
            <a:r>
              <a:rPr lang="en-US"/>
              <a:t> : date-</a:t>
            </a:r>
            <a:r>
              <a:rPr lang="en-US" err="1"/>
              <a:t>heure</a:t>
            </a:r>
            <a:r>
              <a:rPr lang="en-US"/>
              <a:t> </a:t>
            </a:r>
            <a:r>
              <a:rPr lang="en-US" err="1"/>
              <a:t>d'expiration</a:t>
            </a:r>
            <a:r>
              <a:rPr lang="en-US"/>
              <a:t> du cookie </a:t>
            </a:r>
          </a:p>
          <a:p>
            <a:pPr lvl="2"/>
            <a:r>
              <a:rPr lang="en-US"/>
              <a:t>souvent </a:t>
            </a:r>
            <a:r>
              <a:rPr lang="en-US" err="1"/>
              <a:t>calculé</a:t>
            </a:r>
            <a:r>
              <a:rPr lang="en-US"/>
              <a:t> </a:t>
            </a:r>
            <a:r>
              <a:rPr lang="en-US" err="1"/>
              <a:t>ainsi</a:t>
            </a:r>
            <a:r>
              <a:rPr lang="en-US"/>
              <a:t> : date-</a:t>
            </a:r>
            <a:r>
              <a:rPr lang="en-US" err="1"/>
              <a:t>heure</a:t>
            </a:r>
            <a:r>
              <a:rPr lang="en-US"/>
              <a:t> courante + durée de </a:t>
            </a:r>
            <a:r>
              <a:rPr lang="en-US" err="1"/>
              <a:t>validité</a:t>
            </a:r>
            <a:endParaRPr lang="en-US"/>
          </a:p>
          <a:p>
            <a:pPr lvl="2"/>
            <a:r>
              <a:rPr lang="en-US"/>
              <a:t>si </a:t>
            </a:r>
            <a:r>
              <a:rPr lang="en-US" i="1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expire</a:t>
            </a:r>
            <a:r>
              <a:rPr lang="en-US"/>
              <a:t> </a:t>
            </a:r>
            <a:r>
              <a:rPr lang="en-US" err="1"/>
              <a:t>vaut</a:t>
            </a:r>
            <a:r>
              <a:rPr lang="en-US"/>
              <a:t> </a:t>
            </a:r>
            <a:r>
              <a:rPr lang="en-US" sz="2400" b="1">
                <a:solidFill>
                  <a:schemeClr val="accent6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0</a:t>
            </a:r>
            <a:r>
              <a:rPr lang="en-US"/>
              <a:t> </a:t>
            </a:r>
            <a:r>
              <a:rPr lang="en-US" err="1"/>
              <a:t>ou</a:t>
            </a:r>
            <a:r>
              <a:rPr lang="en-US"/>
              <a:t> </a:t>
            </a:r>
            <a:r>
              <a:rPr lang="en-US" err="1"/>
              <a:t>est</a:t>
            </a:r>
            <a:r>
              <a:rPr lang="en-US"/>
              <a:t> </a:t>
            </a:r>
            <a:r>
              <a:rPr lang="en-US" err="1"/>
              <a:t>omis</a:t>
            </a:r>
            <a:r>
              <a:rPr lang="en-US"/>
              <a:t>, </a:t>
            </a:r>
            <a:br>
              <a:rPr lang="en-US"/>
            </a:br>
            <a:r>
              <a:rPr lang="en-US"/>
              <a:t>alors le cookie </a:t>
            </a:r>
            <a:r>
              <a:rPr lang="en-US" err="1"/>
              <a:t>expirera</a:t>
            </a:r>
            <a:r>
              <a:rPr lang="en-US"/>
              <a:t> à la fin de la session.</a:t>
            </a:r>
          </a:p>
          <a:p>
            <a:pPr lvl="1"/>
            <a:r>
              <a:rPr lang="en-US">
                <a:solidFill>
                  <a:schemeClr val="bg2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path = "/"</a:t>
            </a:r>
            <a:r>
              <a:rPr lang="en-US"/>
              <a:t> : le répertoire en dessous duquel le cookie est disponible</a:t>
            </a:r>
          </a:p>
          <a:p>
            <a:pPr lvl="2"/>
            <a:r>
              <a:rPr lang="en-US"/>
              <a:t>dans ce cours : à mettre à </a:t>
            </a:r>
            <a:r>
              <a:rPr lang="en-US">
                <a:solidFill>
                  <a:schemeClr val="bg2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"/"</a:t>
            </a:r>
            <a:r>
              <a:rPr lang="en-US"/>
              <a:t> à des fins de test</a:t>
            </a:r>
          </a:p>
          <a:p>
            <a:r>
              <a:rPr lang="fr-BE"/>
              <a:t>A placer </a:t>
            </a:r>
            <a:r>
              <a:rPr lang="fr-BE" b="1">
                <a:solidFill>
                  <a:schemeClr val="accent2"/>
                </a:solidFill>
              </a:rPr>
              <a:t>AVANT</a:t>
            </a:r>
            <a:r>
              <a:rPr lang="fr-BE"/>
              <a:t> la balise </a:t>
            </a:r>
            <a:r>
              <a:rPr lang="fr-BE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&lt;html&gt;</a:t>
            </a:r>
          </a:p>
        </p:txBody>
      </p:sp>
    </p:spTree>
    <p:extLst>
      <p:ext uri="{BB962C8B-B14F-4D97-AF65-F5344CB8AC3E}">
        <p14:creationId xmlns:p14="http://schemas.microsoft.com/office/powerpoint/2010/main" val="111211717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>
        <p14:reveal/>
      </p:transition>
    </mc:Choice>
    <mc:Fallback xmlns="">
      <p:transition spd="slow">
        <p:fade/>
      </p:transition>
    </mc:Fallback>
  </mc:AlternateContent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09EB4D1A-1C79-44E3-B12C-F5993958C48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BE"/>
              <a:t>Créer des cookies avec PHP : exemple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03255889-0074-4AF9-88AB-6C763349B6B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US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$name = </a:t>
            </a:r>
            <a:r>
              <a:rPr lang="en-US">
                <a:latin typeface="Consolas" panose="020B0609020204030204" pitchFamily="49" charset="0"/>
                <a:cs typeface="Courier New" panose="02070309020205020404" pitchFamily="49" charset="0"/>
              </a:rPr>
              <a:t>"user"</a:t>
            </a:r>
            <a:r>
              <a:rPr lang="en-US">
                <a:solidFill>
                  <a:srgbClr val="00000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;</a:t>
            </a:r>
            <a:r>
              <a:rPr lang="en-US">
                <a:latin typeface="Consolas" panose="020B0609020204030204" pitchFamily="49" charset="0"/>
                <a:cs typeface="Courier New" panose="02070309020205020404" pitchFamily="49" charset="0"/>
              </a:rPr>
              <a:t/>
            </a:r>
            <a:br>
              <a:rPr lang="en-US">
                <a:latin typeface="Consolas" panose="020B0609020204030204" pitchFamily="49" charset="0"/>
                <a:cs typeface="Courier New" panose="02070309020205020404" pitchFamily="49" charset="0"/>
              </a:rPr>
            </a:br>
            <a:r>
              <a:rPr lang="en-US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$value = </a:t>
            </a:r>
            <a:r>
              <a:rPr lang="en-US">
                <a:latin typeface="Consolas" panose="020B0609020204030204" pitchFamily="49" charset="0"/>
                <a:cs typeface="Courier New" panose="02070309020205020404" pitchFamily="49" charset="0"/>
              </a:rPr>
              <a:t>"John Doe";</a:t>
            </a:r>
            <a:r>
              <a:rPr lang="en-US">
                <a:solidFill>
                  <a:srgbClr val="00000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/>
            </a:r>
            <a:br>
              <a:rPr lang="en-US">
                <a:solidFill>
                  <a:srgbClr val="00000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</a:br>
            <a:r>
              <a:rPr lang="en-US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$expire = </a:t>
            </a:r>
            <a:r>
              <a:rPr lang="en-US">
                <a:latin typeface="Consolas" panose="020B0609020204030204" pitchFamily="49" charset="0"/>
                <a:cs typeface="Courier New" panose="02070309020205020404" pitchFamily="49" charset="0"/>
              </a:rPr>
              <a:t>time() + (86400 * 30);</a:t>
            </a:r>
            <a:r>
              <a:rPr lang="en-US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/>
            </a:r>
            <a:br>
              <a:rPr lang="en-US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</a:br>
            <a:r>
              <a:rPr lang="en-US" err="1">
                <a:solidFill>
                  <a:schemeClr val="accent2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setcookie</a:t>
            </a:r>
            <a:r>
              <a:rPr lang="en-US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( $name, $value, $expire, "/");</a:t>
            </a:r>
          </a:p>
          <a:p>
            <a:r>
              <a:rPr lang="fr-BE"/>
              <a:t>Ce code crée un cookie nommé "user" avec la valeur "John Doe", qui expirera après 30 jours (86400 * 30).</a:t>
            </a:r>
            <a:r>
              <a:rPr lang="en-US" b="1">
                <a:solidFill>
                  <a:schemeClr val="accent6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 </a:t>
            </a:r>
            <a:br>
              <a:rPr lang="en-US" b="1">
                <a:solidFill>
                  <a:schemeClr val="accent6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endParaRPr lang="en-US" b="1">
              <a:solidFill>
                <a:schemeClr val="accent6">
                  <a:lumMod val="50000"/>
                </a:schemeClr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85901304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>
        <p14:reveal/>
      </p:transition>
    </mc:Choice>
    <mc:Fallback xmlns="">
      <p:transition spd="slow">
        <p:fade/>
      </p:transition>
    </mc:Fallback>
  </mc:AlternateContent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756B8AD4-8C16-4163-8CD2-EAA61E6FC70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BE"/>
              <a:t>Lire un cookie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B1D63915-830C-40F4-B5AA-C359620B4DD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BE"/>
              <a:t>super globale </a:t>
            </a:r>
            <a:r>
              <a:rPr lang="fr-BE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$_COOKIE</a:t>
            </a:r>
          </a:p>
          <a:p>
            <a:pPr lvl="1"/>
            <a:r>
              <a:rPr lang="fr-BE"/>
              <a:t>Lire la valeur du cookie, par ex. </a:t>
            </a:r>
          </a:p>
          <a:p>
            <a:pPr marL="914377" lvl="2" indent="0">
              <a:buNone/>
            </a:pPr>
            <a:r>
              <a:rPr lang="fr-BE" err="1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echo</a:t>
            </a:r>
            <a:r>
              <a:rPr lang="fr-BE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 $_COOKIE["user"];</a:t>
            </a:r>
          </a:p>
          <a:p>
            <a:pPr lvl="1"/>
            <a:r>
              <a:rPr lang="fr-BE"/>
              <a:t>Associative </a:t>
            </a:r>
            <a:r>
              <a:rPr lang="fr-BE" err="1"/>
              <a:t>array</a:t>
            </a:r>
            <a:r>
              <a:rPr lang="fr-BE"/>
              <a:t> !</a:t>
            </a:r>
          </a:p>
          <a:p>
            <a:r>
              <a:rPr lang="fr-BE" err="1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isset</a:t>
            </a:r>
            <a:r>
              <a:rPr lang="fr-BE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()</a:t>
            </a:r>
            <a:r>
              <a:rPr lang="fr-BE">
                <a:latin typeface="Consolas" panose="020B0609020204030204" pitchFamily="49" charset="0"/>
              </a:rPr>
              <a:t> </a:t>
            </a:r>
          </a:p>
          <a:p>
            <a:pPr lvl="1"/>
            <a:r>
              <a:rPr lang="fr-BE"/>
              <a:t>Savoir si le cookie est défini</a:t>
            </a:r>
          </a:p>
          <a:p>
            <a:endParaRPr lang="fr-BE"/>
          </a:p>
        </p:txBody>
      </p:sp>
    </p:spTree>
    <p:extLst>
      <p:ext uri="{BB962C8B-B14F-4D97-AF65-F5344CB8AC3E}">
        <p14:creationId xmlns:p14="http://schemas.microsoft.com/office/powerpoint/2010/main" val="123352236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>
        <p14:reveal/>
      </p:transition>
    </mc:Choice>
    <mc:Fallback xmlns="">
      <p:transition spd="slow">
        <p:fade/>
      </p:transition>
    </mc:Fallback>
  </mc:AlternateContent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2897FBD3-2CB1-458C-8CD3-8556940C497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BE"/>
              <a:t>Modifier un cookie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5109CC87-D438-45CB-B0FA-36426B775BC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11214"/>
            <a:ext cx="10515600" cy="4348165"/>
          </a:xfrm>
        </p:spPr>
        <p:txBody>
          <a:bodyPr>
            <a:normAutofit/>
          </a:bodyPr>
          <a:lstStyle/>
          <a:p>
            <a:r>
              <a:rPr lang="fr-BE"/>
              <a:t>On définit à nouveau le cookie avec les nouvelles valeurs.</a:t>
            </a:r>
          </a:p>
          <a:p>
            <a:pPr marL="0" indent="0">
              <a:buNone/>
            </a:pPr>
            <a:r>
              <a:rPr lang="en-US" err="1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setcookie</a:t>
            </a:r>
            <a:r>
              <a:rPr lang="en-US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(</a:t>
            </a:r>
            <a:r>
              <a:rPr lang="en-US">
                <a:solidFill>
                  <a:schemeClr val="accent5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name</a:t>
            </a:r>
            <a:r>
              <a:rPr lang="en-US" i="1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, </a:t>
            </a:r>
            <a:r>
              <a:rPr lang="en-US">
                <a:solidFill>
                  <a:schemeClr val="accent4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value</a:t>
            </a:r>
            <a:r>
              <a:rPr lang="en-US" i="1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, </a:t>
            </a:r>
            <a:r>
              <a:rPr lang="en-US">
                <a:solidFill>
                  <a:schemeClr val="accent6">
                    <a:lumMod val="2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expire</a:t>
            </a:r>
            <a:r>
              <a:rPr lang="en-US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, "/"</a:t>
            </a:r>
            <a:r>
              <a:rPr lang="en-US" i="1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);</a:t>
            </a:r>
          </a:p>
          <a:p>
            <a:pPr lvl="1"/>
            <a:r>
              <a:rPr lang="en-US">
                <a:solidFill>
                  <a:schemeClr val="accent5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name</a:t>
            </a:r>
            <a:r>
              <a:rPr lang="fr-BE"/>
              <a:t> : nom du cookie (inchangé)</a:t>
            </a:r>
          </a:p>
          <a:p>
            <a:pPr lvl="1"/>
            <a:r>
              <a:rPr lang="en-US">
                <a:solidFill>
                  <a:schemeClr val="accent4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value</a:t>
            </a:r>
            <a:r>
              <a:rPr lang="en-US"/>
              <a:t> : nouvelle </a:t>
            </a:r>
            <a:r>
              <a:rPr lang="en-US" err="1"/>
              <a:t>valeur</a:t>
            </a:r>
            <a:r>
              <a:rPr lang="en-US"/>
              <a:t> du cookie </a:t>
            </a:r>
          </a:p>
          <a:p>
            <a:pPr lvl="1"/>
            <a:r>
              <a:rPr lang="en-US">
                <a:solidFill>
                  <a:schemeClr val="accent6">
                    <a:lumMod val="2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expire</a:t>
            </a:r>
            <a:r>
              <a:rPr lang="en-US"/>
              <a:t> : nouvelle date-</a:t>
            </a:r>
            <a:r>
              <a:rPr lang="en-US" err="1"/>
              <a:t>heure</a:t>
            </a:r>
            <a:r>
              <a:rPr lang="en-US"/>
              <a:t> </a:t>
            </a:r>
            <a:r>
              <a:rPr lang="en-US" err="1"/>
              <a:t>d'expiration</a:t>
            </a:r>
            <a:r>
              <a:rPr lang="en-US"/>
              <a:t> du cookie, etc.</a:t>
            </a:r>
          </a:p>
          <a:p>
            <a:r>
              <a:rPr lang="en-US" err="1"/>
              <a:t>Exemple</a:t>
            </a:r>
            <a:endParaRPr lang="en-US" b="1">
              <a:solidFill>
                <a:schemeClr val="accent6">
                  <a:lumMod val="50000"/>
                </a:schemeClr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457189" lvl="1" indent="0">
              <a:buNone/>
            </a:pPr>
            <a:r>
              <a:rPr lang="en-US" err="1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setcookie</a:t>
            </a:r>
            <a:r>
              <a:rPr lang="en-US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( </a:t>
            </a:r>
            <a:r>
              <a:rPr lang="en-US">
                <a:latin typeface="Consolas" panose="020B0609020204030204" pitchFamily="49" charset="0"/>
                <a:cs typeface="Courier New" panose="02070309020205020404" pitchFamily="49" charset="0"/>
              </a:rPr>
              <a:t>"user"</a:t>
            </a:r>
            <a:r>
              <a:rPr lang="en-US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, </a:t>
            </a:r>
            <a:r>
              <a:rPr lang="en-US">
                <a:solidFill>
                  <a:schemeClr val="accent2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"Alex Porter"</a:t>
            </a:r>
            <a:r>
              <a:rPr lang="en-US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 );</a:t>
            </a:r>
          </a:p>
          <a:p>
            <a:endParaRPr lang="fr-BE" b="1" i="1">
              <a:solidFill>
                <a:schemeClr val="accent6">
                  <a:lumMod val="50000"/>
                </a:schemeClr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77739084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>
        <p14:reveal/>
      </p:transition>
    </mc:Choice>
    <mc:Fallback xmlns="">
      <p:transition spd="slow">
        <p:fade/>
      </p:transition>
    </mc:Fallback>
  </mc:AlternateContent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2897FBD3-2CB1-458C-8CD3-8556940C497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BE"/>
              <a:t>Supprimer un cookie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5109CC87-D438-45CB-B0FA-36426B775BC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BE"/>
              <a:t>On définit à nouveau le cookie, mais avec une date d'expiration dans le passé.</a:t>
            </a:r>
            <a:endParaRPr lang="en-US">
              <a:solidFill>
                <a:schemeClr val="accent6">
                  <a:lumMod val="50000"/>
                </a:schemeClr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r>
              <a:rPr lang="en-US" err="1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setcookie</a:t>
            </a:r>
            <a:r>
              <a:rPr lang="en-US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( </a:t>
            </a:r>
            <a:r>
              <a:rPr lang="en-US" i="1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name, value, </a:t>
            </a:r>
            <a:r>
              <a:rPr lang="en-US" i="1">
                <a:solidFill>
                  <a:schemeClr val="accent2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expire</a:t>
            </a:r>
            <a:r>
              <a:rPr lang="en-US" i="1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, "/" </a:t>
            </a:r>
            <a:r>
              <a:rPr lang="en-US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);</a:t>
            </a:r>
          </a:p>
          <a:p>
            <a:pPr lvl="1"/>
            <a:r>
              <a:rPr lang="fr-BE" i="1">
                <a:solidFill>
                  <a:schemeClr val="accent2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expire</a:t>
            </a:r>
            <a:r>
              <a:rPr lang="fr-BE"/>
              <a:t> : valeur </a:t>
            </a:r>
            <a:r>
              <a:rPr lang="fr-BE">
                <a:solidFill>
                  <a:schemeClr val="accent2"/>
                </a:solidFill>
              </a:rPr>
              <a:t>dans le passé</a:t>
            </a:r>
            <a:r>
              <a:rPr lang="fr-BE"/>
              <a:t>, par ex. </a:t>
            </a:r>
            <a:r>
              <a:rPr lang="fr-BE" i="1">
                <a:solidFill>
                  <a:schemeClr val="accent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1</a:t>
            </a:r>
          </a:p>
          <a:p>
            <a:r>
              <a:rPr lang="en-US" err="1"/>
              <a:t>Exemple</a:t>
            </a:r>
            <a:endParaRPr lang="en-US">
              <a:solidFill>
                <a:schemeClr val="accent6">
                  <a:lumMod val="50000"/>
                </a:schemeClr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457189" lvl="1" indent="0">
              <a:buNone/>
            </a:pPr>
            <a:r>
              <a:rPr lang="en-US" err="1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setcookie</a:t>
            </a:r>
            <a:r>
              <a:rPr lang="en-US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( </a:t>
            </a:r>
            <a:r>
              <a:rPr lang="en-US">
                <a:latin typeface="Consolas" panose="020B0609020204030204" pitchFamily="49" charset="0"/>
                <a:cs typeface="Courier New" panose="02070309020205020404" pitchFamily="49" charset="0"/>
              </a:rPr>
              <a:t>"user"</a:t>
            </a:r>
            <a:r>
              <a:rPr lang="en-US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, </a:t>
            </a:r>
            <a:r>
              <a:rPr lang="en-US">
                <a:latin typeface="Consolas" panose="020B0609020204030204" pitchFamily="49" charset="0"/>
                <a:cs typeface="Courier New" panose="02070309020205020404" pitchFamily="49" charset="0"/>
              </a:rPr>
              <a:t>"John Doe"</a:t>
            </a:r>
            <a:r>
              <a:rPr lang="en-US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, </a:t>
            </a:r>
            <a:r>
              <a:rPr lang="en-US">
                <a:solidFill>
                  <a:schemeClr val="accent2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1</a:t>
            </a:r>
            <a:r>
              <a:rPr lang="en-US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, "/" );</a:t>
            </a:r>
          </a:p>
          <a:p>
            <a:endParaRPr lang="fr-BE" i="1">
              <a:solidFill>
                <a:schemeClr val="accent6">
                  <a:lumMod val="50000"/>
                </a:schemeClr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26010232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>
        <p14:reveal/>
      </p:transition>
    </mc:Choice>
    <mc:Fallback xmlns="">
      <p:transition spd="slow">
        <p:fade/>
      </p:transition>
    </mc:Fallback>
  </mc:AlternateContent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C7EBFC8E-6EB3-515B-588D-728359F5A21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anchor="ctr">
            <a:normAutofit/>
          </a:bodyPr>
          <a:lstStyle/>
          <a:p>
            <a:r>
              <a:rPr lang="fr-BE"/>
              <a:t>Architecture des cookies</a:t>
            </a:r>
          </a:p>
        </p:txBody>
      </p:sp>
      <p:pic>
        <p:nvPicPr>
          <p:cNvPr id="5" name="Espace réservé du contenu 4">
            <a:extLst>
              <a:ext uri="{FF2B5EF4-FFF2-40B4-BE49-F238E27FC236}">
                <a16:creationId xmlns:a16="http://schemas.microsoft.com/office/drawing/2014/main" id="{55118A1C-DDC3-C98E-AD9D-332F01179CDB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rightnessContrast bright="20000" contrast="4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75378" y="1690688"/>
            <a:ext cx="8841244" cy="4486275"/>
          </a:xfrm>
          <a:noFill/>
        </p:spPr>
      </p:pic>
    </p:spTree>
    <p:extLst>
      <p:ext uri="{BB962C8B-B14F-4D97-AF65-F5344CB8AC3E}">
        <p14:creationId xmlns:p14="http://schemas.microsoft.com/office/powerpoint/2010/main" val="419148944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>
        <p14:reveal/>
      </p:transition>
    </mc:Choice>
    <mc:Fallback xmlns="">
      <p:transition spd="slow">
        <p:fade/>
      </p:transition>
    </mc:Fallback>
  </mc:AlternateContent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46"/>
          <p:cNvSpPr txBox="1"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BE"/>
              <a:t>Exo 27 : </a:t>
            </a:r>
            <a:r>
              <a:rPr lang="fr-BE" err="1"/>
              <a:t>log-in</a:t>
            </a:r>
            <a:r>
              <a:rPr lang="fr-BE"/>
              <a:t>, log-out</a:t>
            </a:r>
          </a:p>
        </p:txBody>
      </p:sp>
      <p:sp>
        <p:nvSpPr>
          <p:cNvPr id="280" name="Google Shape;280;p46"/>
          <p:cNvSpPr txBox="1">
            <a:spLocks noGrp="1"/>
          </p:cNvSpPr>
          <p:nvPr>
            <p:ph sz="half" idx="1"/>
          </p:nvPr>
        </p:nvSpPr>
        <p:spPr/>
        <p:txBody>
          <a:bodyPr numCol="1">
            <a:normAutofit fontScale="85000" lnSpcReduction="20000"/>
          </a:bodyPr>
          <a:lstStyle/>
          <a:p>
            <a:r>
              <a:rPr lang="fr-BE"/>
              <a:t>Ecrivez un programme </a:t>
            </a:r>
            <a:r>
              <a:rPr lang="fr-BE" err="1"/>
              <a:t>php</a:t>
            </a:r>
            <a:r>
              <a:rPr lang="fr-BE"/>
              <a:t> qui permet à  l’utilisateur de se </a:t>
            </a:r>
            <a:r>
              <a:rPr lang="fr-BE" err="1"/>
              <a:t>logguer</a:t>
            </a:r>
            <a:r>
              <a:rPr lang="fr-BE"/>
              <a:t>, en saisissant son nom dans un input </a:t>
            </a:r>
            <a:r>
              <a:rPr lang="fr-BE" err="1"/>
              <a:t>field</a:t>
            </a:r>
            <a:r>
              <a:rPr lang="fr-BE"/>
              <a:t>.</a:t>
            </a:r>
          </a:p>
          <a:p>
            <a:r>
              <a:rPr lang="fr-BE"/>
              <a:t>Ensuite, écrivez un programme </a:t>
            </a:r>
            <a:r>
              <a:rPr lang="fr-BE" err="1"/>
              <a:t>php</a:t>
            </a:r>
            <a:r>
              <a:rPr lang="fr-BE"/>
              <a:t> qui permet à  l’utilisateur de se </a:t>
            </a:r>
            <a:r>
              <a:rPr lang="fr-BE" err="1"/>
              <a:t>délogguer</a:t>
            </a:r>
            <a:r>
              <a:rPr lang="fr-BE"/>
              <a:t>.</a:t>
            </a:r>
          </a:p>
          <a:p>
            <a:r>
              <a:rPr lang="fr-BE"/>
              <a:t>Le login de l'utilisateur est enregistré dans une variable </a:t>
            </a:r>
            <a:r>
              <a:rPr lang="fr-BE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$_COOKIE</a:t>
            </a:r>
            <a:r>
              <a:rPr lang="fr-BE"/>
              <a:t>.</a:t>
            </a:r>
          </a:p>
          <a:p>
            <a:r>
              <a:rPr lang="fr-BE"/>
              <a:t>fichier exo :</a:t>
            </a:r>
          </a:p>
          <a:p>
            <a:pPr lvl="1"/>
            <a:r>
              <a:rPr lang="fr-BE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</a:rPr>
              <a:t>exo27_login_cookie.php</a:t>
            </a:r>
          </a:p>
          <a:p>
            <a:pPr lvl="1"/>
            <a:endParaRPr lang="fr-BE"/>
          </a:p>
        </p:txBody>
      </p:sp>
      <p:pic>
        <p:nvPicPr>
          <p:cNvPr id="281" name="Google Shape;281;p46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6191480" y="2689492"/>
            <a:ext cx="5916057" cy="739508"/>
          </a:xfrm>
          <a:prstGeom prst="rect">
            <a:avLst/>
          </a:prstGeom>
          <a:noFill/>
          <a:ln>
            <a:noFill/>
          </a:ln>
        </p:spPr>
      </p:pic>
      <p:pic>
        <p:nvPicPr>
          <p:cNvPr id="282" name="Google Shape;282;p46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6191480" y="4080689"/>
            <a:ext cx="2392575" cy="1279750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213525194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>
        <p14:reveal/>
      </p:transition>
    </mc:Choice>
    <mc:Fallback xmlns="">
      <p:transition spd="slow">
        <p:fade/>
      </p:transition>
    </mc:Fallback>
  </mc:AlternateContent>
</p:sld>
</file>

<file path=ppt/theme/theme1.xml><?xml version="1.0" encoding="utf-8"?>
<a:theme xmlns:a="http://schemas.openxmlformats.org/drawingml/2006/main" name="burotix">
  <a:themeElements>
    <a:clrScheme name="Custom 4">
      <a:dk1>
        <a:sysClr val="windowText" lastClr="000000"/>
      </a:dk1>
      <a:lt1>
        <a:sysClr val="window" lastClr="FFFFFF"/>
      </a:lt1>
      <a:dk2>
        <a:srgbClr val="162F33"/>
      </a:dk2>
      <a:lt2>
        <a:srgbClr val="EAF0E0"/>
      </a:lt2>
      <a:accent1>
        <a:srgbClr val="0DD3D1"/>
      </a:accent1>
      <a:accent2>
        <a:srgbClr val="1963A1"/>
      </a:accent2>
      <a:accent3>
        <a:srgbClr val="E5CBAD"/>
      </a:accent3>
      <a:accent4>
        <a:srgbClr val="5DF5F3"/>
      </a:accent4>
      <a:accent5>
        <a:srgbClr val="56A4E4"/>
      </a:accent5>
      <a:accent6>
        <a:srgbClr val="EFDFCD"/>
      </a:accent6>
      <a:hlink>
        <a:srgbClr val="000000"/>
      </a:hlink>
      <a:folHlink>
        <a:srgbClr val="3F3F3F"/>
      </a:folHlink>
    </a:clrScheme>
    <a:fontScheme name="Garamond">
      <a:majorFont>
        <a:latin typeface="Garamond" panose="02020404030301010803"/>
        <a:ea typeface=""/>
        <a:cs typeface=""/>
        <a:font script="Jpan" typeface="ＭＳ Ｐゴシック"/>
        <a:font script="Hang" typeface="돋움"/>
        <a:font script="Hans" typeface="方正舒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Garamond" panose="02020404030301010803"/>
        <a:ea typeface=""/>
        <a:cs typeface=""/>
        <a:font script="Jpan" typeface="ＭＳ Ｐゴシック"/>
        <a:font script="Hang" typeface="돋움"/>
        <a:font script="Hans" typeface="方正舒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Solides discrets">
      <a:fillStyleLst>
        <a:solidFill>
          <a:schemeClr val="phClr"/>
        </a:solidFill>
        <a:solidFill>
          <a:schemeClr val="phClr">
            <a:tint val="65000"/>
          </a:schemeClr>
        </a:solidFill>
        <a:solidFill>
          <a:schemeClr val="phClr">
            <a:shade val="80000"/>
            <a:satMod val="150000"/>
          </a:schemeClr>
        </a:solidFill>
      </a:fillStyleLst>
      <a:lnStyleLst>
        <a:ln w="9525" cap="flat" cmpd="sng" algn="ctr">
          <a:solidFill>
            <a:schemeClr val="phClr"/>
          </a:solidFill>
          <a:prstDash val="solid"/>
        </a:ln>
        <a:ln w="10795" cap="flat" cmpd="sng" algn="ctr">
          <a:solidFill>
            <a:schemeClr val="phClr"/>
          </a:solidFill>
          <a:prstDash val="solid"/>
        </a:ln>
        <a:ln w="17145" cap="flat" cmpd="sng" algn="ctr">
          <a:solidFill>
            <a:schemeClr val="phClr">
              <a:shade val="95000"/>
              <a:alpha val="50000"/>
              <a:satMod val="150000"/>
            </a:schemeClr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44450" dist="13970" dir="5400000" algn="ctr" rotWithShape="0">
              <a:srgbClr val="000000">
                <a:alpha val="45000"/>
              </a:srgbClr>
            </a:outerShdw>
          </a:effectLst>
          <a:scene3d>
            <a:camera prst="orthographicFront">
              <a:rot lat="0" lon="0" rev="0"/>
            </a:camera>
            <a:lightRig rig="twoPt" dir="tl"/>
          </a:scene3d>
          <a:sp3d prstMaterial="flat">
            <a:bevelT w="12700" h="25400" prst="coolSlant"/>
          </a:sp3d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solidFill>
          <a:schemeClr val="phClr">
            <a:shade val="95000"/>
            <a:satMod val="170000"/>
          </a:schemeClr>
        </a:soli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burotix2025.potm" id="{9A679E22-159F-4468-BD25-5554C2F5C34C}" vid="{02412E46-CBBA-45C1-A7EE-8401C077A527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burotix2025</Template>
  <TotalTime>9085</TotalTime>
  <Words>1607</Words>
  <Application>Microsoft Office PowerPoint</Application>
  <PresentationFormat>Grand écran</PresentationFormat>
  <Paragraphs>230</Paragraphs>
  <Slides>38</Slides>
  <Notes>26</Notes>
  <HiddenSlides>0</HiddenSlides>
  <MMClips>0</MMClips>
  <ScaleCrop>false</ScaleCrop>
  <HeadingPairs>
    <vt:vector size="8" baseType="variant">
      <vt:variant>
        <vt:lpstr>Polices utilisées</vt:lpstr>
      </vt:variant>
      <vt:variant>
        <vt:i4>6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38</vt:i4>
      </vt:variant>
      <vt:variant>
        <vt:lpstr>Diaporamas personnalisés</vt:lpstr>
      </vt:variant>
      <vt:variant>
        <vt:i4>1</vt:i4>
      </vt:variant>
    </vt:vector>
  </HeadingPairs>
  <TitlesOfParts>
    <vt:vector size="46" baseType="lpstr">
      <vt:lpstr>Arial</vt:lpstr>
      <vt:lpstr>Calibri</vt:lpstr>
      <vt:lpstr>Consolas</vt:lpstr>
      <vt:lpstr>Courier New</vt:lpstr>
      <vt:lpstr>Garamond</vt:lpstr>
      <vt:lpstr>Wingdings</vt:lpstr>
      <vt:lpstr>burotix</vt:lpstr>
      <vt:lpstr>Bachelier en Informatique de Gestion  Web : principes de base Projet de Développement Web</vt:lpstr>
      <vt:lpstr>Table des matières</vt:lpstr>
      <vt:lpstr>22. Traitement du Formulaire</vt:lpstr>
      <vt:lpstr>Transit des données</vt:lpstr>
      <vt:lpstr>Objectifs des formulaires</vt:lpstr>
      <vt:lpstr>Comment faire transiter les données?</vt:lpstr>
      <vt:lpstr>Comment traiter les données?</vt:lpstr>
      <vt:lpstr>Exemple de formulaire</vt:lpstr>
      <vt:lpstr>Balises HTML Form</vt:lpstr>
      <vt:lpstr>La balise &lt;input&gt;</vt:lpstr>
      <vt:lpstr>Autres balises</vt:lpstr>
      <vt:lpstr>Soumettre un formulaire </vt:lpstr>
      <vt:lpstr>Exo 01 : Sample "Atomic" Form</vt:lpstr>
      <vt:lpstr>Exo 03 : Sample "Molecular" Form</vt:lpstr>
      <vt:lpstr>Exo 05 : Catalogue + Form Input</vt:lpstr>
      <vt:lpstr>Super Globales : $_GET et $_POST</vt:lpstr>
      <vt:lpstr>$_GET et $_POST</vt:lpstr>
      <vt:lpstr>$_GET et $_POST</vt:lpstr>
      <vt:lpstr>Exo 06 : lire le form</vt:lpstr>
      <vt:lpstr>Exo 07 : login élémentaire et bibliothèque de fonction</vt:lpstr>
      <vt:lpstr>Exo 11 : Catalogue + Insertion CSV</vt:lpstr>
      <vt:lpstr>Super Globales : $_SESSION</vt:lpstr>
      <vt:lpstr>Définition</vt:lpstr>
      <vt:lpstr>session_start()</vt:lpstr>
      <vt:lpstr>session_unset()</vt:lpstr>
      <vt:lpstr>$_SESSION</vt:lpstr>
      <vt:lpstr>isset($var)</vt:lpstr>
      <vt:lpstr>Exo 21 : log-in, log-out</vt:lpstr>
      <vt:lpstr>Exo 24 : log-in et identification</vt:lpstr>
      <vt:lpstr>Super Globales : $_COOKIE</vt:lpstr>
      <vt:lpstr>Qu'est-ce qu'un cookie?</vt:lpstr>
      <vt:lpstr>Créer des cookies avec PHP</vt:lpstr>
      <vt:lpstr>Créer des cookies avec PHP : exemple</vt:lpstr>
      <vt:lpstr>Lire un cookie</vt:lpstr>
      <vt:lpstr>Modifier un cookie</vt:lpstr>
      <vt:lpstr>Supprimer un cookie</vt:lpstr>
      <vt:lpstr>Architecture des cookies</vt:lpstr>
      <vt:lpstr>Exo 27 : log-in, log-out</vt:lpstr>
      <vt:lpstr>cefora powerpoint base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Bachelier en Informatique de Gestion  Projet de Développement Web</dc:title>
  <dc:creator>Alain Wafflard</dc:creator>
  <cp:lastModifiedBy>PROF</cp:lastModifiedBy>
  <cp:revision>131</cp:revision>
  <dcterms:created xsi:type="dcterms:W3CDTF">2020-03-25T16:55:22Z</dcterms:created>
  <dcterms:modified xsi:type="dcterms:W3CDTF">2025-12-08T20:37:26Z</dcterms:modified>
</cp:coreProperties>
</file>