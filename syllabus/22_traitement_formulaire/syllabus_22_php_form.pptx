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7" r:id="rId1"/>
  </p:sldMasterIdLst>
  <p:notesMasterIdLst>
    <p:notesMasterId r:id="rId42"/>
  </p:notesMasterIdLst>
  <p:sldIdLst>
    <p:sldId id="416" r:id="rId2"/>
    <p:sldId id="417" r:id="rId3"/>
    <p:sldId id="352" r:id="rId4"/>
    <p:sldId id="606" r:id="rId5"/>
    <p:sldId id="647" r:id="rId6"/>
    <p:sldId id="646" r:id="rId7"/>
    <p:sldId id="353" r:id="rId8"/>
    <p:sldId id="354" r:id="rId9"/>
    <p:sldId id="649" r:id="rId10"/>
    <p:sldId id="648" r:id="rId11"/>
    <p:sldId id="605" r:id="rId12"/>
    <p:sldId id="357" r:id="rId13"/>
    <p:sldId id="362" r:id="rId14"/>
    <p:sldId id="367" r:id="rId15"/>
    <p:sldId id="517" r:id="rId16"/>
    <p:sldId id="638" r:id="rId17"/>
    <p:sldId id="448" r:id="rId18"/>
    <p:sldId id="451" r:id="rId19"/>
    <p:sldId id="452" r:id="rId20"/>
    <p:sldId id="453" r:id="rId21"/>
    <p:sldId id="471" r:id="rId22"/>
    <p:sldId id="641" r:id="rId23"/>
    <p:sldId id="472" r:id="rId24"/>
    <p:sldId id="460" r:id="rId25"/>
    <p:sldId id="461" r:id="rId26"/>
    <p:sldId id="462" r:id="rId27"/>
    <p:sldId id="463" r:id="rId28"/>
    <p:sldId id="464" r:id="rId29"/>
    <p:sldId id="465" r:id="rId30"/>
    <p:sldId id="467" r:id="rId31"/>
    <p:sldId id="468" r:id="rId32"/>
    <p:sldId id="607" r:id="rId33"/>
    <p:sldId id="608" r:id="rId34"/>
    <p:sldId id="609" r:id="rId35"/>
    <p:sldId id="610" r:id="rId36"/>
    <p:sldId id="611" r:id="rId37"/>
    <p:sldId id="612" r:id="rId38"/>
    <p:sldId id="613" r:id="rId39"/>
    <p:sldId id="642" r:id="rId40"/>
    <p:sldId id="643" r:id="rId41"/>
  </p:sldIdLst>
  <p:sldSz cx="12192000" cy="6858000"/>
  <p:notesSz cx="6858000" cy="9144000"/>
  <p:custShowLst>
    <p:custShow name="cefora powerpoint base" id="0">
      <p:sldLst/>
    </p:custShow>
  </p:custShowLst>
  <p:defaultTextStyle>
    <a:defPPr>
      <a:defRPr lang="fr-FR"/>
    </a:defPPr>
    <a:lvl1pPr marL="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22 traitement formulaire" id="{08DFCFE3-79D6-440F-BB58-C288840FDF0A}">
          <p14:sldIdLst>
            <p14:sldId id="416"/>
            <p14:sldId id="417"/>
            <p14:sldId id="352"/>
            <p14:sldId id="606"/>
            <p14:sldId id="647"/>
            <p14:sldId id="646"/>
            <p14:sldId id="353"/>
            <p14:sldId id="354"/>
            <p14:sldId id="649"/>
            <p14:sldId id="648"/>
            <p14:sldId id="605"/>
            <p14:sldId id="357"/>
            <p14:sldId id="362"/>
            <p14:sldId id="367"/>
            <p14:sldId id="517"/>
            <p14:sldId id="638"/>
            <p14:sldId id="448"/>
            <p14:sldId id="451"/>
            <p14:sldId id="452"/>
            <p14:sldId id="453"/>
            <p14:sldId id="471"/>
            <p14:sldId id="641"/>
            <p14:sldId id="472"/>
            <p14:sldId id="460"/>
            <p14:sldId id="461"/>
            <p14:sldId id="462"/>
            <p14:sldId id="463"/>
            <p14:sldId id="464"/>
            <p14:sldId id="465"/>
            <p14:sldId id="467"/>
            <p14:sldId id="468"/>
            <p14:sldId id="607"/>
            <p14:sldId id="608"/>
            <p14:sldId id="609"/>
            <p14:sldId id="610"/>
            <p14:sldId id="611"/>
            <p14:sldId id="612"/>
            <p14:sldId id="613"/>
            <p14:sldId id="642"/>
            <p14:sldId id="64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lain Wafflard" initials="AW" lastIdx="1" clrIdx="0">
    <p:extLst>
      <p:ext uri="{19B8F6BF-5375-455C-9EA6-DF929625EA0E}">
        <p15:presenceInfo xmlns:p15="http://schemas.microsoft.com/office/powerpoint/2012/main" userId="76bb5ce92a207b2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FF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5CB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94" autoAdjust="0"/>
    <p:restoredTop sz="86419" autoAdjust="0"/>
  </p:normalViewPr>
  <p:slideViewPr>
    <p:cSldViewPr snapToGrid="0">
      <p:cViewPr varScale="1">
        <p:scale>
          <a:sx n="58" d="100"/>
          <a:sy n="58" d="100"/>
        </p:scale>
        <p:origin x="102" y="94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3552" y="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commentAuthors" Target="comment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E9742F-4DAE-47F5-9244-6ACC3985DD6B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3842A0-1A3F-4998-8237-CE5EEE5DFDF0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556068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1" name="Google Shape;5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BE"/>
              <a:t>1</a:t>
            </a:fld>
            <a:endParaRPr/>
          </a:p>
        </p:txBody>
      </p:sp>
      <p:sp>
        <p:nvSpPr>
          <p:cNvPr id="53" name="Google Shape;53;p1:notes"/>
          <p:cNvSpPr txBox="1">
            <a:spLocks noGrp="1"/>
          </p:cNvSpPr>
          <p:nvPr>
            <p:ph type="hdr" idx="3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GESTIONNAIRE DE BASE DE DONNEES – NIVEAU ELEMENTAIRE - MS ACCESS</a:t>
            </a:r>
            <a:endParaRPr/>
          </a:p>
        </p:txBody>
      </p:sp>
      <p:sp>
        <p:nvSpPr>
          <p:cNvPr id="54" name="Google Shape;54;p1:notes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BE"/>
              <a:t>Professeur : Alain Wafflard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" name="Google Shape;3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2526876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gae4b1ffd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" name="Google Shape;42;gae4b1ffd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029991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ae4b1ffd_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ae4b1ffd_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15306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>
          <a:extLst>
            <a:ext uri="{FF2B5EF4-FFF2-40B4-BE49-F238E27FC236}">
              <a16:creationId xmlns:a16="http://schemas.microsoft.com/office/drawing/2014/main" id="{3EB04D6E-8DAA-9F1E-D64F-5CF2864D1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af1ccaf6_015:notes">
            <a:extLst>
              <a:ext uri="{FF2B5EF4-FFF2-40B4-BE49-F238E27FC236}">
                <a16:creationId xmlns:a16="http://schemas.microsoft.com/office/drawing/2014/main" id="{B808C508-0120-D2BD-6FD5-EA6FF2436B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af1ccaf6_015:notes">
            <a:extLst>
              <a:ext uri="{FF2B5EF4-FFF2-40B4-BE49-F238E27FC236}">
                <a16:creationId xmlns:a16="http://schemas.microsoft.com/office/drawing/2014/main" id="{8C98AEC4-B7E6-07D8-AFEA-6296F304B5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393719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ae4b1ffd_0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ae4b1ffd_0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648942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ae4b1ffd_0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ae4b1ffd_0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11652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7b4200d84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7b4200d84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460077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28d8db6e_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28d8db6e_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514710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1dc672069_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1dc672069_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352757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1dc672069_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1dc672069_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573325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1dc672069_0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1dc672069_0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0410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1dc672069_0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1dc672069_0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39423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128d8db6e_0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128d8db6e_0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450775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1e0fb6f38_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1e0fb6f38_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36477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1e0fb6f38_0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1e0fb6f38_0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4421941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1e0fb6f38_0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1e0fb6f38_0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082999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1e0fb6f38_0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1e0fb6f38_0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41588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1e0fb6f38_0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1e0fb6f38_0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29141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1e0fb6f38_0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1e0fb6f38_0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9624718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9196d74e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9196d74e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341396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128d8db6e_0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128d8db6e_0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43441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1e0fb6f38_0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1e0fb6f38_0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2812464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9196d74e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9196d74e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305038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solidFill>
            <a:schemeClr val="accent3">
              <a:lumMod val="40000"/>
              <a:lumOff val="60000"/>
            </a:schemeClr>
          </a:solidFill>
        </p:spPr>
        <p:txBody>
          <a:bodyPr anchor="b">
            <a:normAutofit/>
          </a:bodyPr>
          <a:lstStyle>
            <a:lvl1pPr algn="ctr"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F8EFA58-10A1-BAA7-B65E-A754A43B7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314B8606-B65F-6EB2-899E-91B5C83E7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2FA919-3ED3-80D3-E61B-53F97BE66B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056831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268EF8D-0946-4672-F93D-1040FBC997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F8A40D7-7FAD-432F-7B9F-71125A565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4A3E5DF-3F32-A840-9AC0-4B04DF13C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081793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D67B63-F450-35EF-442C-62311487D2F4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BC20ED6-7274-FD2F-773B-9069D53732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282271-26EC-908B-2E9D-6EE95CFBEB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4232937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accent2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 dirty="0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8BD7575-5E4D-B6F7-D511-002E7EBB1A2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57AA542-0BD3-6896-CFBC-925661457ED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F1D4A95-E4A4-1574-4F11-DE8F196135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42986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90689"/>
            <a:ext cx="5181600" cy="44862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23EE368-836F-D6B7-3720-94E515B8E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40FC0D1-460C-5274-B67A-CADD30115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D5E82B2-87DB-8B8E-12FD-843E81352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782410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D605DBAD-E815-DA9F-C843-1DE122AA5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44211E-58E3-3B61-D18C-DCC7772A09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5F2F6A2-3605-D138-CBD4-299C105E1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661786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BB23E5C8-1D92-E25A-D482-9866759B5B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5ACAADE-10AC-A5C6-B021-C668BC2068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4BD460E-C94D-0F17-7C77-D32F9CC12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2041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109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457200"/>
            <a:ext cx="6172200" cy="54038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33BACDB-1022-3581-CB46-1F85D70253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C8F4609-0312-F825-CC91-FAC10F330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1F0E555-3A77-670E-9C69-DE1D8DE23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238948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>
            <a:normAutofit/>
          </a:bodyPr>
          <a:lstStyle>
            <a:lvl1pPr>
              <a:defRPr lang="fr-BE"/>
            </a:lvl1pPr>
          </a:lstStyle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83B7C617-6903-4988-8F47-3C72C68028F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2160000" cy="216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776411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ub-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1" y="4544704"/>
            <a:ext cx="10515600" cy="1628211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fr-BE" dirty="0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FDD30A2-EFB1-4B31-8365-64458F4E13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00000" y="720000"/>
            <a:ext cx="1440000" cy="1440000"/>
          </a:xfrm>
        </p:spPr>
        <p:txBody>
          <a:bodyPr/>
          <a:lstStyle/>
          <a:p>
            <a:r>
              <a:rPr lang="fr-FR"/>
              <a:t>Cliquez sur l'icône pour ajouter une image</a:t>
            </a:r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857476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ison" userDrawn="1">
  <p:cSld name="1_Comparaison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6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46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46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46"/>
          <p:cNvSpPr txBox="1">
            <a:spLocks noGrp="1"/>
          </p:cNvSpPr>
          <p:nvPr>
            <p:ph type="body" idx="3"/>
          </p:nvPr>
        </p:nvSpPr>
        <p:spPr>
          <a:xfrm>
            <a:off x="4394864" y="1677195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46"/>
          <p:cNvSpPr txBox="1">
            <a:spLocks noGrp="1"/>
          </p:cNvSpPr>
          <p:nvPr>
            <p:ph type="body" idx="4"/>
          </p:nvPr>
        </p:nvSpPr>
        <p:spPr>
          <a:xfrm>
            <a:off x="4394863" y="2501107"/>
            <a:ext cx="3419999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" name="Google Shape;44;p146">
            <a:extLst>
              <a:ext uri="{FF2B5EF4-FFF2-40B4-BE49-F238E27FC236}">
                <a16:creationId xmlns:a16="http://schemas.microsoft.com/office/drawing/2014/main" id="{2E687717-1647-0388-990E-8851C964199E}"/>
              </a:ext>
            </a:extLst>
          </p:cNvPr>
          <p:cNvSpPr txBox="1">
            <a:spLocks noGrp="1"/>
          </p:cNvSpPr>
          <p:nvPr>
            <p:ph type="body" idx="10"/>
          </p:nvPr>
        </p:nvSpPr>
        <p:spPr>
          <a:xfrm>
            <a:off x="7949940" y="1690688"/>
            <a:ext cx="34200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" name="Google Shape;45;p146">
            <a:extLst>
              <a:ext uri="{FF2B5EF4-FFF2-40B4-BE49-F238E27FC236}">
                <a16:creationId xmlns:a16="http://schemas.microsoft.com/office/drawing/2014/main" id="{D8C59DA1-11B0-4EEA-43AC-8402AF228130}"/>
              </a:ext>
            </a:extLst>
          </p:cNvPr>
          <p:cNvSpPr txBox="1">
            <a:spLocks noGrp="1"/>
          </p:cNvSpPr>
          <p:nvPr>
            <p:ph type="body" idx="11"/>
          </p:nvPr>
        </p:nvSpPr>
        <p:spPr>
          <a:xfrm>
            <a:off x="7949937" y="2529543"/>
            <a:ext cx="3433923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1">
                  <a:lumMod val="50000"/>
                </a:schemeClr>
              </a:buClr>
              <a:buSzPts val="1800"/>
              <a:buFont typeface="Garamond" panose="02020404030301010803" pitchFamily="18" charset="0"/>
              <a:buChar char="■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961426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BE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D73148E-CCCA-4F1F-A836-655D884BBF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95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C092ED-0E97-497E-99D9-BB9DD7276F53}" type="slidenum">
              <a:rPr lang="fr-BE" smtClean="0"/>
              <a:t>‹N°›</a:t>
            </a:fld>
            <a:endParaRPr lang="fr-BE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E29B381-A1A5-FC30-27CA-947A269038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953782-D06E-4853-BE3C-64C197273937}" type="datetimeFigureOut">
              <a:rPr lang="fr-BE" smtClean="0"/>
              <a:t>23-02-26</a:t>
            </a:fld>
            <a:endParaRPr lang="fr-BE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BFB2116-0A00-B6AB-43FF-F23B8EB09A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BE"/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0ACFF670-65EF-AAD9-D180-4FB3AFC05700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0515" y="5719725"/>
            <a:ext cx="1046571" cy="914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67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8" r:id="rId1"/>
    <p:sldLayoutId id="2147483859" r:id="rId2"/>
    <p:sldLayoutId id="2147483860" r:id="rId3"/>
    <p:sldLayoutId id="2147483861" r:id="rId4"/>
    <p:sldLayoutId id="2147483862" r:id="rId5"/>
    <p:sldLayoutId id="2147483863" r:id="rId6"/>
    <p:sldLayoutId id="2147483864" r:id="rId7"/>
    <p:sldLayoutId id="2147483865" r:id="rId8"/>
    <p:sldLayoutId id="2147483866" r:id="rId9"/>
    <p:sldLayoutId id="2147483853" r:id="rId10"/>
    <p:sldLayoutId id="2147483852" r:id="rId11"/>
    <p:sldLayoutId id="2147483867" r:id="rId12"/>
  </p:sldLayoutIdLst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  <p:hf hdr="0" ftr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5"/>
          </a:solidFill>
          <a:latin typeface="+mn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bg1">
            <a:lumMod val="50000"/>
          </a:schemeClr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reddit.com/r/learnprogramming/comments/12ikg84/mpa_vs_spa_are_we_overcomplicating_web_development/?tl=fr" TargetMode="Externa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://i.i.com.com/cnwk.1d/i/tim/2011/01/18/HTML5_Logo_550px_270x270.png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gif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"/>
          <p:cNvSpPr txBox="1">
            <a:spLocks noGrp="1"/>
          </p:cNvSpPr>
          <p:nvPr>
            <p:ph type="ctr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/>
            <a:r>
              <a:rPr lang="fr-BE" dirty="0"/>
              <a:t>Bachelier en Informatique de Gestion</a:t>
            </a:r>
            <a:br>
              <a:rPr lang="fr-BE" dirty="0"/>
            </a:br>
            <a:br>
              <a:rPr lang="fr-BE"/>
            </a:br>
            <a:r>
              <a:rPr lang="fr-BE"/>
              <a:t>Web </a:t>
            </a:r>
            <a:r>
              <a:rPr lang="fr-BE" dirty="0"/>
              <a:t>: principes </a:t>
            </a:r>
            <a:r>
              <a:rPr lang="fr-BE"/>
              <a:t>de base</a:t>
            </a:r>
            <a:br>
              <a:rPr lang="fr-BE"/>
            </a:br>
            <a:r>
              <a:rPr lang="fr-BE"/>
              <a:t>Projet de Développement Web</a:t>
            </a:r>
            <a:endParaRPr lang="fr-BE" dirty="0"/>
          </a:p>
        </p:txBody>
      </p:sp>
      <p:sp>
        <p:nvSpPr>
          <p:cNvPr id="57" name="Google Shape;57;p1"/>
          <p:cNvSpPr txBox="1">
            <a:spLocks noGrp="1"/>
          </p:cNvSpPr>
          <p:nvPr>
            <p:ph type="subTitle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fr-BE" dirty="0"/>
              <a:t>Enseignement supérieur économique de type court</a:t>
            </a:r>
          </a:p>
          <a:p>
            <a:pPr lvl="0"/>
            <a:r>
              <a:rPr lang="fr-BE" dirty="0"/>
              <a:t>Code </a:t>
            </a:r>
            <a:r>
              <a:rPr lang="fr-BE" dirty="0" err="1"/>
              <a:t>FWB</a:t>
            </a:r>
            <a:r>
              <a:rPr lang="fr-BE"/>
              <a:t> : 7534 29 U32 D1, 7534 30 U32 D3</a:t>
            </a:r>
          </a:p>
          <a:p>
            <a:pPr lvl="0"/>
            <a:r>
              <a:rPr lang="fr-BE"/>
              <a:t>Code ISFCE : 4IWPB, 4IPW3</a:t>
            </a:r>
          </a:p>
          <a:p>
            <a:pPr lvl="0"/>
            <a:endParaRPr lang="fr-BE"/>
          </a:p>
        </p:txBody>
      </p:sp>
      <p:pic>
        <p:nvPicPr>
          <p:cNvPr id="58" name="Google Shape;5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406447" y="5094815"/>
            <a:ext cx="1674557" cy="16745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:ahyp="http://schemas.microsoft.com/office/drawing/2018/hyperlinkcolor" xmlns:p15="http://schemas.microsoft.com/office/powerpoint/2012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"/>
          <p:cNvSpPr txBox="1">
            <a:spLocks noGrp="1"/>
          </p:cNvSpPr>
          <p:nvPr>
            <p:ph type="title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/>
            <a:r>
              <a:rPr lang="fr-BE"/>
              <a:t>Table des matières</a:t>
            </a:r>
          </a:p>
        </p:txBody>
      </p:sp>
      <p:sp>
        <p:nvSpPr>
          <p:cNvPr id="119" name="Google Shape;119;p5"/>
          <p:cNvSpPr txBox="1">
            <a:spLocks noGrp="1"/>
          </p:cNvSpPr>
          <p:nvPr>
            <p:ph type="body" idx="1"/>
          </p:nvPr>
        </p:nvSpPr>
        <p:spPr>
          <a:noFill/>
          <a:ln>
            <a:noFill/>
          </a:ln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/>
            <a:r>
              <a:rPr lang="fr-FR"/>
              <a:t>Généralités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D1162652-D4A8-152D-F88F-9B8516AF8775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>
            <a:normAutofit/>
          </a:bodyPr>
          <a:lstStyle/>
          <a:p>
            <a:pPr marL="114300" indent="0">
              <a:buNone/>
            </a:pPr>
            <a:r>
              <a:rPr lang="fr-BE" sz="2400"/>
              <a:t>01. Introduction au web</a:t>
            </a:r>
          </a:p>
          <a:p>
            <a:pPr marL="114300" indent="0">
              <a:buNone/>
            </a:pPr>
            <a:r>
              <a:rPr lang="fr-BE" sz="2400"/>
              <a:t>03. Outils</a:t>
            </a:r>
          </a:p>
          <a:p>
            <a:pPr marL="114300" indent="0">
              <a:buNone/>
            </a:pPr>
            <a:r>
              <a:rPr lang="fr-BE" sz="2400"/>
              <a:t>05. Format XML</a:t>
            </a:r>
          </a:p>
          <a:p>
            <a:pPr marL="114300" indent="0">
              <a:buNone/>
            </a:pPr>
            <a:r>
              <a:rPr lang="fr-BE" sz="2400"/>
              <a:t>06. Format JSON</a:t>
            </a:r>
          </a:p>
          <a:p>
            <a:pPr marL="114300" indent="0">
              <a:buNone/>
            </a:pPr>
            <a:endParaRPr lang="fr-BE" sz="240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06D5135-B8A1-9E24-38EE-4C72679CDE7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 anchor="t"/>
          <a:lstStyle/>
          <a:p>
            <a:pPr lvl="0"/>
            <a:r>
              <a:rPr lang="fr-FR"/>
              <a:t>Front-End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7D87172-3FAF-5725-E789-9405D66598A7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4105275" y="2501107"/>
            <a:ext cx="3709587" cy="3684588"/>
          </a:xfrm>
        </p:spPr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12. Structure HTML </a:t>
            </a:r>
          </a:p>
          <a:p>
            <a:pPr marL="114300" indent="0">
              <a:buNone/>
            </a:pPr>
            <a:r>
              <a:rPr lang="fr-BE" sz="2400"/>
              <a:t>13. Formulaire HTML</a:t>
            </a:r>
          </a:p>
          <a:p>
            <a:pPr marL="114300" lvl="0" indent="0">
              <a:buNone/>
            </a:pPr>
            <a:r>
              <a:rPr lang="fr-BE" sz="2400"/>
              <a:t>14. Mise en forme CSS</a:t>
            </a:r>
          </a:p>
          <a:p>
            <a:pPr marL="114300" lvl="0" indent="0">
              <a:buNone/>
            </a:pPr>
            <a:r>
              <a:rPr lang="fr-BE" sz="2400"/>
              <a:t>15. Adaptabilité</a:t>
            </a:r>
          </a:p>
          <a:p>
            <a:pPr marL="114300" lvl="0" indent="0">
              <a:buNone/>
            </a:pPr>
            <a:r>
              <a:rPr lang="fr-BE" sz="2400"/>
              <a:t>17. Javascript</a:t>
            </a:r>
          </a:p>
          <a:p>
            <a:pPr marL="114300" lvl="0" indent="0">
              <a:buNone/>
            </a:pPr>
            <a:r>
              <a:rPr lang="fr-BE" sz="2400"/>
              <a:t>18. Bibliothèque jQuery</a:t>
            </a:r>
          </a:p>
          <a:p>
            <a:pPr marL="114300" lvl="0" indent="0">
              <a:buNone/>
            </a:pPr>
            <a:r>
              <a:rPr lang="fr-BE" sz="2400"/>
              <a:t>19. Composant Vue.js</a:t>
            </a:r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A5FC1231-1E2C-7231-4486-8114EAEE6AAF}"/>
              </a:ext>
            </a:extLst>
          </p:cNvPr>
          <p:cNvSpPr>
            <a:spLocks noGrp="1"/>
          </p:cNvSpPr>
          <p:nvPr>
            <p:ph type="body" idx="10"/>
          </p:nvPr>
        </p:nvSpPr>
        <p:spPr/>
        <p:txBody>
          <a:bodyPr anchor="t"/>
          <a:lstStyle/>
          <a:p>
            <a:r>
              <a:rPr lang="fr-BE"/>
              <a:t>Back-End</a:t>
            </a:r>
          </a:p>
        </p:txBody>
      </p:sp>
      <p:sp>
        <p:nvSpPr>
          <p:cNvPr id="18" name="Espace réservé du texte 17">
            <a:extLst>
              <a:ext uri="{FF2B5EF4-FFF2-40B4-BE49-F238E27FC236}">
                <a16:creationId xmlns:a16="http://schemas.microsoft.com/office/drawing/2014/main" id="{EDB2CC52-B967-555D-C3A7-C4B10EB02D1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114300" lvl="0" indent="0">
              <a:buNone/>
            </a:pPr>
            <a:r>
              <a:rPr lang="fr-BE" sz="2400"/>
              <a:t>21. Middleware PHP</a:t>
            </a:r>
          </a:p>
          <a:p>
            <a:pPr marL="114300" indent="0">
              <a:buNone/>
            </a:pPr>
            <a:r>
              <a:rPr lang="fr-BE" sz="2400">
                <a:solidFill>
                  <a:schemeClr val="accent2"/>
                </a:solidFill>
              </a:rPr>
              <a:t>22. Traitement du formulaire</a:t>
            </a:r>
          </a:p>
          <a:p>
            <a:pPr marL="114300" lvl="0" indent="0">
              <a:buNone/>
            </a:pPr>
            <a:r>
              <a:rPr lang="fr-BE" sz="2400"/>
              <a:t>23. Architecture MVC</a:t>
            </a:r>
          </a:p>
          <a:p>
            <a:pPr marL="114300" lvl="0" indent="0">
              <a:buNone/>
            </a:pPr>
            <a:r>
              <a:rPr lang="fr-BE" sz="2400"/>
              <a:t>24. Données SQL</a:t>
            </a:r>
          </a:p>
          <a:p>
            <a:pPr marL="114300" lvl="0" indent="0">
              <a:buNone/>
            </a:pPr>
            <a:r>
              <a:rPr lang="fr-BE" sz="2400"/>
              <a:t>25. Données NoSQL</a:t>
            </a:r>
          </a:p>
          <a:p>
            <a:pPr marL="114300" indent="0">
              <a:buNone/>
            </a:pPr>
            <a:r>
              <a:rPr lang="fr-BE" sz="2400"/>
              <a:t>27. Requête asynchrone</a:t>
            </a:r>
          </a:p>
          <a:p>
            <a:pPr marL="114300" indent="0">
              <a:buNone/>
            </a:pPr>
            <a:endParaRPr lang="fr-BE" sz="24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22. Traitement du Formulaire</a:t>
            </a:r>
          </a:p>
        </p:txBody>
      </p:sp>
      <p:sp>
        <p:nvSpPr>
          <p:cNvPr id="38" name="Google Shape;38;p8"/>
          <p:cNvSpPr txBox="1">
            <a:spLocks noGrp="1"/>
          </p:cNvSpPr>
          <p:nvPr>
            <p:ph type="body" idx="1"/>
          </p:nvPr>
        </p:nvSpPr>
        <p:spPr/>
        <p:txBody>
          <a:bodyPr numCol="3">
            <a:normAutofit/>
          </a:bodyPr>
          <a:lstStyle/>
          <a:p>
            <a:r>
              <a:rPr lang="fr-BE">
                <a:sym typeface="Calibri"/>
              </a:rPr>
              <a:t>Transit des données</a:t>
            </a:r>
          </a:p>
          <a:p>
            <a:r>
              <a:rPr lang="fr-BE">
                <a:sym typeface="Calibri"/>
              </a:rPr>
              <a:t>Balises</a:t>
            </a:r>
          </a:p>
          <a:p>
            <a:r>
              <a:rPr lang="fr-BE"/>
              <a:t>Super Globales PHP</a:t>
            </a:r>
          </a:p>
          <a:p>
            <a:r>
              <a:rPr lang="fr-BE">
                <a:sym typeface="Calibri"/>
              </a:rPr>
              <a:t>$_GET et $_POST</a:t>
            </a:r>
          </a:p>
          <a:p>
            <a:r>
              <a:rPr lang="fr-BE">
                <a:sym typeface="Calibri"/>
              </a:rPr>
              <a:t>$_SESSION</a:t>
            </a:r>
          </a:p>
          <a:p>
            <a:r>
              <a:rPr lang="fr-BE">
                <a:sym typeface="Calibri"/>
              </a:rPr>
              <a:t>$_COOKIES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9E2A9F8B-5759-A6D8-BFFE-36543CB433D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587649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C2345B-F403-44E5-97C3-F5BDF024D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Transit des données</a:t>
            </a:r>
            <a:endParaRPr lang="fr-BE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B8FC7467-3A2C-9409-377D-B7D912D5E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40318622-D037-2334-20A2-48658796B32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85054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254A5A39-B674-EF53-040B-C0C074F191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Single Page App. vs Multiple Page App.</a:t>
            </a:r>
          </a:p>
        </p:txBody>
      </p:sp>
      <p:pic>
        <p:nvPicPr>
          <p:cNvPr id="1026" name="Picture 2" descr="SPA vs MPA user experience comparison - SPA is only updating the relevant parts of the page">
            <a:extLst>
              <a:ext uri="{FF2B5EF4-FFF2-40B4-BE49-F238E27FC236}">
                <a16:creationId xmlns:a16="http://schemas.microsoft.com/office/drawing/2014/main" id="{8E2AACD6-13DF-EC45-3257-A94F0D9BEA01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clrChange>
              <a:clrFrom>
                <a:srgbClr val="DFF0F0"/>
              </a:clrFrom>
              <a:clrTo>
                <a:srgbClr val="DFF0F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64593" y="1690688"/>
            <a:ext cx="6345509" cy="4486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A63729AB-B542-54F9-0CA0-C38CE94C7DEA}"/>
              </a:ext>
            </a:extLst>
          </p:cNvPr>
          <p:cNvSpPr txBox="1"/>
          <p:nvPr/>
        </p:nvSpPr>
        <p:spPr>
          <a:xfrm>
            <a:off x="9565858" y="2235175"/>
            <a:ext cx="16227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&lt;form&gt;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6CD49B6-9686-BA3C-E252-B090D501E3ED}"/>
              </a:ext>
            </a:extLst>
          </p:cNvPr>
          <p:cNvSpPr txBox="1"/>
          <p:nvPr/>
        </p:nvSpPr>
        <p:spPr>
          <a:xfrm>
            <a:off x="431988" y="3777711"/>
            <a:ext cx="193764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 strike="sngStrik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$.ajax()</a:t>
            </a:r>
            <a:b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</a:b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fetch()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760C94B-9822-6519-593A-334C3BAA6F05}"/>
              </a:ext>
            </a:extLst>
          </p:cNvPr>
          <p:cNvSpPr txBox="1"/>
          <p:nvPr/>
        </p:nvSpPr>
        <p:spPr>
          <a:xfrm>
            <a:off x="256478" y="4661212"/>
            <a:ext cx="42263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SPA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une seule page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seules les parties pertinentes sont modifiées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DF449FF9-E953-FDDA-36C8-90AF0FF5ED65}"/>
              </a:ext>
            </a:extLst>
          </p:cNvPr>
          <p:cNvSpPr txBox="1"/>
          <p:nvPr/>
        </p:nvSpPr>
        <p:spPr>
          <a:xfrm>
            <a:off x="8688893" y="2771520"/>
            <a:ext cx="337672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>
                <a:solidFill>
                  <a:schemeClr val="accent2"/>
                </a:solidFill>
              </a:rPr>
              <a:t>MPA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plusieurs pages HTML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fr-BE"/>
              <a:t>page entièrement rechargée</a:t>
            </a:r>
          </a:p>
        </p:txBody>
      </p:sp>
    </p:spTree>
    <p:extLst>
      <p:ext uri="{BB962C8B-B14F-4D97-AF65-F5344CB8AC3E}">
        <p14:creationId xmlns:p14="http://schemas.microsoft.com/office/powerpoint/2010/main" val="642635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60567DB5-40A3-D689-2A49-2F35E1661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MPA vs SPA, use cases</a:t>
            </a:r>
          </a:p>
        </p:txBody>
      </p:sp>
      <p:sp>
        <p:nvSpPr>
          <p:cNvPr id="7" name="Espace réservé du texte 6">
            <a:extLst>
              <a:ext uri="{FF2B5EF4-FFF2-40B4-BE49-F238E27FC236}">
                <a16:creationId xmlns:a16="http://schemas.microsoft.com/office/drawing/2014/main" id="{037A0327-C066-39FA-3EB7-0985D48AFB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fr-BE" sz="3200">
                <a:solidFill>
                  <a:schemeClr val="accent2"/>
                </a:solidFill>
              </a:rPr>
              <a:t>MPA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A1F8FF8-6C56-04E4-42D5-78D0BA8E414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fr-BE"/>
              <a:t>app statique</a:t>
            </a:r>
          </a:p>
          <a:p>
            <a:r>
              <a:rPr lang="fr-BE"/>
              <a:t>services B2B</a:t>
            </a:r>
          </a:p>
          <a:p>
            <a:r>
              <a:rPr lang="fr-BE"/>
              <a:t>e-commerce</a:t>
            </a:r>
          </a:p>
        </p:txBody>
      </p:sp>
      <p:sp>
        <p:nvSpPr>
          <p:cNvPr id="8" name="Espace réservé du texte 7">
            <a:extLst>
              <a:ext uri="{FF2B5EF4-FFF2-40B4-BE49-F238E27FC236}">
                <a16:creationId xmlns:a16="http://schemas.microsoft.com/office/drawing/2014/main" id="{BC14CB71-9959-51E0-732D-43C5077BED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vert="horz" lIns="91440" tIns="45720" rIns="91440" bIns="45720" rtlCol="0" anchor="b">
            <a:normAutofit/>
          </a:bodyPr>
          <a:lstStyle/>
          <a:p>
            <a:r>
              <a:rPr lang="fr-BE" sz="3200">
                <a:solidFill>
                  <a:schemeClr val="accent2"/>
                </a:solidFill>
              </a:rPr>
              <a:t>SPA</a:t>
            </a:r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EB175BB3-32CE-C415-3536-9E3113A203F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fr-BE"/>
              <a:t>app dynamique</a:t>
            </a:r>
          </a:p>
          <a:p>
            <a:r>
              <a:rPr lang="fr-BE"/>
              <a:t>social networks</a:t>
            </a:r>
          </a:p>
          <a:p>
            <a:r>
              <a:rPr lang="fr-BE"/>
              <a:t>streaming services</a:t>
            </a:r>
          </a:p>
          <a:p>
            <a:r>
              <a:rPr lang="fr-BE"/>
              <a:t>real-time location services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2506C64-A250-8371-EEAC-00B2AADD7EEE}"/>
              </a:ext>
            </a:extLst>
          </p:cNvPr>
          <p:cNvSpPr txBox="1"/>
          <p:nvPr/>
        </p:nvSpPr>
        <p:spPr>
          <a:xfrm>
            <a:off x="4626692" y="5666443"/>
            <a:ext cx="38025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800">
                <a:hlinkClick r:id="rId2"/>
              </a:rPr>
              <a:t>discussion sur Reddit </a:t>
            </a:r>
            <a:endParaRPr lang="fr-BE" sz="2800"/>
          </a:p>
        </p:txBody>
      </p:sp>
    </p:spTree>
    <p:extLst>
      <p:ext uri="{BB962C8B-B14F-4D97-AF65-F5344CB8AC3E}">
        <p14:creationId xmlns:p14="http://schemas.microsoft.com/office/powerpoint/2010/main" val="21458672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Objectifs des formulaires</a:t>
            </a:r>
          </a:p>
        </p:txBody>
      </p:sp>
      <p:sp>
        <p:nvSpPr>
          <p:cNvPr id="45" name="Google Shape;45;p9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>
                <a:sym typeface="Courier New"/>
              </a:rPr>
              <a:t>Approche MPA </a:t>
            </a:r>
          </a:p>
          <a:p>
            <a:pPr lvl="1"/>
            <a:r>
              <a:rPr lang="fr-BE">
                <a:sym typeface="Calibri"/>
              </a:rPr>
              <a:t>création d'un formulaire via la balise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&lt;form&gt;</a:t>
            </a:r>
          </a:p>
          <a:p>
            <a:r>
              <a:rPr lang="fr-BE">
                <a:sym typeface="Courier New"/>
              </a:rPr>
              <a:t>Approche SPA</a:t>
            </a:r>
          </a:p>
          <a:p>
            <a:pPr lvl="1"/>
            <a:r>
              <a:rPr lang="fr-BE">
                <a:sym typeface="Calibri"/>
              </a:rPr>
              <a:t>création d'un formulaire muni de requêtes AJAX/Fetch</a:t>
            </a:r>
            <a:endParaRPr lang="fr-BE">
              <a:sym typeface="Courier New"/>
            </a:endParaRPr>
          </a:p>
          <a:p>
            <a:r>
              <a:rPr lang="fr-BE">
                <a:sym typeface="Calibri"/>
              </a:rPr>
              <a:t>Les formulaires sont utilisés pour récolter des informations des utilisateurs.</a:t>
            </a:r>
          </a:p>
          <a:p>
            <a:r>
              <a:rPr lang="fr-BE">
                <a:sym typeface="Calibri"/>
              </a:rPr>
              <a:t>Deux problèmes:</a:t>
            </a:r>
          </a:p>
          <a:p>
            <a:pPr lvl="1"/>
            <a:r>
              <a:rPr lang="fr-BE">
                <a:sym typeface="Calibri"/>
              </a:rPr>
              <a:t>Comment envoyer les données au serveur ?</a:t>
            </a:r>
          </a:p>
          <a:p>
            <a:pPr lvl="1"/>
            <a:r>
              <a:rPr lang="fr-BE">
                <a:sym typeface="Calibri"/>
              </a:rPr>
              <a:t>Comment le serveur traite-t-il les données reçues?</a:t>
            </a:r>
          </a:p>
        </p:txBody>
      </p:sp>
    </p:spTree>
    <p:extLst>
      <p:ext uri="{BB962C8B-B14F-4D97-AF65-F5344CB8AC3E}">
        <p14:creationId xmlns:p14="http://schemas.microsoft.com/office/powerpoint/2010/main" val="2817179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Comment faire transiter les données?</a:t>
            </a:r>
          </a:p>
        </p:txBody>
      </p:sp>
      <p:sp>
        <p:nvSpPr>
          <p:cNvPr id="51" name="Google Shape;51;p10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ym typeface="Calibri"/>
              </a:rPr>
              <a:t>Deux méthodes :</a:t>
            </a:r>
          </a:p>
          <a:p>
            <a:pPr lvl="1"/>
            <a:r>
              <a:rPr lang="fr-BE">
                <a:solidFill>
                  <a:schemeClr val="accent2"/>
                </a:solidFill>
                <a:sym typeface="Calibri"/>
              </a:rPr>
              <a:t>GET</a:t>
            </a:r>
            <a:r>
              <a:rPr lang="fr-BE">
                <a:sym typeface="Calibri"/>
              </a:rPr>
              <a:t>: envoie les données dans l'URL de la page</a:t>
            </a:r>
          </a:p>
          <a:p>
            <a:pPr lvl="2"/>
            <a:r>
              <a:rPr lang="fr-BE">
                <a:sym typeface="Courier New"/>
              </a:rPr>
              <a:t>https://www.google.com/search ? </a:t>
            </a:r>
            <a:r>
              <a:rPr lang="fr-BE">
                <a:solidFill>
                  <a:schemeClr val="accent2"/>
                </a:solidFill>
                <a:sym typeface="Courier New"/>
              </a:rPr>
              <a:t>q=</a:t>
            </a:r>
            <a:r>
              <a:rPr lang="fr-BE" err="1">
                <a:solidFill>
                  <a:schemeClr val="accent2"/>
                </a:solidFill>
                <a:sym typeface="Courier New"/>
              </a:rPr>
              <a:t>developpement+photo</a:t>
            </a:r>
            <a:endParaRPr lang="fr-BE">
              <a:solidFill>
                <a:schemeClr val="accent2"/>
              </a:solidFill>
              <a:sym typeface="Courier New"/>
            </a:endParaRPr>
          </a:p>
          <a:p>
            <a:pPr lvl="2"/>
            <a:r>
              <a:rPr lang="fr-BE">
                <a:sym typeface="Calibri"/>
              </a:rPr>
              <a:t>Limité à 255 caractères</a:t>
            </a:r>
          </a:p>
          <a:p>
            <a:pPr lvl="2"/>
            <a:r>
              <a:rPr lang="fr-BE">
                <a:sym typeface="Calibri"/>
              </a:rPr>
              <a:t>Paramètres visibles</a:t>
            </a:r>
          </a:p>
          <a:p>
            <a:pPr lvl="1"/>
            <a:r>
              <a:rPr lang="fr-BE">
                <a:solidFill>
                  <a:schemeClr val="accent2"/>
                </a:solidFill>
                <a:sym typeface="Calibri"/>
              </a:rPr>
              <a:t>POST</a:t>
            </a:r>
            <a:r>
              <a:rPr lang="fr-BE">
                <a:sym typeface="Calibri"/>
              </a:rPr>
              <a:t>: envoie les données via la requête HTTP</a:t>
            </a:r>
          </a:p>
          <a:p>
            <a:pPr lvl="2"/>
            <a:r>
              <a:rPr lang="fr-BE">
                <a:sym typeface="Calibri"/>
              </a:rPr>
              <a:t>Permet de faire transiter un plus gros nombre de caractères</a:t>
            </a:r>
          </a:p>
          <a:p>
            <a:pPr lvl="2"/>
            <a:r>
              <a:rPr lang="fr-BE">
                <a:sym typeface="Calibri"/>
              </a:rPr>
              <a:t>Paramètres invisibles</a:t>
            </a:r>
          </a:p>
          <a:p>
            <a:r>
              <a:rPr lang="fr-BE">
                <a:sym typeface="Calibri"/>
              </a:rPr>
              <a:t>Serveur, un script</a:t>
            </a:r>
          </a:p>
          <a:p>
            <a:pPr lvl="1"/>
            <a:r>
              <a:rPr lang="fr-BE">
                <a:sym typeface="Calibri"/>
              </a:rPr>
              <a:t>Les données du formulaire sont envoyées à un </a:t>
            </a:r>
            <a:r>
              <a:rPr lang="fr-BE">
                <a:solidFill>
                  <a:schemeClr val="accent2"/>
                </a:solidFill>
                <a:sym typeface="Calibri"/>
              </a:rPr>
              <a:t>script</a:t>
            </a:r>
            <a:r>
              <a:rPr lang="fr-BE">
                <a:sym typeface="Calibri"/>
              </a:rPr>
              <a:t> (ex. PHP) qui pourra les traiter.</a:t>
            </a:r>
          </a:p>
        </p:txBody>
      </p:sp>
    </p:spTree>
    <p:extLst>
      <p:ext uri="{BB962C8B-B14F-4D97-AF65-F5344CB8AC3E}">
        <p14:creationId xmlns:p14="http://schemas.microsoft.com/office/powerpoint/2010/main" val="1761849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>
          <a:extLst>
            <a:ext uri="{FF2B5EF4-FFF2-40B4-BE49-F238E27FC236}">
              <a16:creationId xmlns:a16="http://schemas.microsoft.com/office/drawing/2014/main" id="{C90D0E80-05BC-DB43-81B0-04D46D9D3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2">
            <a:extLst>
              <a:ext uri="{FF2B5EF4-FFF2-40B4-BE49-F238E27FC236}">
                <a16:creationId xmlns:a16="http://schemas.microsoft.com/office/drawing/2014/main" id="{27B570CC-576D-9E8C-F7E1-AD3CFCFD61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MPA : Déclaration d'un formulaire</a:t>
            </a:r>
          </a:p>
        </p:txBody>
      </p:sp>
      <p:sp>
        <p:nvSpPr>
          <p:cNvPr id="63" name="Google Shape;63;p12">
            <a:extLst>
              <a:ext uri="{FF2B5EF4-FFF2-40B4-BE49-F238E27FC236}">
                <a16:creationId xmlns:a16="http://schemas.microsoft.com/office/drawing/2014/main" id="{D295AA5B-3229-A62B-B782-074DC495E20E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fr-BE">
                <a:sym typeface="Calibri"/>
              </a:rPr>
              <a:t>Balise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alibri"/>
              </a:rPr>
              <a:t>&lt;form&gt;</a:t>
            </a:r>
            <a:endParaRPr lang="fr-BE">
              <a:solidFill>
                <a:srgbClr val="996633"/>
              </a:solidFill>
              <a:latin typeface="Consolas" panose="020B0609020204030204" pitchFamily="49" charset="0"/>
              <a:sym typeface="Calibri"/>
            </a:endParaRPr>
          </a:p>
          <a:p>
            <a:r>
              <a:rPr lang="fr-BE">
                <a:sym typeface="Calibri"/>
              </a:rPr>
              <a:t>Transit défini avec l'attribut "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method</a:t>
            </a:r>
            <a:r>
              <a:rPr lang="fr-BE">
                <a:sym typeface="Courier New"/>
              </a:rPr>
              <a:t>"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alibri"/>
            </a:endParaRP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method = "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sym typeface="Calibri"/>
              </a:rPr>
              <a:t>get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"</a:t>
            </a:r>
            <a:r>
              <a:rPr lang="fr-BE">
                <a:sym typeface="Calibri"/>
              </a:rPr>
              <a:t> ou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"</a:t>
            </a:r>
            <a:r>
              <a:rPr lang="fr-BE">
                <a:solidFill>
                  <a:schemeClr val="accent5"/>
                </a:solidFill>
                <a:latin typeface="Consolas" panose="020B0609020204030204" pitchFamily="49" charset="0"/>
                <a:sym typeface="Calibri"/>
              </a:rPr>
              <a:t>post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"</a:t>
            </a:r>
          </a:p>
          <a:p>
            <a:r>
              <a:rPr lang="fr-BE">
                <a:sym typeface="Calibri"/>
              </a:rPr>
              <a:t>Script défini avec l'attribut "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action</a:t>
            </a:r>
            <a:r>
              <a:rPr lang="fr-BE">
                <a:sym typeface="Calibri"/>
              </a:rPr>
              <a:t>"</a:t>
            </a:r>
          </a:p>
          <a:p>
            <a:pPr lvl="1"/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  <a:sym typeface="Calibri"/>
              </a:rPr>
              <a:t>action = </a:t>
            </a:r>
            <a:r>
              <a:rPr lang="fr-BE">
                <a:solidFill>
                  <a:schemeClr val="accent2"/>
                </a:solidFill>
                <a:latin typeface="Consolas" panose="020B0609020204030204" pitchFamily="49" charset="0"/>
                <a:sym typeface="Calibri"/>
              </a:rPr>
              <a:t>&lt;path du script&gt;</a:t>
            </a:r>
            <a:r>
              <a:rPr lang="fr-BE">
                <a:sym typeface="Calibri"/>
              </a:rPr>
              <a:t> (php ou autre)</a:t>
            </a:r>
          </a:p>
          <a:p>
            <a:endParaRPr lang="fr-BE">
              <a:sym typeface="Courier New"/>
            </a:endParaRPr>
          </a:p>
          <a:p>
            <a:pPr marL="0" indent="0">
              <a:buNone/>
            </a:pP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&lt;form method="</a:t>
            </a:r>
            <a:r>
              <a:rPr lang="fr-BE" sz="3200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get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 action="</a:t>
            </a:r>
            <a:r>
              <a:rPr lang="fr-BE" sz="32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./register.php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</a:t>
            </a:r>
          </a:p>
          <a:p>
            <a:pPr marL="0" indent="0">
              <a:buNone/>
            </a:pP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...</a:t>
            </a:r>
          </a:p>
          <a:p>
            <a:pPr marL="0" indent="0">
              <a:buNone/>
            </a:pP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&lt;/form&gt;</a:t>
            </a:r>
          </a:p>
        </p:txBody>
      </p:sp>
    </p:spTree>
    <p:extLst>
      <p:ext uri="{BB962C8B-B14F-4D97-AF65-F5344CB8AC3E}">
        <p14:creationId xmlns:p14="http://schemas.microsoft.com/office/powerpoint/2010/main" val="4460764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>
        <p14:reveal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D716A0-9565-884B-3903-9939D39B4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SPA : Exemple de formulaire ? </a:t>
            </a:r>
            <a:endParaRPr lang="fr-BE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2E84418-2024-8C2A-AF4A-153CEA529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Rendez-vous au chapitre 27 !</a:t>
            </a:r>
          </a:p>
          <a:p>
            <a:r>
              <a:rPr lang="fr-BE"/>
              <a:t>Programmation en </a:t>
            </a:r>
            <a:r>
              <a:rPr lang="fr-BE">
                <a:solidFill>
                  <a:srgbClr val="996633"/>
                </a:solidFill>
                <a:latin typeface="Consolas" panose="020B0609020204030204" pitchFamily="49" charset="0"/>
              </a:rPr>
              <a:t>Javascript </a:t>
            </a:r>
            <a:r>
              <a:rPr lang="fr-BE"/>
              <a:t>requise.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85DE5C6-B48D-FA4D-71D6-84E9B0380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E56C7F-9BDA-4AF1-B3C3-6DBDB7BE30D1}" type="datetime1">
              <a:rPr lang="fr-BE" smtClean="0"/>
              <a:t>23-02-26</a:t>
            </a:fld>
            <a:endParaRPr lang="fr-BE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70647CF-46C0-A596-51B1-CFF4BF0F8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C092ED-0E97-497E-99D9-BB9DD7276F53}" type="slidenum">
              <a:rPr lang="fr-BE" smtClean="0"/>
              <a:t>10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874155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6BC2345B-F403-44E5-97C3-F5BDF024D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Balises HTML Form</a:t>
            </a:r>
            <a:endParaRPr lang="fr-BE"/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6FAA6F38-334B-E8B2-9E64-AE74E2D45E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BE"/>
              <a:t>Rappel</a:t>
            </a:r>
          </a:p>
        </p:txBody>
      </p:sp>
      <p:pic>
        <p:nvPicPr>
          <p:cNvPr id="6" name="Google Shape;39;p8">
            <a:hlinkClick r:id="rId2"/>
            <a:extLst>
              <a:ext uri="{FF2B5EF4-FFF2-40B4-BE49-F238E27FC236}">
                <a16:creationId xmlns:a16="http://schemas.microsoft.com/office/drawing/2014/main" id="{F73F5139-A5C5-497C-AE5C-231EBB7AE61F}"/>
              </a:ext>
            </a:extLst>
          </p:cNvPr>
          <p:cNvPicPr preferRelativeResize="0">
            <a:picLocks noGrp="1"/>
          </p:cNvPicPr>
          <p:nvPr>
            <p:ph type="pic" sz="quarter" idx="10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37" b="37"/>
          <a:stretch/>
        </p:blipFill>
        <p:spPr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3540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La balise &lt;input&gt;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L'élément le plus populaire d'un formulaire est la balise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&lt;input&gt;</a:t>
            </a:r>
            <a:r>
              <a:rPr lang="fr-BE">
                <a:sym typeface="Courier New"/>
              </a:rPr>
              <a:t>.</a:t>
            </a:r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pPr lvl="1"/>
            <a:r>
              <a:rPr lang="fr-BE">
                <a:sym typeface="Calibri"/>
              </a:rPr>
              <a:t>utilisé de nombreuses manières différentes </a:t>
            </a:r>
          </a:p>
          <a:p>
            <a:pPr lvl="1"/>
            <a:r>
              <a:rPr lang="fr-BE">
                <a:sym typeface="Calibri"/>
              </a:rPr>
              <a:t>en fonction de la valeur de son attribut </a:t>
            </a:r>
            <a:r>
              <a:rPr lang="fr-BE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type</a:t>
            </a:r>
            <a:r>
              <a:rPr lang="fr-BE">
                <a:sym typeface="Courier New"/>
              </a:rPr>
              <a:t>.</a:t>
            </a:r>
          </a:p>
          <a:p>
            <a:endParaRPr lang="fr-BE">
              <a:sym typeface="Courier New"/>
            </a:endParaRPr>
          </a:p>
        </p:txBody>
      </p:sp>
      <p:pic>
        <p:nvPicPr>
          <p:cNvPr id="2" name="Google Shape;85;p15">
            <a:extLst>
              <a:ext uri="{FF2B5EF4-FFF2-40B4-BE49-F238E27FC236}">
                <a16:creationId xmlns:a16="http://schemas.microsoft.com/office/drawing/2014/main" id="{BCC30021-91CF-4250-9BFF-80E4289A7D2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913" y="5167311"/>
            <a:ext cx="1624211" cy="1143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76;p14">
            <a:extLst>
              <a:ext uri="{FF2B5EF4-FFF2-40B4-BE49-F238E27FC236}">
                <a16:creationId xmlns:a16="http://schemas.microsoft.com/office/drawing/2014/main" id="{F731EA1D-4F65-C8E5-D028-0B737517A8A4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71218" y="3933827"/>
            <a:ext cx="5225811" cy="64303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90;p16">
            <a:extLst>
              <a:ext uri="{FF2B5EF4-FFF2-40B4-BE49-F238E27FC236}">
                <a16:creationId xmlns:a16="http://schemas.microsoft.com/office/drawing/2014/main" id="{6C7FA848-CAE6-D450-D281-9BF7BBF293D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 l="28074"/>
          <a:stretch/>
        </p:blipFill>
        <p:spPr>
          <a:xfrm>
            <a:off x="3147837" y="4687395"/>
            <a:ext cx="2088457" cy="180548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314338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8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sym typeface="Calibri"/>
              </a:rPr>
              <a:t>Autres balises</a:t>
            </a:r>
          </a:p>
        </p:txBody>
      </p:sp>
      <p:sp>
        <p:nvSpPr>
          <p:cNvPr id="104" name="Google Shape;104;p18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&lt;textarea rows="10" cols="30"&gt;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&lt;input list="browsers"&gt;</a:t>
            </a:r>
            <a:b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</a:b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&lt;datalist id="browsers"&gt;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&lt;label for="male"&gt;Male&lt;/label&gt;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&lt;input type="color"&gt;</a:t>
            </a:r>
          </a:p>
          <a:p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  <a:sym typeface="Courier New"/>
            </a:endParaRPr>
          </a:p>
          <a:p>
            <a:endParaRPr lang="fr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rcRect b="51013"/>
          <a:stretch/>
        </p:blipFill>
        <p:spPr>
          <a:xfrm>
            <a:off x="-190623" y="5625681"/>
            <a:ext cx="4888830" cy="123231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EBF3DCBF-FE03-AB66-602E-A79ADF691C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8321" y="4770304"/>
            <a:ext cx="2521692" cy="2180522"/>
          </a:xfrm>
          <a:prstGeom prst="rect">
            <a:avLst/>
          </a:prstGeom>
        </p:spPr>
      </p:pic>
      <p:pic>
        <p:nvPicPr>
          <p:cNvPr id="3" name="Content Placeholder 8">
            <a:extLst>
              <a:ext uri="{FF2B5EF4-FFF2-40B4-BE49-F238E27FC236}">
                <a16:creationId xmlns:a16="http://schemas.microsoft.com/office/drawing/2014/main" id="{DBF4EEA7-97CC-156E-7BA5-8096A6C8CF1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558213" y="4245602"/>
            <a:ext cx="3633787" cy="2612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97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Soumettre un formulaire </a:t>
            </a:r>
          </a:p>
        </p:txBody>
      </p:sp>
      <p:sp>
        <p:nvSpPr>
          <p:cNvPr id="135" name="Google Shape;135;p23"/>
          <p:cNvSpPr txBox="1"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>
                <a:sym typeface="Calibri"/>
              </a:rPr>
              <a:t>Une fois rempli, le formulaire est "soumis au serveur", càd que les données y sont envoyées.</a:t>
            </a:r>
          </a:p>
          <a:p>
            <a:r>
              <a:rPr lang="fr-BE">
                <a:sym typeface="Calibri"/>
              </a:rPr>
              <a:t>Bouton de type “</a:t>
            </a:r>
            <a:r>
              <a:rPr lang="fr-BE" err="1">
                <a:solidFill>
                  <a:schemeClr val="accent2"/>
                </a:solidFill>
                <a:sym typeface="Calibri"/>
              </a:rPr>
              <a:t>submit</a:t>
            </a:r>
            <a:r>
              <a:rPr lang="fr-BE">
                <a:sym typeface="Calibri"/>
              </a:rPr>
              <a:t>” </a:t>
            </a:r>
          </a:p>
          <a:p>
            <a:pPr marL="457189" lvl="1" indent="0">
              <a:buNone/>
            </a:pP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button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type="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submit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"&gt;S'inscrire&lt;/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button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&gt;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alibri"/>
            </a:endParaRPr>
          </a:p>
          <a:p>
            <a:pPr lvl="1"/>
            <a:r>
              <a:rPr lang="fr-BE">
                <a:sym typeface="Calibri"/>
              </a:rPr>
              <a:t>remarque : il existe un codage ancien</a:t>
            </a:r>
            <a:br>
              <a:rPr lang="fr-BE">
                <a:sym typeface="Calibri"/>
              </a:rPr>
            </a:b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&lt;input type="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submit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" value="S'inscrire"&gt;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r>
              <a:rPr lang="fr-BE">
                <a:sym typeface="Calibri"/>
              </a:rPr>
              <a:t>Bouton de type “</a:t>
            </a:r>
            <a:r>
              <a:rPr lang="fr-BE" err="1">
                <a:solidFill>
                  <a:schemeClr val="accent2"/>
                </a:solidFill>
                <a:sym typeface="Calibri"/>
              </a:rPr>
              <a:t>button</a:t>
            </a:r>
            <a:r>
              <a:rPr lang="fr-BE">
                <a:sym typeface="Calibri"/>
              </a:rPr>
              <a:t>”</a:t>
            </a:r>
          </a:p>
          <a:p>
            <a:pPr lvl="1"/>
            <a:r>
              <a:rPr lang="fr-BE">
                <a:sym typeface="Calibri"/>
              </a:rPr>
              <a:t>appel d'un code JavaScript = programmation !</a:t>
            </a:r>
          </a:p>
          <a:p>
            <a:pPr lvl="1"/>
            <a:r>
              <a:rPr lang="fr-BE">
                <a:sym typeface="Calibri"/>
              </a:rPr>
              <a:t>formulaire non envoyé automatiquement au serveur</a:t>
            </a:r>
          </a:p>
          <a:p>
            <a:pPr lvl="1"/>
            <a:r>
              <a:rPr lang="fr-BE">
                <a:sym typeface="Calibri"/>
              </a:rPr>
              <a:t>exemple : un tel bouton peut valider les input, envoyer le </a:t>
            </a:r>
            <a:r>
              <a:rPr lang="fr-BE" err="1">
                <a:sym typeface="Calibri"/>
              </a:rPr>
              <a:t>form</a:t>
            </a:r>
            <a:r>
              <a:rPr lang="fr-BE">
                <a:sym typeface="Calibri"/>
              </a:rPr>
              <a:t> au serveur et afficher "veuillez patienter".</a:t>
            </a: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3171" y="632668"/>
            <a:ext cx="2196375" cy="9213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3382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0BBCCE-1F42-461F-8A23-86524CC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01 : Sample "Atomic" Form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5875B2-75BB-4B16-80B8-D47D82AD7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2181224"/>
          </a:xfrm>
        </p:spPr>
        <p:txBody>
          <a:bodyPr numCol="1">
            <a:normAutofit lnSpcReduction="10000"/>
          </a:bodyPr>
          <a:lstStyle/>
          <a:p>
            <a:r>
              <a:rPr lang="fr-BE"/>
              <a:t>Télécharger et placer dans le WAMP les deux fichiers </a:t>
            </a:r>
          </a:p>
          <a:p>
            <a:pPr lvl="1">
              <a:lnSpc>
                <a:spcPct val="100000"/>
              </a:lnSpc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exo01_sample_atomic_form.html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>
              <a:lnSpc>
                <a:spcPct val="100000"/>
              </a:lnSpc>
            </a:pPr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exo01_sample_atomic_form.php</a:t>
            </a:r>
          </a:p>
          <a:p>
            <a:r>
              <a:rPr lang="fr-BE"/>
              <a:t>Démo de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2F5B0D2-F4F6-4962-92C4-9372257CD4C0}"/>
              </a:ext>
            </a:extLst>
          </p:cNvPr>
          <p:cNvSpPr>
            <a:spLocks noGrp="1"/>
          </p:cNvSpPr>
          <p:nvPr>
            <p:ph sz="half" idx="4294967295"/>
          </p:nvPr>
        </p:nvSpPr>
        <p:spPr>
          <a:xfrm>
            <a:off x="0" y="3730625"/>
            <a:ext cx="10766425" cy="2747963"/>
          </a:xfrm>
        </p:spPr>
        <p:txBody>
          <a:bodyPr numCol="2">
            <a:normAutofit/>
          </a:bodyPr>
          <a:lstStyle/>
          <a:p>
            <a:pPr lvl="1"/>
            <a:r>
              <a:rPr lang="fr-BE"/>
              <a:t>Input type </a:t>
            </a:r>
            <a:r>
              <a:rPr lang="fr-BE" err="1"/>
              <a:t>text</a:t>
            </a:r>
            <a:endParaRPr lang="fr-BE"/>
          </a:p>
          <a:p>
            <a:pPr lvl="1"/>
            <a:r>
              <a:rPr lang="fr-BE"/>
              <a:t>Input type </a:t>
            </a:r>
            <a:r>
              <a:rPr lang="fr-BE" err="1"/>
              <a:t>password</a:t>
            </a:r>
            <a:endParaRPr lang="fr-BE"/>
          </a:p>
          <a:p>
            <a:pPr lvl="1"/>
            <a:r>
              <a:rPr lang="fr-BE"/>
              <a:t>Input type radio </a:t>
            </a:r>
          </a:p>
          <a:p>
            <a:pPr lvl="1"/>
            <a:r>
              <a:rPr lang="fr-BE"/>
              <a:t>Input type </a:t>
            </a:r>
            <a:r>
              <a:rPr lang="fr-BE" err="1"/>
              <a:t>checkbox</a:t>
            </a:r>
            <a:endParaRPr lang="fr-BE"/>
          </a:p>
          <a:p>
            <a:pPr lvl="1"/>
            <a:r>
              <a:rPr lang="fr-BE"/>
              <a:t>Select option</a:t>
            </a:r>
          </a:p>
          <a:p>
            <a:pPr lvl="1"/>
            <a:r>
              <a:rPr lang="fr-BE"/>
              <a:t>Input + Datalist</a:t>
            </a:r>
          </a:p>
          <a:p>
            <a:pPr lvl="1"/>
            <a:r>
              <a:rPr lang="fr-BE"/>
              <a:t>Input type color</a:t>
            </a:r>
          </a:p>
          <a:p>
            <a:pPr lvl="1"/>
            <a:r>
              <a:rPr lang="fr-BE"/>
              <a:t>Input type range</a:t>
            </a:r>
          </a:p>
          <a:p>
            <a:pPr lvl="1"/>
            <a:r>
              <a:rPr lang="fr-BE"/>
              <a:t>Button type </a:t>
            </a:r>
            <a:r>
              <a:rPr lang="fr-BE" err="1"/>
              <a:t>submit</a:t>
            </a:r>
            <a:endParaRPr lang="fr-BE"/>
          </a:p>
          <a:p>
            <a:pPr lvl="1"/>
            <a:r>
              <a:rPr lang="fr-BE"/>
              <a:t>Button type button</a:t>
            </a:r>
          </a:p>
        </p:txBody>
      </p:sp>
    </p:spTree>
    <p:extLst>
      <p:ext uri="{BB962C8B-B14F-4D97-AF65-F5344CB8AC3E}">
        <p14:creationId xmlns:p14="http://schemas.microsoft.com/office/powerpoint/2010/main" val="1033182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C0BBCCE-1F42-461F-8A23-86524CC68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03 : Sample "Molecular" Form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5875B2-75BB-4B16-80B8-D47D82AD7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9"/>
            <a:ext cx="10515600" cy="4802186"/>
          </a:xfrm>
        </p:spPr>
        <p:txBody>
          <a:bodyPr numCol="1">
            <a:normAutofit/>
          </a:bodyPr>
          <a:lstStyle/>
          <a:p>
            <a:r>
              <a:rPr lang="fr-BE"/>
              <a:t>Télécharger et placer dans le WAMP les deux fichiers </a:t>
            </a: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exo03_sample_atomic_form.html</a:t>
            </a:r>
            <a:endParaRPr lang="fr-BE" sz="28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28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exo03_sample_atomic_form.php</a:t>
            </a:r>
            <a:endParaRPr lang="en-US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fr-BE"/>
              <a:t>Démo de</a:t>
            </a:r>
          </a:p>
          <a:p>
            <a:pPr lvl="1"/>
            <a:r>
              <a:rPr lang="fr-BE"/>
              <a:t>Image Upload</a:t>
            </a:r>
          </a:p>
          <a:p>
            <a:pPr lvl="1"/>
            <a:r>
              <a:rPr lang="fr-BE"/>
              <a:t>File Upload</a:t>
            </a:r>
          </a:p>
        </p:txBody>
      </p:sp>
    </p:spTree>
    <p:extLst>
      <p:ext uri="{BB962C8B-B14F-4D97-AF65-F5344CB8AC3E}">
        <p14:creationId xmlns:p14="http://schemas.microsoft.com/office/powerpoint/2010/main" val="1419265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05 : Catalogue + </a:t>
            </a:r>
            <a:r>
              <a:rPr lang="fr-BE" err="1"/>
              <a:t>Form</a:t>
            </a:r>
            <a:r>
              <a:rPr lang="fr-BE"/>
              <a:t> Input</a:t>
            </a:r>
          </a:p>
        </p:txBody>
      </p:sp>
      <p:sp>
        <p:nvSpPr>
          <p:cNvPr id="162" name="Google Shape;162;p27"/>
          <p:cNvSpPr txBox="1"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Créer un formulaire qui permet d’ajouter des éléments dans le tableau HTML.</a:t>
            </a:r>
          </a:p>
          <a:p>
            <a:r>
              <a:rPr lang="fr-BE"/>
              <a:t>Ci-contre un exemple de formulaire.</a:t>
            </a:r>
          </a:p>
          <a:p>
            <a:r>
              <a:rPr lang="fr-BE"/>
              <a:t>fichiers exo :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database_catalogue.csv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exo05_reading_csv.php</a:t>
            </a:r>
          </a:p>
        </p:txBody>
      </p:sp>
      <p:pic>
        <p:nvPicPr>
          <p:cNvPr id="9" name="Google Shape;163;p27"/>
          <p:cNvPicPr preferRelativeResize="0">
            <a:picLocks noGrp="1"/>
          </p:cNvPicPr>
          <p:nvPr>
            <p:ph sz="half" idx="2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72200" y="2863891"/>
            <a:ext cx="5181600" cy="2139869"/>
          </a:xfrm>
          <a:prstGeom prst="rect">
            <a:avLst/>
          </a:prstGeom>
          <a:noFill/>
          <a:ln>
            <a:noFill/>
          </a:ln>
        </p:spPr>
      </p:pic>
      <p:pic>
        <p:nvPicPr>
          <p:cNvPr id="6" name="Google Shape;156;p26">
            <a:extLst>
              <a:ext uri="{FF2B5EF4-FFF2-40B4-BE49-F238E27FC236}">
                <a16:creationId xmlns:a16="http://schemas.microsoft.com/office/drawing/2014/main" id="{C6B25BE4-F46D-4286-874D-3AA1AB1ACA87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4">
            <a:alphaModFix/>
          </a:blip>
          <a:srcRect r="18798" b="26254"/>
          <a:stretch/>
        </p:blipFill>
        <p:spPr>
          <a:xfrm>
            <a:off x="7390032" y="1401478"/>
            <a:ext cx="3673983" cy="288641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756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Super Globales : $_GET et $_POST</a:t>
            </a:r>
          </a:p>
        </p:txBody>
      </p:sp>
      <p:sp>
        <p:nvSpPr>
          <p:cNvPr id="2" name="Espace réservé du texte 1">
            <a:extLst>
              <a:ext uri="{FF2B5EF4-FFF2-40B4-BE49-F238E27FC236}">
                <a16:creationId xmlns:a16="http://schemas.microsoft.com/office/drawing/2014/main" id="{41F1FFBC-B412-2DC0-CC34-28465DACD5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4" name="Espace réservé pour une image  3">
            <a:extLst>
              <a:ext uri="{FF2B5EF4-FFF2-40B4-BE49-F238E27FC236}">
                <a16:creationId xmlns:a16="http://schemas.microsoft.com/office/drawing/2014/main" id="{E580BD68-B2D7-CD7F-664C-0BDC3E6E39E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813189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$_GET et $_POST</a:t>
            </a:r>
          </a:p>
        </p:txBody>
      </p:sp>
      <p:sp>
        <p:nvSpPr>
          <p:cNvPr id="188" name="Google Shape;188;p31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Les variables super globales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$_GET</a:t>
            </a:r>
            <a:r>
              <a:rPr lang="fr-BE"/>
              <a:t> et 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$_POST</a:t>
            </a:r>
            <a:r>
              <a:rPr lang="fr-BE"/>
              <a:t> permettent de récupérer des données envoyées via l’url ou la requête HTTP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$_GET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		</a:t>
            </a:r>
            <a:r>
              <a:rPr lang="fr-BE"/>
              <a:t>: 	url</a:t>
            </a:r>
          </a:p>
          <a:p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$_POST	</a:t>
            </a:r>
            <a:r>
              <a:rPr lang="fr-BE" sz="32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	</a:t>
            </a:r>
            <a:r>
              <a:rPr lang="fr-BE"/>
              <a:t>:	http</a:t>
            </a:r>
          </a:p>
          <a:p>
            <a:endParaRPr lang="fr-BE"/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2075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$_GET et $_POST</a:t>
            </a:r>
          </a:p>
        </p:txBody>
      </p:sp>
      <p:sp>
        <p:nvSpPr>
          <p:cNvPr id="194" name="Google Shape;194;p32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>
                <a:sym typeface="Calibri"/>
              </a:rPr>
              <a:t>tableaux associatifs : éléments accessibles via une clé</a:t>
            </a:r>
          </a:p>
          <a:p>
            <a:r>
              <a:rPr lang="fr-BE">
                <a:sym typeface="Calibri"/>
              </a:rPr>
              <a:t>URL</a:t>
            </a:r>
          </a:p>
          <a:p>
            <a:pPr marL="914377" lvl="2" indent="0">
              <a:buNone/>
            </a:pPr>
            <a:r>
              <a:rPr lang="fr-BE">
                <a:sym typeface="Courier New"/>
              </a:rPr>
              <a:t>http://localhost/exercice.php?</a:t>
            </a:r>
            <a:r>
              <a:rPr lang="fr-BE" b="1">
                <a:solidFill>
                  <a:schemeClr val="accent2"/>
                </a:solidFill>
                <a:sym typeface="Courier New"/>
              </a:rPr>
              <a:t>name=jean&amp;age=23</a:t>
            </a:r>
          </a:p>
          <a:p>
            <a:r>
              <a:rPr lang="fr-BE">
                <a:sym typeface="Calibri"/>
              </a:rPr>
              <a:t>PHP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2400" b="1" kern="0">
                <a:solidFill>
                  <a:srgbClr val="000000"/>
                </a:solidFill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&lt;?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php</a:t>
            </a:r>
            <a:endParaRPr lang="fr-BE" sz="3000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  <a:sym typeface="Courier New"/>
            </a:endParaRPr>
          </a:p>
          <a:p>
            <a:pPr marL="0" lvl="0" indent="45720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3000" kern="0">
                <a:solidFill>
                  <a:srgbClr val="2388DB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echo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$_GET['</a:t>
            </a:r>
            <a:r>
              <a:rPr lang="fr-BE" sz="30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name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']; </a:t>
            </a:r>
            <a:r>
              <a:rPr lang="fr-BE" sz="3000" kern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// affiche </a:t>
            </a:r>
            <a:r>
              <a:rPr lang="fr-BE" sz="3000" kern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‘jean</a:t>
            </a:r>
            <a:r>
              <a:rPr lang="fr-BE" sz="3000" kern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’</a:t>
            </a:r>
          </a:p>
          <a:p>
            <a:pPr marL="0" lvl="0" indent="45720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3000" kern="0">
                <a:solidFill>
                  <a:srgbClr val="2388DB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echo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 $_GET['</a:t>
            </a:r>
            <a:r>
              <a:rPr lang="fr-BE" sz="3000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age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'];  </a:t>
            </a:r>
            <a:r>
              <a:rPr lang="fr-BE" sz="3000" kern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// affiche ‘23’</a:t>
            </a:r>
          </a:p>
          <a:p>
            <a:pPr marL="0" lvl="0" indent="45720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3000"/>
              <a:buNone/>
            </a:pPr>
            <a:r>
              <a:rPr lang="fr-BE" sz="3000" kern="0">
                <a:solidFill>
                  <a:srgbClr val="000000"/>
                </a:solidFill>
                <a:latin typeface="Consolas" panose="020B0609020204030204" pitchFamily="49" charset="0"/>
                <a:ea typeface="Courier New"/>
                <a:cs typeface="Courier New"/>
                <a:sym typeface="Courier New"/>
              </a:rPr>
              <a:t>	</a:t>
            </a:r>
            <a:r>
              <a:rPr lang="fr-BE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?&gt;</a:t>
            </a:r>
          </a:p>
        </p:txBody>
      </p:sp>
    </p:spTree>
    <p:extLst>
      <p:ext uri="{BB962C8B-B14F-4D97-AF65-F5344CB8AC3E}">
        <p14:creationId xmlns:p14="http://schemas.microsoft.com/office/powerpoint/2010/main" val="22682766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06 : lire le </a:t>
            </a:r>
            <a:r>
              <a:rPr lang="fr-BE" err="1"/>
              <a:t>form</a:t>
            </a:r>
            <a:endParaRPr lang="fr-BE"/>
          </a:p>
        </p:txBody>
      </p:sp>
      <p:sp>
        <p:nvSpPr>
          <p:cNvPr id="200" name="Google Shape;200;p33"/>
          <p:cNvSpPr txBox="1">
            <a:spLocks noGrp="1"/>
          </p:cNvSpPr>
          <p:nvPr>
            <p:ph idx="1"/>
          </p:nvPr>
        </p:nvSpPr>
        <p:spPr>
          <a:xfrm>
            <a:off x="838200" y="1825625"/>
            <a:ext cx="10515600" cy="4351339"/>
          </a:xfrm>
        </p:spPr>
        <p:txBody>
          <a:bodyPr>
            <a:noAutofit/>
          </a:bodyPr>
          <a:lstStyle/>
          <a:p>
            <a:pPr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ct val="100000"/>
            </a:pPr>
            <a:r>
              <a:rPr lang="fr-BE"/>
              <a:t>Comment parcourir les données reçues du formulaire ? 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	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foreach( </a:t>
            </a:r>
            <a:r>
              <a:rPr lang="en-US" sz="3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$_GET 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as $key =&gt; $val ) 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{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	echo "$key : $val&lt;</a:t>
            </a:r>
            <a:r>
              <a:rPr lang="en-US" sz="3000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br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/&gt;";</a:t>
            </a:r>
          </a:p>
          <a:p>
            <a:pPr marL="0" lv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}</a:t>
            </a:r>
          </a:p>
          <a:p>
            <a:pPr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ct val="100000"/>
            </a:pPr>
            <a:r>
              <a:rPr lang="en-US" err="1">
                <a:sym typeface="Courier New"/>
              </a:rPr>
              <a:t>ou</a:t>
            </a:r>
            <a:r>
              <a:rPr lang="en-US">
                <a:sym typeface="Courier New"/>
              </a:rPr>
              <a:t> </a:t>
            </a:r>
          </a:p>
          <a:p>
            <a:pPr mar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ourier New"/>
              </a:rPr>
              <a:t>	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print_r</a:t>
            </a:r>
            <a:r>
              <a:rPr lang="en-US" sz="3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($_GET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 ;</a:t>
            </a:r>
          </a:p>
          <a:p>
            <a:pPr marL="0" indent="0" defTabSz="914400">
              <a:lnSpc>
                <a:spcPct val="100000"/>
              </a:lnSpc>
              <a:spcBef>
                <a:spcPts val="600"/>
              </a:spcBef>
              <a:buClr>
                <a:srgbClr val="000000"/>
              </a:buClr>
              <a:buSzPts val="1100"/>
              <a:buNone/>
            </a:pP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	var_dump</a:t>
            </a:r>
            <a:r>
              <a:rPr lang="en-US" sz="3000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($_GET</a:t>
            </a:r>
            <a:r>
              <a:rPr lang="en-US" sz="30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) ;</a:t>
            </a:r>
          </a:p>
        </p:txBody>
      </p:sp>
    </p:spTree>
    <p:extLst>
      <p:ext uri="{BB962C8B-B14F-4D97-AF65-F5344CB8AC3E}">
        <p14:creationId xmlns:p14="http://schemas.microsoft.com/office/powerpoint/2010/main" val="29874805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6BBC3E-496E-4F87-9848-839E97457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07 : login élémentaire et bibliothèque de fonction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E538AFD-2AC4-4406-9BF8-39F4BCE8770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690689"/>
            <a:ext cx="5857240" cy="3029717"/>
          </a:xfrm>
        </p:spPr>
        <p:txBody>
          <a:bodyPr>
            <a:normAutofit fontScale="85000" lnSpcReduction="20000"/>
          </a:bodyPr>
          <a:lstStyle/>
          <a:p>
            <a:r>
              <a:rPr lang="fr-BE"/>
              <a:t>Écrivez un programme qui</a:t>
            </a:r>
          </a:p>
          <a:p>
            <a:pPr lvl="1"/>
            <a:r>
              <a:rPr lang="fr-BE"/>
              <a:t>Lit un login entré par l'utilisateur </a:t>
            </a:r>
          </a:p>
          <a:p>
            <a:pPr lvl="1"/>
            <a:r>
              <a:rPr lang="fr-BE"/>
              <a:t>Évalue si ce login est correct (un seul login hard-codé)</a:t>
            </a:r>
          </a:p>
          <a:p>
            <a:pPr lvl="1"/>
            <a:r>
              <a:rPr lang="fr-BE"/>
              <a:t>Affiche en conséquence un message de bienvenue ou de rejet </a:t>
            </a:r>
          </a:p>
          <a:p>
            <a:pPr lvl="1"/>
            <a:r>
              <a:rPr lang="fr-BE"/>
              <a:t>Organisation du code en fonctions PHP </a:t>
            </a:r>
          </a:p>
        </p:txBody>
      </p:sp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06CDB9FE-B339-4E7E-9BA8-828C0C254D9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3348806"/>
            <a:ext cx="5181600" cy="1170038"/>
          </a:xfr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9E749FC1-0544-4023-ACA1-1FD5886009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6880" y="1882539"/>
            <a:ext cx="5247619" cy="1304762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25F63018-231D-49C5-BA87-2C64205648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6880" y="3315758"/>
            <a:ext cx="5228571" cy="1276190"/>
          </a:xfrm>
          <a:prstGeom prst="rect">
            <a:avLst/>
          </a:prstGeom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15AF670C-BE8C-D8BC-F53F-2C22E6C3CD70}"/>
              </a:ext>
            </a:extLst>
          </p:cNvPr>
          <p:cNvSpPr txBox="1"/>
          <p:nvPr/>
        </p:nvSpPr>
        <p:spPr>
          <a:xfrm>
            <a:off x="345440" y="4427369"/>
            <a:ext cx="70612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html_head($title="4IPDW")</a:t>
            </a:r>
          </a:p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html_welcome($text)</a:t>
            </a:r>
          </a:p>
          <a:p>
            <a:pPr marL="0" lvl="2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html_login_form($intro="", $value="")</a:t>
            </a:r>
          </a:p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html_welcome_user($people)</a:t>
            </a:r>
          </a:p>
          <a:p>
            <a:pPr marL="0" lvl="2" indent="0">
              <a:buNone/>
            </a:pP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html_foot()</a:t>
            </a:r>
          </a:p>
        </p:txBody>
      </p:sp>
    </p:spTree>
    <p:extLst>
      <p:ext uri="{BB962C8B-B14F-4D97-AF65-F5344CB8AC3E}">
        <p14:creationId xmlns:p14="http://schemas.microsoft.com/office/powerpoint/2010/main" val="4269845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11 : Catalogue + Insertion CSV</a:t>
            </a:r>
          </a:p>
        </p:txBody>
      </p:sp>
      <p:sp>
        <p:nvSpPr>
          <p:cNvPr id="162" name="Google Shape;162;p27"/>
          <p:cNvSpPr txBox="1"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BE"/>
              <a:t>A la suite des exercices précédents, écrivez le code PHP correspondant au formulaire. </a:t>
            </a:r>
          </a:p>
          <a:p>
            <a:r>
              <a:rPr lang="fr-BE"/>
              <a:t>Fonction : Le script PHP insère les données dans le fichier CSV, puis réaffiche le tableau.</a:t>
            </a:r>
          </a:p>
          <a:p>
            <a:r>
              <a:rPr lang="fr-BE"/>
              <a:t>fichiers exo :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database_catalogue.csv</a:t>
            </a:r>
          </a:p>
          <a:p>
            <a:pPr lvl="1"/>
            <a:r>
              <a:rPr lang="fr-BE" sz="260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exo11_catalogue.php</a:t>
            </a:r>
          </a:p>
          <a:p>
            <a:endParaRPr lang="fr-BE"/>
          </a:p>
        </p:txBody>
      </p:sp>
      <p:pic>
        <p:nvPicPr>
          <p:cNvPr id="6" name="Google Shape;219;p36"/>
          <p:cNvPicPr preferRelativeResize="0">
            <a:picLocks noGrp="1"/>
          </p:cNvPicPr>
          <p:nvPr>
            <p:ph sz="half" idx="2"/>
          </p:nvPr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72200" y="1690689"/>
            <a:ext cx="5857240" cy="40067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15580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Super Globales : $_SESSION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99C89DA-3AB0-A457-F2E6-99A9BD32AC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20A5EE0F-E680-2E4A-E09C-FD198E7171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091910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0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Définition</a:t>
            </a:r>
          </a:p>
        </p:txBody>
      </p:sp>
      <p:sp>
        <p:nvSpPr>
          <p:cNvPr id="244" name="Google Shape;244;p40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En informatique et en télécommunication, une </a:t>
            </a:r>
            <a:r>
              <a:rPr lang="fr-BE">
                <a:solidFill>
                  <a:schemeClr val="accent2"/>
                </a:solidFill>
              </a:rPr>
              <a:t>session</a:t>
            </a:r>
            <a:r>
              <a:rPr lang="fr-BE"/>
              <a:t> est une période délimitée pendant laquelle un système informatique ou "serveur" est en </a:t>
            </a:r>
            <a:r>
              <a:rPr lang="fr-BE">
                <a:solidFill>
                  <a:schemeClr val="accent2"/>
                </a:solidFill>
              </a:rPr>
              <a:t>communication</a:t>
            </a:r>
            <a:r>
              <a:rPr lang="fr-BE"/>
              <a:t> avec et réalise des </a:t>
            </a:r>
            <a:r>
              <a:rPr lang="fr-BE">
                <a:solidFill>
                  <a:schemeClr val="accent2"/>
                </a:solidFill>
              </a:rPr>
              <a:t>opérations</a:t>
            </a:r>
            <a:r>
              <a:rPr lang="fr-BE"/>
              <a:t> pour un "client" - un usager, un logiciel ou un autre système.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7753790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session_start()</a:t>
            </a:r>
          </a:p>
        </p:txBody>
      </p:sp>
      <p:sp>
        <p:nvSpPr>
          <p:cNvPr id="250" name="Google Shape;250;p41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Crée une session ou restaure celle trouvée sur le serveur, via l'identifiant de session passé dans une requête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GET</a:t>
            </a:r>
            <a:r>
              <a:rPr lang="fr-BE"/>
              <a:t>,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POST</a:t>
            </a:r>
            <a:r>
              <a:rPr lang="fr-BE"/>
              <a:t> ou par un cookie.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377907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2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session_unset()</a:t>
            </a:r>
          </a:p>
        </p:txBody>
      </p:sp>
      <p:sp>
        <p:nvSpPr>
          <p:cNvPr id="256" name="Google Shape;256;p4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Détruit toutes les données associées à la session courante.</a:t>
            </a:r>
          </a:p>
          <a:p>
            <a:r>
              <a:rPr lang="fr-BE"/>
              <a:t>Si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session_unset()</a:t>
            </a:r>
            <a:r>
              <a:rPr lang="fr-BE"/>
              <a:t> n’est pas explicitement lancée, alors la session sera détruite automatiquement après un “time-out”.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903962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3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$_SESSION</a:t>
            </a:r>
          </a:p>
        </p:txBody>
      </p:sp>
      <p:sp>
        <p:nvSpPr>
          <p:cNvPr id="262" name="Google Shape;262;p43"/>
          <p:cNvSpPr txBox="1"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La variable super globale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$_SESSION</a:t>
            </a:r>
            <a:r>
              <a:rPr lang="fr-BE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fr-BE"/>
              <a:t>permet d’enregistrer des données coté serveur sur un utilisateur pendant une session</a:t>
            </a:r>
          </a:p>
          <a:p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  <a:sym typeface="Courier New"/>
              </a:rPr>
              <a:t>$_SESSION</a:t>
            </a:r>
            <a:endParaRPr lang="fr-BE">
              <a:solidFill>
                <a:schemeClr val="accent6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lvl="1"/>
            <a:r>
              <a:rPr lang="fr-BE"/>
              <a:t>est </a:t>
            </a:r>
            <a:r>
              <a:rPr lang="fr-BE">
                <a:solidFill>
                  <a:schemeClr val="accent2"/>
                </a:solidFill>
              </a:rPr>
              <a:t>unique</a:t>
            </a:r>
            <a:r>
              <a:rPr lang="fr-BE"/>
              <a:t> pour chaque session</a:t>
            </a:r>
          </a:p>
          <a:p>
            <a:pPr lvl="1"/>
            <a:r>
              <a:rPr lang="fr-BE"/>
              <a:t>ne dure </a:t>
            </a:r>
            <a:r>
              <a:rPr lang="fr-BE">
                <a:solidFill>
                  <a:schemeClr val="accent2"/>
                </a:solidFill>
              </a:rPr>
              <a:t>que le temps </a:t>
            </a:r>
            <a:r>
              <a:rPr lang="fr-BE"/>
              <a:t>de la session</a:t>
            </a:r>
          </a:p>
          <a:p>
            <a:pPr lvl="1"/>
            <a:r>
              <a:rPr lang="fr-BE"/>
              <a:t>s’utilise comme un tableau associatif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34414450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4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>
                <a:latin typeface="Courier New" panose="02070309020205020404" pitchFamily="49" charset="0"/>
                <a:cs typeface="Courier New" panose="02070309020205020404" pitchFamily="49" charset="0"/>
              </a:rPr>
              <a:t>isset($var)</a:t>
            </a:r>
          </a:p>
        </p:txBody>
      </p:sp>
      <p:sp>
        <p:nvSpPr>
          <p:cNvPr id="268" name="Google Shape;268;p44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Détermine si la variable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$var</a:t>
            </a:r>
            <a:r>
              <a:rPr lang="fr-BE"/>
              <a:t> est définie</a:t>
            </a:r>
          </a:p>
          <a:p>
            <a:r>
              <a:rPr lang="fr-BE"/>
              <a:t>return : boolean</a:t>
            </a:r>
          </a:p>
        </p:txBody>
      </p:sp>
    </p:spTree>
    <p:extLst>
      <p:ext uri="{BB962C8B-B14F-4D97-AF65-F5344CB8AC3E}">
        <p14:creationId xmlns:p14="http://schemas.microsoft.com/office/powerpoint/2010/main" val="3775770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21 : </a:t>
            </a:r>
            <a:r>
              <a:rPr lang="fr-BE" err="1"/>
              <a:t>log-in</a:t>
            </a:r>
            <a:r>
              <a:rPr lang="fr-BE"/>
              <a:t>, log-out</a:t>
            </a:r>
          </a:p>
        </p:txBody>
      </p:sp>
      <p:sp>
        <p:nvSpPr>
          <p:cNvPr id="280" name="Google Shape;280;p46"/>
          <p:cNvSpPr txBox="1">
            <a:spLocks noGrp="1"/>
          </p:cNvSpPr>
          <p:nvPr>
            <p:ph sz="half" idx="1"/>
          </p:nvPr>
        </p:nvSpPr>
        <p:spPr/>
        <p:txBody>
          <a:bodyPr numCol="1">
            <a:normAutofit fontScale="92500" lnSpcReduction="20000"/>
          </a:bodyPr>
          <a:lstStyle/>
          <a:p>
            <a:r>
              <a:rPr lang="fr-BE"/>
              <a:t>Ecrivez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logguer</a:t>
            </a:r>
            <a:r>
              <a:rPr lang="fr-BE"/>
              <a:t>, en saisissant son nom dans un input </a:t>
            </a:r>
            <a:r>
              <a:rPr lang="fr-BE" err="1"/>
              <a:t>field</a:t>
            </a:r>
            <a:r>
              <a:rPr lang="fr-BE"/>
              <a:t>.</a:t>
            </a:r>
          </a:p>
          <a:p>
            <a:r>
              <a:rPr lang="fr-BE"/>
              <a:t>Ensuite, écrivez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délogguer</a:t>
            </a:r>
            <a:r>
              <a:rPr lang="fr-BE"/>
              <a:t>.</a:t>
            </a:r>
          </a:p>
          <a:p>
            <a:r>
              <a:rPr lang="fr-BE"/>
              <a:t>Le login de l'utilisateur est enregistré dans une variable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$_SESSION</a:t>
            </a:r>
            <a:r>
              <a:rPr lang="fr-BE"/>
              <a:t>.</a:t>
            </a:r>
          </a:p>
        </p:txBody>
      </p:sp>
      <p:pic>
        <p:nvPicPr>
          <p:cNvPr id="281" name="Google Shape;28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1480" y="2689492"/>
            <a:ext cx="5916057" cy="739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1480" y="4080689"/>
            <a:ext cx="2392575" cy="1279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56226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7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BE"/>
              <a:t>Exo 24 : </a:t>
            </a:r>
            <a:r>
              <a:rPr lang="fr-BE" err="1"/>
              <a:t>log-in</a:t>
            </a:r>
            <a:r>
              <a:rPr lang="fr-BE"/>
              <a:t> et identification</a:t>
            </a:r>
          </a:p>
        </p:txBody>
      </p:sp>
      <p:sp>
        <p:nvSpPr>
          <p:cNvPr id="288" name="Google Shape;288;p47"/>
          <p:cNvSpPr txBox="1"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BE"/>
              <a:t>Reprenez le formulaire HTML de l'exercice 06-21 et ajoutez-y un </a:t>
            </a:r>
            <a:r>
              <a:rPr lang="fr-BE">
                <a:solidFill>
                  <a:schemeClr val="accent2"/>
                </a:solidFill>
              </a:rPr>
              <a:t>mot de passe</a:t>
            </a:r>
            <a:r>
              <a:rPr lang="fr-BE"/>
              <a:t>.</a:t>
            </a:r>
          </a:p>
          <a:p>
            <a:r>
              <a:rPr lang="fr-BE"/>
              <a:t>Vérifier si le login et le mot de passe sont corrects et si l’utilisateur peut être </a:t>
            </a:r>
            <a:r>
              <a:rPr lang="fr-BE">
                <a:solidFill>
                  <a:schemeClr val="accent2"/>
                </a:solidFill>
              </a:rPr>
              <a:t>connecté</a:t>
            </a:r>
            <a:r>
              <a:rPr lang="fr-BE"/>
              <a:t>.</a:t>
            </a:r>
          </a:p>
          <a:p>
            <a:r>
              <a:rPr lang="fr-BE"/>
              <a:t>Tous les login et mot de passe sont stockés de manière non cryptée dans un </a:t>
            </a:r>
            <a:r>
              <a:rPr lang="fr-BE">
                <a:solidFill>
                  <a:schemeClr val="accent2"/>
                </a:solidFill>
              </a:rPr>
              <a:t>fichier CSV</a:t>
            </a:r>
            <a:r>
              <a:rPr lang="fr-BE"/>
              <a:t>.</a:t>
            </a:r>
          </a:p>
          <a:p>
            <a:r>
              <a:rPr lang="fr-BE"/>
              <a:t>fichiers exo :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database_login.csv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exo24_login_password_session.php</a:t>
            </a:r>
          </a:p>
        </p:txBody>
      </p:sp>
    </p:spTree>
    <p:extLst>
      <p:ext uri="{BB962C8B-B14F-4D97-AF65-F5344CB8AC3E}">
        <p14:creationId xmlns:p14="http://schemas.microsoft.com/office/powerpoint/2010/main" val="3206662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9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Super Globales : $_COOKIE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9E7B575-B8E8-03A0-E2FC-82A833BDBF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BE"/>
          </a:p>
        </p:txBody>
      </p:sp>
      <p:sp>
        <p:nvSpPr>
          <p:cNvPr id="5" name="Espace réservé pour une image  4">
            <a:extLst>
              <a:ext uri="{FF2B5EF4-FFF2-40B4-BE49-F238E27FC236}">
                <a16:creationId xmlns:a16="http://schemas.microsoft.com/office/drawing/2014/main" id="{0B1065CE-9197-0C66-4E85-55CC793B09E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0428316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15DA5B29-5402-4F39-8FAE-057E93616A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Qu'est-ce qu'un cookie?</a:t>
            </a:r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A8E05BFB-519C-4DA7-8D8F-058BDAD2D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fr-BE"/>
              <a:t>Un petit fichier que le serveur web place sur l'ordinateur de l'utilisateur. </a:t>
            </a:r>
          </a:p>
          <a:p>
            <a:r>
              <a:rPr lang="fr-BE"/>
              <a:t>Application populaire:</a:t>
            </a:r>
          </a:p>
          <a:p>
            <a:pPr lvl="1"/>
            <a:r>
              <a:rPr lang="fr-BE"/>
              <a:t>Conserver l'identité d'un utilisateur de page en page</a:t>
            </a:r>
          </a:p>
          <a:p>
            <a:r>
              <a:rPr lang="fr-BE"/>
              <a:t>En PHP, vous créez, lisez, modifiez et supprimez vos propres cookies.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5210919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EB4D1A-1C79-44E3-B12C-F5993958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Créer des cookies avec PHP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255889-0074-4AF9-88AB-6C763349B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path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		   domain, secure, </a:t>
            </a: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httponly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</a:p>
          <a:p>
            <a:pPr lvl="1"/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/>
              <a:t> : nom du cookie</a:t>
            </a:r>
          </a:p>
          <a:p>
            <a:pPr lvl="1"/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/>
              <a:t> : </a:t>
            </a:r>
            <a:r>
              <a:rPr lang="en-US" err="1"/>
              <a:t>valeur</a:t>
            </a:r>
            <a:r>
              <a:rPr lang="en-US"/>
              <a:t> du cookie </a:t>
            </a:r>
          </a:p>
          <a:p>
            <a:pPr lvl="1"/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/>
              <a:t> : date-</a:t>
            </a:r>
            <a:r>
              <a:rPr lang="en-US" err="1"/>
              <a:t>heure</a:t>
            </a:r>
            <a:r>
              <a:rPr lang="en-US"/>
              <a:t> </a:t>
            </a:r>
            <a:r>
              <a:rPr lang="en-US" err="1"/>
              <a:t>d'expiration</a:t>
            </a:r>
            <a:r>
              <a:rPr lang="en-US"/>
              <a:t> du cookie </a:t>
            </a:r>
          </a:p>
          <a:p>
            <a:pPr lvl="2"/>
            <a:r>
              <a:rPr lang="en-US"/>
              <a:t>souvent </a:t>
            </a:r>
            <a:r>
              <a:rPr lang="en-US" err="1"/>
              <a:t>calculé</a:t>
            </a:r>
            <a:r>
              <a:rPr lang="en-US"/>
              <a:t> </a:t>
            </a:r>
            <a:r>
              <a:rPr lang="en-US" err="1"/>
              <a:t>ainsi</a:t>
            </a:r>
            <a:r>
              <a:rPr lang="en-US"/>
              <a:t> : date-</a:t>
            </a:r>
            <a:r>
              <a:rPr lang="en-US" err="1"/>
              <a:t>heure</a:t>
            </a:r>
            <a:r>
              <a:rPr lang="en-US"/>
              <a:t> courante + durée de </a:t>
            </a:r>
            <a:r>
              <a:rPr lang="en-US" err="1"/>
              <a:t>validité</a:t>
            </a:r>
            <a:endParaRPr lang="en-US"/>
          </a:p>
          <a:p>
            <a:pPr lvl="2"/>
            <a:r>
              <a:rPr lang="en-US"/>
              <a:t>si 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/>
              <a:t> </a:t>
            </a:r>
            <a:r>
              <a:rPr lang="en-US" err="1"/>
              <a:t>vaut</a:t>
            </a:r>
            <a:r>
              <a:rPr lang="en-US"/>
              <a:t> </a:t>
            </a:r>
            <a:r>
              <a:rPr lang="en-US" sz="2400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/>
              <a:t> </a:t>
            </a:r>
            <a:r>
              <a:rPr lang="en-US" err="1"/>
              <a:t>ou</a:t>
            </a:r>
            <a:r>
              <a:rPr lang="en-US"/>
              <a:t> </a:t>
            </a:r>
            <a:r>
              <a:rPr lang="en-US" err="1"/>
              <a:t>est</a:t>
            </a:r>
            <a:r>
              <a:rPr lang="en-US"/>
              <a:t> </a:t>
            </a:r>
            <a:r>
              <a:rPr lang="en-US" err="1"/>
              <a:t>omis</a:t>
            </a:r>
            <a:r>
              <a:rPr lang="en-US"/>
              <a:t>, </a:t>
            </a:r>
            <a:br>
              <a:rPr lang="en-US"/>
            </a:br>
            <a:r>
              <a:rPr lang="en-US"/>
              <a:t>alors le cookie </a:t>
            </a:r>
            <a:r>
              <a:rPr lang="en-US" err="1"/>
              <a:t>expirera</a:t>
            </a:r>
            <a:r>
              <a:rPr lang="en-US"/>
              <a:t> à la fin de la session.</a:t>
            </a:r>
          </a:p>
          <a:p>
            <a:pPr lvl="1"/>
            <a:r>
              <a:rPr lang="en-US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path = "/"</a:t>
            </a:r>
            <a:r>
              <a:rPr lang="en-US"/>
              <a:t> : le répertoire en dessous duquel le cookie est disponible</a:t>
            </a:r>
          </a:p>
          <a:p>
            <a:pPr lvl="2"/>
            <a:r>
              <a:rPr lang="en-US"/>
              <a:t>dans ce cours : à mettre à </a:t>
            </a:r>
            <a:r>
              <a:rPr lang="en-US">
                <a:solidFill>
                  <a:schemeClr val="bg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"/"</a:t>
            </a:r>
            <a:r>
              <a:rPr lang="en-US"/>
              <a:t> à des fins de test</a:t>
            </a:r>
          </a:p>
          <a:p>
            <a:r>
              <a:rPr lang="fr-BE"/>
              <a:t>A placer </a:t>
            </a:r>
            <a:r>
              <a:rPr lang="fr-BE" b="1">
                <a:solidFill>
                  <a:schemeClr val="accent2"/>
                </a:solidFill>
              </a:rPr>
              <a:t>AVANT</a:t>
            </a:r>
            <a:r>
              <a:rPr lang="fr-BE"/>
              <a:t> la balise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&lt;html&gt;</a:t>
            </a:r>
          </a:p>
        </p:txBody>
      </p:sp>
    </p:spTree>
    <p:extLst>
      <p:ext uri="{BB962C8B-B14F-4D97-AF65-F5344CB8AC3E}">
        <p14:creationId xmlns:p14="http://schemas.microsoft.com/office/powerpoint/2010/main" val="111211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9EB4D1A-1C79-44E3-B12C-F5993958C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Créer des cookies avec PHP : 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3255889-0074-4AF9-88AB-6C763349B6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$name = 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"user"</a:t>
            </a:r>
            <a:r>
              <a:rPr lang="en-US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b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$value = 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"John Doe";</a:t>
            </a:r>
            <a:br>
              <a:rPr lang="en-US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$expire =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time() + (86400 * 30);</a:t>
            </a:r>
            <a:b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err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$name, $value, $expire, "/");</a:t>
            </a:r>
          </a:p>
          <a:p>
            <a:r>
              <a:rPr lang="fr-BE"/>
              <a:t>Ce code crée un cookie nommé "user" avec la valeur "John Doe", qui expirera après 30 jours (86400 * 30).</a:t>
            </a:r>
            <a: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</a:t>
            </a:r>
            <a:br>
              <a:rPr lang="en-US" b="1">
                <a:solidFill>
                  <a:schemeClr val="accent6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013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56B8AD4-8C16-4163-8CD2-EAA61E6FC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Lire un cookie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1D63915-830C-40F4-B5AA-C359620B4D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super globale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$_COOKIE</a:t>
            </a:r>
          </a:p>
          <a:p>
            <a:pPr lvl="1"/>
            <a:r>
              <a:rPr lang="fr-BE"/>
              <a:t>Lire la valeur du cookie, par ex. </a:t>
            </a:r>
          </a:p>
          <a:p>
            <a:pPr marL="914377" lvl="2" indent="0">
              <a:buNone/>
            </a:pPr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echo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$_COOKIE["user"];</a:t>
            </a:r>
          </a:p>
          <a:p>
            <a:pPr lvl="1"/>
            <a:r>
              <a:rPr lang="fr-BE"/>
              <a:t>Associative </a:t>
            </a:r>
            <a:r>
              <a:rPr lang="fr-BE" err="1"/>
              <a:t>array</a:t>
            </a:r>
            <a:r>
              <a:rPr lang="fr-BE"/>
              <a:t> !</a:t>
            </a:r>
          </a:p>
          <a:p>
            <a:r>
              <a:rPr lang="fr-BE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isset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fr-BE">
                <a:latin typeface="Consolas" panose="020B0609020204030204" pitchFamily="49" charset="0"/>
              </a:rPr>
              <a:t> </a:t>
            </a:r>
          </a:p>
          <a:p>
            <a:pPr lvl="1"/>
            <a:r>
              <a:rPr lang="fr-BE"/>
              <a:t>Savoir si le cookie est défini</a:t>
            </a:r>
          </a:p>
          <a:p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12335223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7FBD3-2CB1-458C-8CD3-8556940C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Modifier un cookie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09CC87-D438-45CB-B0FA-36426B775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1214"/>
            <a:ext cx="10515600" cy="4348165"/>
          </a:xfrm>
        </p:spPr>
        <p:txBody>
          <a:bodyPr>
            <a:normAutofit/>
          </a:bodyPr>
          <a:lstStyle/>
          <a:p>
            <a:r>
              <a:rPr lang="fr-BE"/>
              <a:t>On définit à nouveau le cookie avec les nouvelles valeurs.</a:t>
            </a:r>
          </a:p>
          <a:p>
            <a:pPr marL="0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"/"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en-US">
                <a:solidFill>
                  <a:schemeClr val="accent5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</a:t>
            </a:r>
            <a:r>
              <a:rPr lang="fr-BE"/>
              <a:t> : nom du cookie (inchangé)</a:t>
            </a:r>
          </a:p>
          <a:p>
            <a:pPr lvl="1"/>
            <a:r>
              <a:rPr lang="en-US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value</a:t>
            </a:r>
            <a:r>
              <a:rPr lang="en-US"/>
              <a:t> : nouvelle </a:t>
            </a:r>
            <a:r>
              <a:rPr lang="en-US" err="1"/>
              <a:t>valeur</a:t>
            </a:r>
            <a:r>
              <a:rPr lang="en-US"/>
              <a:t> du cookie </a:t>
            </a:r>
          </a:p>
          <a:p>
            <a:pPr lvl="1"/>
            <a:r>
              <a:rPr lang="en-US">
                <a:solidFill>
                  <a:schemeClr val="accent6">
                    <a:lumMod val="2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/>
              <a:t> : nouvelle date-</a:t>
            </a:r>
            <a:r>
              <a:rPr lang="en-US" err="1"/>
              <a:t>heure</a:t>
            </a:r>
            <a:r>
              <a:rPr lang="en-US"/>
              <a:t> </a:t>
            </a:r>
            <a:r>
              <a:rPr lang="en-US" err="1"/>
              <a:t>d'expiration</a:t>
            </a:r>
            <a:r>
              <a:rPr lang="en-US"/>
              <a:t> du cookie, etc.</a:t>
            </a:r>
          </a:p>
          <a:p>
            <a:r>
              <a:rPr lang="en-US" err="1"/>
              <a:t>Exemple</a:t>
            </a:r>
            <a:endParaRPr lang="en-US" b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189" lvl="1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"user"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"Alex Porter"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);</a:t>
            </a:r>
          </a:p>
          <a:p>
            <a:endParaRPr lang="fr-BE" b="1" i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390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97FBD3-2CB1-458C-8CD3-8556940C4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Supprimer un cookie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09CC87-D438-45CB-B0FA-36426B775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BE"/>
              <a:t>On définit à nouveau le cookie, mais avec une date d'expiration dans le passé.</a:t>
            </a:r>
            <a:endParaRPr lang="en-US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name, value, </a:t>
            </a:r>
            <a:r>
              <a:rPr lang="en-US" i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en-US" i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"/" 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lvl="1"/>
            <a:r>
              <a:rPr lang="fr-BE" i="1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expire</a:t>
            </a:r>
            <a:r>
              <a:rPr lang="fr-BE"/>
              <a:t> : valeur </a:t>
            </a:r>
            <a:r>
              <a:rPr lang="fr-BE">
                <a:solidFill>
                  <a:schemeClr val="accent2"/>
                </a:solidFill>
              </a:rPr>
              <a:t>dans le passé</a:t>
            </a:r>
            <a:r>
              <a:rPr lang="fr-BE"/>
              <a:t>, par ex. </a:t>
            </a:r>
            <a:r>
              <a:rPr lang="fr-BE" i="1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</a:t>
            </a:r>
          </a:p>
          <a:p>
            <a:r>
              <a:rPr lang="en-US" err="1"/>
              <a:t>Exemple</a:t>
            </a:r>
            <a:endParaRPr lang="en-US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189" lvl="1" indent="0">
              <a:buNone/>
            </a:pPr>
            <a:r>
              <a:rPr lang="en-US" err="1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setcookie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"user"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latin typeface="Consolas" panose="020B0609020204030204" pitchFamily="49" charset="0"/>
                <a:cs typeface="Courier New" panose="02070309020205020404" pitchFamily="49" charset="0"/>
              </a:rPr>
              <a:t>"John Doe"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>
                <a:solidFill>
                  <a:schemeClr val="accent2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"/" );</a:t>
            </a:r>
          </a:p>
          <a:p>
            <a:endParaRPr lang="fr-BE" i="1">
              <a:solidFill>
                <a:schemeClr val="accent6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01023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EBFC8E-6EB3-515B-588D-728359F5A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fr-BE"/>
              <a:t>Architecture des cookies</a:t>
            </a:r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55118A1C-DDC3-C98E-AD9D-332F01179C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5378" y="1690688"/>
            <a:ext cx="8841244" cy="4486275"/>
          </a:xfrm>
          <a:noFill/>
        </p:spPr>
      </p:pic>
    </p:spTree>
    <p:extLst>
      <p:ext uri="{BB962C8B-B14F-4D97-AF65-F5344CB8AC3E}">
        <p14:creationId xmlns:p14="http://schemas.microsoft.com/office/powerpoint/2010/main" val="41914894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6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/>
              <a:t>Exo 27 : </a:t>
            </a:r>
            <a:r>
              <a:rPr lang="fr-BE" err="1"/>
              <a:t>log-in</a:t>
            </a:r>
            <a:r>
              <a:rPr lang="fr-BE"/>
              <a:t>, log-out</a:t>
            </a:r>
          </a:p>
        </p:txBody>
      </p:sp>
      <p:sp>
        <p:nvSpPr>
          <p:cNvPr id="280" name="Google Shape;280;p46"/>
          <p:cNvSpPr txBox="1">
            <a:spLocks noGrp="1"/>
          </p:cNvSpPr>
          <p:nvPr>
            <p:ph sz="half" idx="1"/>
          </p:nvPr>
        </p:nvSpPr>
        <p:spPr/>
        <p:txBody>
          <a:bodyPr numCol="1">
            <a:normAutofit fontScale="85000" lnSpcReduction="20000"/>
          </a:bodyPr>
          <a:lstStyle/>
          <a:p>
            <a:r>
              <a:rPr lang="fr-BE"/>
              <a:t>Ecrivez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logguer</a:t>
            </a:r>
            <a:r>
              <a:rPr lang="fr-BE"/>
              <a:t>, en saisissant son nom dans un input </a:t>
            </a:r>
            <a:r>
              <a:rPr lang="fr-BE" err="1"/>
              <a:t>field</a:t>
            </a:r>
            <a:r>
              <a:rPr lang="fr-BE"/>
              <a:t>.</a:t>
            </a:r>
          </a:p>
          <a:p>
            <a:r>
              <a:rPr lang="fr-BE"/>
              <a:t>Ensuite, écrivez un programme </a:t>
            </a:r>
            <a:r>
              <a:rPr lang="fr-BE" err="1"/>
              <a:t>php</a:t>
            </a:r>
            <a:r>
              <a:rPr lang="fr-BE"/>
              <a:t> qui permet à  l’utilisateur de se </a:t>
            </a:r>
            <a:r>
              <a:rPr lang="fr-BE" err="1"/>
              <a:t>délogguer</a:t>
            </a:r>
            <a:r>
              <a:rPr lang="fr-BE"/>
              <a:t>.</a:t>
            </a:r>
          </a:p>
          <a:p>
            <a:r>
              <a:rPr lang="fr-BE"/>
              <a:t>Le login de l'utilisateur est enregistré dans une variable </a:t>
            </a:r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$_COOKIE</a:t>
            </a:r>
            <a:r>
              <a:rPr lang="fr-BE"/>
              <a:t>.</a:t>
            </a:r>
          </a:p>
          <a:p>
            <a:r>
              <a:rPr lang="fr-BE"/>
              <a:t>fichier exo :</a:t>
            </a:r>
          </a:p>
          <a:p>
            <a:pPr lvl="1"/>
            <a:r>
              <a:rPr lang="fr-BE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exo27_login_cookie.php</a:t>
            </a:r>
          </a:p>
          <a:p>
            <a:pPr lvl="1"/>
            <a:endParaRPr lang="fr-BE"/>
          </a:p>
        </p:txBody>
      </p:sp>
      <p:pic>
        <p:nvPicPr>
          <p:cNvPr id="281" name="Google Shape;281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91480" y="2689492"/>
            <a:ext cx="5916057" cy="7395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91480" y="4080689"/>
            <a:ext cx="2392575" cy="12797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1352519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burotix">
  <a:themeElements>
    <a:clrScheme name="Custom 4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DD3D1"/>
      </a:accent1>
      <a:accent2>
        <a:srgbClr val="1963A1"/>
      </a:accent2>
      <a:accent3>
        <a:srgbClr val="E5CBAD"/>
      </a:accent3>
      <a:accent4>
        <a:srgbClr val="5DF5F3"/>
      </a:accent4>
      <a:accent5>
        <a:srgbClr val="56A4E4"/>
      </a:accent5>
      <a:accent6>
        <a:srgbClr val="EFDFCD"/>
      </a:accent6>
      <a:hlink>
        <a:srgbClr val="000000"/>
      </a:hlink>
      <a:folHlink>
        <a:srgbClr val="3F3F3F"/>
      </a:folHlink>
    </a:clrScheme>
    <a:fontScheme name="Garamond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olides discret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urotix2025.potm" id="{9A679E22-159F-4468-BD25-5554C2F5C34C}" vid="{02412E46-CBBA-45C1-A7EE-8401C077A5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burotix2025</Template>
  <TotalTime>9037</TotalTime>
  <Words>1797</Words>
  <Application>Microsoft Office PowerPoint</Application>
  <PresentationFormat>Grand écran</PresentationFormat>
  <Paragraphs>257</Paragraphs>
  <Slides>40</Slides>
  <Notes>25</Notes>
  <HiddenSlides>0</HiddenSlides>
  <MMClips>0</MMClips>
  <ScaleCrop>false</ScaleCrop>
  <HeadingPairs>
    <vt:vector size="8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40</vt:i4>
      </vt:variant>
      <vt:variant>
        <vt:lpstr>Diaporamas personnalisés</vt:lpstr>
      </vt:variant>
      <vt:variant>
        <vt:i4>1</vt:i4>
      </vt:variant>
    </vt:vector>
  </HeadingPairs>
  <TitlesOfParts>
    <vt:vector size="48" baseType="lpstr">
      <vt:lpstr>Arial</vt:lpstr>
      <vt:lpstr>Calibri</vt:lpstr>
      <vt:lpstr>Consolas</vt:lpstr>
      <vt:lpstr>Courier New</vt:lpstr>
      <vt:lpstr>Garamond</vt:lpstr>
      <vt:lpstr>Wingdings</vt:lpstr>
      <vt:lpstr>burotix</vt:lpstr>
      <vt:lpstr>Bachelier en Informatique de Gestion  Web : principes de base Projet de Développement Web</vt:lpstr>
      <vt:lpstr>Table des matières</vt:lpstr>
      <vt:lpstr>22. Traitement du Formulaire</vt:lpstr>
      <vt:lpstr>Transit des données</vt:lpstr>
      <vt:lpstr>Single Page App. vs Multiple Page App.</vt:lpstr>
      <vt:lpstr>MPA vs SPA, use cases</vt:lpstr>
      <vt:lpstr>Objectifs des formulaires</vt:lpstr>
      <vt:lpstr>Comment faire transiter les données?</vt:lpstr>
      <vt:lpstr>MPA : Déclaration d'un formulaire</vt:lpstr>
      <vt:lpstr>SPA : Exemple de formulaire ? </vt:lpstr>
      <vt:lpstr>Balises HTML Form</vt:lpstr>
      <vt:lpstr>La balise &lt;input&gt;</vt:lpstr>
      <vt:lpstr>Autres balises</vt:lpstr>
      <vt:lpstr>Soumettre un formulaire </vt:lpstr>
      <vt:lpstr>Exo 01 : Sample "Atomic" Form</vt:lpstr>
      <vt:lpstr>Exo 03 : Sample "Molecular" Form</vt:lpstr>
      <vt:lpstr>Exo 05 : Catalogue + Form Input</vt:lpstr>
      <vt:lpstr>Super Globales : $_GET et $_POST</vt:lpstr>
      <vt:lpstr>$_GET et $_POST</vt:lpstr>
      <vt:lpstr>$_GET et $_POST</vt:lpstr>
      <vt:lpstr>Exo 06 : lire le form</vt:lpstr>
      <vt:lpstr>Exo 07 : login élémentaire et bibliothèque de fonction</vt:lpstr>
      <vt:lpstr>Exo 11 : Catalogue + Insertion CSV</vt:lpstr>
      <vt:lpstr>Super Globales : $_SESSION</vt:lpstr>
      <vt:lpstr>Définition</vt:lpstr>
      <vt:lpstr>session_start()</vt:lpstr>
      <vt:lpstr>session_unset()</vt:lpstr>
      <vt:lpstr>$_SESSION</vt:lpstr>
      <vt:lpstr>isset($var)</vt:lpstr>
      <vt:lpstr>Exo 21 : log-in, log-out</vt:lpstr>
      <vt:lpstr>Exo 24 : log-in et identification</vt:lpstr>
      <vt:lpstr>Super Globales : $_COOKIE</vt:lpstr>
      <vt:lpstr>Qu'est-ce qu'un cookie?</vt:lpstr>
      <vt:lpstr>Créer des cookies avec PHP</vt:lpstr>
      <vt:lpstr>Créer des cookies avec PHP : exemple</vt:lpstr>
      <vt:lpstr>Lire un cookie</vt:lpstr>
      <vt:lpstr>Modifier un cookie</vt:lpstr>
      <vt:lpstr>Supprimer un cookie</vt:lpstr>
      <vt:lpstr>Architecture des cookies</vt:lpstr>
      <vt:lpstr>Exo 27 : log-in, log-out</vt:lpstr>
      <vt:lpstr>cefora powerpoint base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Bachelier en Informatique de Gestion  Projet de Développement Web</dc:title>
  <dc:creator>Alain Wafflard</dc:creator>
  <cp:lastModifiedBy>Alain Wafflard</cp:lastModifiedBy>
  <cp:revision>132</cp:revision>
  <dcterms:created xsi:type="dcterms:W3CDTF">2020-03-25T16:55:22Z</dcterms:created>
  <dcterms:modified xsi:type="dcterms:W3CDTF">2026-02-23T13:08:08Z</dcterms:modified>
</cp:coreProperties>
</file>