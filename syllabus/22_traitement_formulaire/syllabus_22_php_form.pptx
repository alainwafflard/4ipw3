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7" r:id="rId1"/>
  </p:sldMasterIdLst>
  <p:notesMasterIdLst>
    <p:notesMasterId r:id="rId42"/>
  </p:notesMasterIdLst>
  <p:sldIdLst>
    <p:sldId id="416" r:id="rId2"/>
    <p:sldId id="417" r:id="rId3"/>
    <p:sldId id="352" r:id="rId4"/>
    <p:sldId id="606" r:id="rId5"/>
    <p:sldId id="647" r:id="rId6"/>
    <p:sldId id="646" r:id="rId7"/>
    <p:sldId id="353" r:id="rId8"/>
    <p:sldId id="354" r:id="rId9"/>
    <p:sldId id="355" r:id="rId10"/>
    <p:sldId id="356" r:id="rId11"/>
    <p:sldId id="605" r:id="rId12"/>
    <p:sldId id="357" r:id="rId13"/>
    <p:sldId id="362" r:id="rId14"/>
    <p:sldId id="367" r:id="rId15"/>
    <p:sldId id="517" r:id="rId16"/>
    <p:sldId id="638" r:id="rId17"/>
    <p:sldId id="448" r:id="rId18"/>
    <p:sldId id="451" r:id="rId19"/>
    <p:sldId id="452" r:id="rId20"/>
    <p:sldId id="453" r:id="rId21"/>
    <p:sldId id="471" r:id="rId22"/>
    <p:sldId id="641" r:id="rId23"/>
    <p:sldId id="472" r:id="rId24"/>
    <p:sldId id="460" r:id="rId25"/>
    <p:sldId id="461" r:id="rId26"/>
    <p:sldId id="462" r:id="rId27"/>
    <p:sldId id="463" r:id="rId28"/>
    <p:sldId id="464" r:id="rId29"/>
    <p:sldId id="465" r:id="rId30"/>
    <p:sldId id="467" r:id="rId31"/>
    <p:sldId id="468" r:id="rId32"/>
    <p:sldId id="607" r:id="rId33"/>
    <p:sldId id="608" r:id="rId34"/>
    <p:sldId id="609" r:id="rId35"/>
    <p:sldId id="610" r:id="rId36"/>
    <p:sldId id="611" r:id="rId37"/>
    <p:sldId id="612" r:id="rId38"/>
    <p:sldId id="613" r:id="rId39"/>
    <p:sldId id="642" r:id="rId40"/>
    <p:sldId id="643" r:id="rId41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2 traitement formulaire" id="{08DFCFE3-79D6-440F-BB58-C288840FDF0A}">
          <p14:sldIdLst>
            <p14:sldId id="416"/>
            <p14:sldId id="417"/>
            <p14:sldId id="352"/>
            <p14:sldId id="606"/>
            <p14:sldId id="647"/>
            <p14:sldId id="646"/>
            <p14:sldId id="353"/>
            <p14:sldId id="354"/>
            <p14:sldId id="355"/>
            <p14:sldId id="356"/>
            <p14:sldId id="605"/>
            <p14:sldId id="357"/>
            <p14:sldId id="362"/>
            <p14:sldId id="367"/>
            <p14:sldId id="517"/>
            <p14:sldId id="638"/>
            <p14:sldId id="448"/>
            <p14:sldId id="451"/>
            <p14:sldId id="452"/>
            <p14:sldId id="453"/>
            <p14:sldId id="471"/>
            <p14:sldId id="641"/>
            <p14:sldId id="472"/>
            <p14:sldId id="460"/>
            <p14:sldId id="461"/>
            <p14:sldId id="462"/>
            <p14:sldId id="463"/>
            <p14:sldId id="464"/>
            <p14:sldId id="465"/>
            <p14:sldId id="467"/>
            <p14:sldId id="468"/>
            <p14:sldId id="607"/>
            <p14:sldId id="608"/>
            <p14:sldId id="609"/>
            <p14:sldId id="610"/>
            <p14:sldId id="611"/>
            <p14:sldId id="612"/>
            <p14:sldId id="613"/>
            <p14:sldId id="642"/>
            <p14:sldId id="6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94" autoAdjust="0"/>
    <p:restoredTop sz="86419" autoAdjust="0"/>
  </p:normalViewPr>
  <p:slideViewPr>
    <p:cSldViewPr snapToGrid="0">
      <p:cViewPr varScale="1">
        <p:scale>
          <a:sx n="86" d="100"/>
          <a:sy n="86" d="100"/>
        </p:scale>
        <p:origin x="1482" y="3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5268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ae4b1ffd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" name="Google Shape;42;gae4b1ffd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299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ae4b1ffd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ae4b1ffd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1530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ae4b1ffd_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ae4b1ffd_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21985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af1ccaf6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af1ccaf6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68514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ae4b1ffd_0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ae4b1ffd_0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8942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ae4b1ffd_0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ae4b1ffd_0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11652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7b4200d84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7b4200d84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6007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8d8db6e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8d8db6e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471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1dc672069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1dc672069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275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dc672069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1dc672069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73325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1dc672069_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1dc672069_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0410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dc672069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1dc672069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3942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8d8db6e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8d8db6e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0775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1e0fb6f38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1e0fb6f38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36477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e0fb6f38_0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e0fb6f38_0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2194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1e0fb6f38_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1e0fb6f38_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08299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e0fb6f38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e0fb6f38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41588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e0fb6f38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e0fb6f38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29141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e0fb6f38_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1e0fb6f38_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62471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9196d74e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9196d74e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4139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128d8db6e_0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128d8db6e_0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43441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1e0fb6f38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1e0fb6f38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81246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9196d74e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9196d74e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0503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5683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08179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32937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2986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2410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178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2041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109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3894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614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24-11-25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0ACFF670-65EF-AAD9-D180-4FB3AFC0570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6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  <p:sldLayoutId id="2147483862" r:id="rId5"/>
    <p:sldLayoutId id="2147483863" r:id="rId6"/>
    <p:sldLayoutId id="2147483864" r:id="rId7"/>
    <p:sldLayoutId id="2147483865" r:id="rId8"/>
    <p:sldLayoutId id="2147483866" r:id="rId9"/>
    <p:sldLayoutId id="2147483853" r:id="rId10"/>
    <p:sldLayoutId id="2147483852" r:id="rId11"/>
    <p:sldLayoutId id="2147483867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ddit.com/r/learnprogramming/comments/12ikg84/mpa_vs_spa_are_we_overcomplicating_web_development/?tl=fr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i.i.com.com/cnwk.1d/i/tim/2011/01/18/HTML5_Logo_550px_270x270.png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gif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>
                <a:solidFill>
                  <a:schemeClr val="accent2"/>
                </a:solidFill>
              </a:rPr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22. Traitement du Formulaire</a:t>
            </a:r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ym typeface="Calibri"/>
              </a:rPr>
              <a:t>Transit des données</a:t>
            </a:r>
          </a:p>
          <a:p>
            <a:r>
              <a:rPr lang="fr-BE">
                <a:sym typeface="Calibri"/>
              </a:rPr>
              <a:t>Balises</a:t>
            </a:r>
          </a:p>
          <a:p>
            <a:r>
              <a:rPr lang="fr-BE"/>
              <a:t>Super Globales PHP</a:t>
            </a:r>
          </a:p>
          <a:p>
            <a:r>
              <a:rPr lang="fr-BE">
                <a:sym typeface="Calibri"/>
              </a:rPr>
              <a:t>$_GET et $_POST</a:t>
            </a:r>
          </a:p>
          <a:p>
            <a:r>
              <a:rPr lang="fr-BE">
                <a:sym typeface="Calibri"/>
              </a:rPr>
              <a:t>$_SESSION</a:t>
            </a:r>
          </a:p>
          <a:p>
            <a:r>
              <a:rPr lang="fr-BE">
                <a:sym typeface="Calibri"/>
              </a:rPr>
              <a:t>$_COOKIES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E2A9F8B-5759-A6D8-BFFE-36543CB433D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58764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Transit des données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8FC7467-3A2C-9409-377D-B7D912D5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0318622-D037-2334-20A2-48658796B3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0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54A5A39-B674-EF53-040B-C0C074F19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Single Page App. vs Multiple Page App.</a:t>
            </a:r>
          </a:p>
        </p:txBody>
      </p:sp>
      <p:pic>
        <p:nvPicPr>
          <p:cNvPr id="1026" name="Picture 2" descr="SPA vs MPA user experience comparison - SPA is only updating the relevant parts of the page">
            <a:extLst>
              <a:ext uri="{FF2B5EF4-FFF2-40B4-BE49-F238E27FC236}">
                <a16:creationId xmlns:a16="http://schemas.microsoft.com/office/drawing/2014/main" id="{8E2AACD6-13DF-EC45-3257-A94F0D9BE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clrChange>
              <a:clrFrom>
                <a:srgbClr val="DFF0F0"/>
              </a:clrFrom>
              <a:clrTo>
                <a:srgbClr val="DF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64593" y="1690688"/>
            <a:ext cx="6345509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63729AB-B542-54F9-0CA0-C38CE94C7DEA}"/>
              </a:ext>
            </a:extLst>
          </p:cNvPr>
          <p:cNvSpPr txBox="1"/>
          <p:nvPr/>
        </p:nvSpPr>
        <p:spPr>
          <a:xfrm>
            <a:off x="9565858" y="2235175"/>
            <a:ext cx="1622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&lt;form&gt;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6CD49B6-9686-BA3C-E252-B090D501E3ED}"/>
              </a:ext>
            </a:extLst>
          </p:cNvPr>
          <p:cNvSpPr txBox="1"/>
          <p:nvPr/>
        </p:nvSpPr>
        <p:spPr>
          <a:xfrm>
            <a:off x="431988" y="3777711"/>
            <a:ext cx="1937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strike="sngStrik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$.ajax()</a:t>
            </a:r>
            <a:b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fetch()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760C94B-9822-6519-593A-334C3BAA6F05}"/>
              </a:ext>
            </a:extLst>
          </p:cNvPr>
          <p:cNvSpPr txBox="1"/>
          <p:nvPr/>
        </p:nvSpPr>
        <p:spPr>
          <a:xfrm>
            <a:off x="256478" y="4661212"/>
            <a:ext cx="42263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SPA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une seule page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seules les parties pertinentes sont modifiées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F449FF9-E953-FDDA-36C8-90AF0FF5ED65}"/>
              </a:ext>
            </a:extLst>
          </p:cNvPr>
          <p:cNvSpPr txBox="1"/>
          <p:nvPr/>
        </p:nvSpPr>
        <p:spPr>
          <a:xfrm>
            <a:off x="8688893" y="2771520"/>
            <a:ext cx="33767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MPA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plusieurs pages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page entièrement rechargée</a:t>
            </a:r>
          </a:p>
        </p:txBody>
      </p:sp>
    </p:spTree>
    <p:extLst>
      <p:ext uri="{BB962C8B-B14F-4D97-AF65-F5344CB8AC3E}">
        <p14:creationId xmlns:p14="http://schemas.microsoft.com/office/powerpoint/2010/main" val="64263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0567DB5-40A3-D689-2A49-2F35E1661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MPA vs SPA, use cases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037A0327-C066-39FA-3EB7-0985D48AF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BE" sz="3200">
                <a:solidFill>
                  <a:schemeClr val="accent2"/>
                </a:solidFill>
              </a:rPr>
              <a:t>MPA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A1F8FF8-6C56-04E4-42D5-78D0BA8E414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/>
              <a:t>app statique</a:t>
            </a:r>
          </a:p>
          <a:p>
            <a:r>
              <a:rPr lang="fr-BE"/>
              <a:t>services B2B</a:t>
            </a:r>
          </a:p>
          <a:p>
            <a:r>
              <a:rPr lang="fr-BE"/>
              <a:t>e-commerce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C14CB71-9959-51E0-732D-43C5077BED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r>
              <a:rPr lang="fr-BE" sz="3200">
                <a:solidFill>
                  <a:schemeClr val="accent2"/>
                </a:solidFill>
              </a:rPr>
              <a:t>SPA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EB175BB3-32CE-C415-3536-9E3113A203F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fr-BE"/>
              <a:t>app dynamique</a:t>
            </a:r>
          </a:p>
          <a:p>
            <a:r>
              <a:rPr lang="fr-BE"/>
              <a:t>social networks</a:t>
            </a:r>
          </a:p>
          <a:p>
            <a:r>
              <a:rPr lang="fr-BE"/>
              <a:t>streaming services</a:t>
            </a:r>
          </a:p>
          <a:p>
            <a:r>
              <a:rPr lang="fr-BE"/>
              <a:t>real-time location services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2506C64-A250-8371-EEAC-00B2AADD7EEE}"/>
              </a:ext>
            </a:extLst>
          </p:cNvPr>
          <p:cNvSpPr txBox="1"/>
          <p:nvPr/>
        </p:nvSpPr>
        <p:spPr>
          <a:xfrm>
            <a:off x="4626692" y="5666443"/>
            <a:ext cx="38025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>
                <a:hlinkClick r:id="rId2"/>
              </a:rPr>
              <a:t>discussion sur Reddit </a:t>
            </a:r>
            <a:endParaRPr lang="fr-BE" sz="2800"/>
          </a:p>
        </p:txBody>
      </p:sp>
    </p:spTree>
    <p:extLst>
      <p:ext uri="{BB962C8B-B14F-4D97-AF65-F5344CB8AC3E}">
        <p14:creationId xmlns:p14="http://schemas.microsoft.com/office/powerpoint/2010/main" val="2145867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Objectifs des formulaires</a:t>
            </a:r>
          </a:p>
        </p:txBody>
      </p:sp>
      <p:sp>
        <p:nvSpPr>
          <p:cNvPr id="45" name="Google Shape;45;p9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La création d'un formulaire se fait via la balise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&lt;form&gt;</a:t>
            </a:r>
          </a:p>
          <a:p>
            <a:r>
              <a:rPr lang="fr-BE">
                <a:sym typeface="Calibri"/>
              </a:rPr>
              <a:t>Les formulaires sont utilisés pour récolter des informations des utilisateurs.</a:t>
            </a:r>
          </a:p>
          <a:p>
            <a:r>
              <a:rPr lang="fr-BE">
                <a:sym typeface="Calibri"/>
              </a:rPr>
              <a:t>Deux problèmes:</a:t>
            </a:r>
          </a:p>
          <a:p>
            <a:pPr lvl="1"/>
            <a:r>
              <a:rPr lang="fr-BE">
                <a:sym typeface="Calibri"/>
              </a:rPr>
              <a:t>Comment envoyer les données au serveur ?</a:t>
            </a:r>
          </a:p>
          <a:p>
            <a:pPr lvl="1"/>
            <a:r>
              <a:rPr lang="fr-BE">
                <a:sym typeface="Calibri"/>
              </a:rPr>
              <a:t>Comment le serveur traite-t-il les données reçues?</a:t>
            </a:r>
          </a:p>
        </p:txBody>
      </p:sp>
    </p:spTree>
    <p:extLst>
      <p:ext uri="{BB962C8B-B14F-4D97-AF65-F5344CB8AC3E}">
        <p14:creationId xmlns:p14="http://schemas.microsoft.com/office/powerpoint/2010/main" val="281717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Comment faire transiter les données?</a:t>
            </a:r>
          </a:p>
        </p:txBody>
      </p:sp>
      <p:sp>
        <p:nvSpPr>
          <p:cNvPr id="51" name="Google Shape;51;p10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Deux méthodes :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GET</a:t>
            </a:r>
            <a:r>
              <a:rPr lang="fr-BE">
                <a:sym typeface="Calibri"/>
              </a:rPr>
              <a:t>: envoie les données dans l'URL de la page</a:t>
            </a:r>
          </a:p>
          <a:p>
            <a:pPr lvl="2"/>
            <a:r>
              <a:rPr lang="fr-BE">
                <a:sym typeface="Courier New"/>
              </a:rPr>
              <a:t>https://www.google.com/search ? </a:t>
            </a:r>
            <a:r>
              <a:rPr lang="fr-BE">
                <a:solidFill>
                  <a:schemeClr val="accent2"/>
                </a:solidFill>
                <a:sym typeface="Courier New"/>
              </a:rPr>
              <a:t>q=</a:t>
            </a:r>
            <a:r>
              <a:rPr lang="fr-BE" err="1">
                <a:solidFill>
                  <a:schemeClr val="accent2"/>
                </a:solidFill>
                <a:sym typeface="Courier New"/>
              </a:rPr>
              <a:t>developpement+photo</a:t>
            </a:r>
            <a:endParaRPr lang="fr-BE">
              <a:solidFill>
                <a:schemeClr val="accent2"/>
              </a:solidFill>
              <a:sym typeface="Courier New"/>
            </a:endParaRPr>
          </a:p>
          <a:p>
            <a:pPr lvl="2"/>
            <a:r>
              <a:rPr lang="fr-BE">
                <a:sym typeface="Calibri"/>
              </a:rPr>
              <a:t>Limité à 255 caractères</a:t>
            </a:r>
          </a:p>
          <a:p>
            <a:pPr lvl="2"/>
            <a:r>
              <a:rPr lang="fr-BE">
                <a:sym typeface="Calibri"/>
              </a:rPr>
              <a:t>Paramètres visibles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POST</a:t>
            </a:r>
            <a:r>
              <a:rPr lang="fr-BE">
                <a:sym typeface="Calibri"/>
              </a:rPr>
              <a:t>: envoie les données via la requête HTTP</a:t>
            </a:r>
          </a:p>
          <a:p>
            <a:pPr lvl="2"/>
            <a:r>
              <a:rPr lang="fr-BE">
                <a:sym typeface="Calibri"/>
              </a:rPr>
              <a:t>Permet de faire transiter un plus gros nombre de caractères</a:t>
            </a:r>
          </a:p>
          <a:p>
            <a:pPr lvl="2"/>
            <a:r>
              <a:rPr lang="fr-BE">
                <a:sym typeface="Calibri"/>
              </a:rPr>
              <a:t>Paramètres invisibles</a:t>
            </a:r>
          </a:p>
          <a:p>
            <a:r>
              <a:rPr lang="fr-BE">
                <a:sym typeface="Calibri"/>
              </a:rPr>
              <a:t>Défini avec l'attribut "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>
                <a:sym typeface="Courier New"/>
              </a:rPr>
              <a:t>"</a:t>
            </a:r>
            <a:r>
              <a:rPr lang="fr-BE">
                <a:sym typeface="Calibri"/>
              </a:rPr>
              <a:t> de la balise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form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&gt;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form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="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get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 …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form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="post" …</a:t>
            </a:r>
          </a:p>
        </p:txBody>
      </p:sp>
    </p:spTree>
    <p:extLst>
      <p:ext uri="{BB962C8B-B14F-4D97-AF65-F5344CB8AC3E}">
        <p14:creationId xmlns:p14="http://schemas.microsoft.com/office/powerpoint/2010/main" val="1761849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Comment traiter les données?</a:t>
            </a:r>
          </a:p>
        </p:txBody>
      </p:sp>
      <p:sp>
        <p:nvSpPr>
          <p:cNvPr id="57" name="Google Shape;57;p1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Il faut envoyer la requête contenant les données du formulaire (via GET ou POST) à un </a:t>
            </a:r>
            <a:r>
              <a:rPr lang="fr-BE">
                <a:solidFill>
                  <a:schemeClr val="accent2"/>
                </a:solidFill>
                <a:sym typeface="Calibri"/>
              </a:rPr>
              <a:t>script</a:t>
            </a:r>
            <a:r>
              <a:rPr lang="fr-BE">
                <a:sym typeface="Calibri"/>
              </a:rPr>
              <a:t> qui pourra les traiter (ex. page contenant du PHP)</a:t>
            </a:r>
          </a:p>
          <a:p>
            <a:r>
              <a:rPr lang="fr-BE">
                <a:sym typeface="Calibri"/>
              </a:rPr>
              <a:t>Défini avec l'attribut </a:t>
            </a:r>
            <a:r>
              <a:rPr lang="fr-BE">
                <a:sym typeface="Courier New"/>
              </a:rPr>
              <a:t>action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&lt;form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method="get" action="./register.php" …</a:t>
            </a:r>
          </a:p>
        </p:txBody>
      </p:sp>
    </p:spTree>
    <p:extLst>
      <p:ext uri="{BB962C8B-B14F-4D97-AF65-F5344CB8AC3E}">
        <p14:creationId xmlns:p14="http://schemas.microsoft.com/office/powerpoint/2010/main" val="165481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Exemple de formulaire</a:t>
            </a:r>
          </a:p>
        </p:txBody>
      </p:sp>
      <p:sp>
        <p:nvSpPr>
          <p:cNvPr id="63" name="Google Shape;63;p1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Déclaration d'un formulaire</a:t>
            </a:r>
          </a:p>
          <a:p>
            <a:endParaRPr lang="fr-BE">
              <a:sym typeface="Courier New"/>
            </a:endParaRPr>
          </a:p>
          <a:p>
            <a:pPr marL="0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&lt;form method="get" action="./register.php"&gt;</a:t>
            </a:r>
          </a:p>
          <a:p>
            <a:pPr marL="0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...</a:t>
            </a:r>
          </a:p>
          <a:p>
            <a:pPr marL="0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&lt;/form&gt;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7361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Balises HTML Form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FAA6F38-334B-E8B2-9E64-AE74E2D45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Rappel</a:t>
            </a:r>
          </a:p>
        </p:txBody>
      </p:sp>
      <p:pic>
        <p:nvPicPr>
          <p:cNvPr id="6" name="Google Shape;39;p8">
            <a:hlinkClick r:id="rId2"/>
            <a:extLst>
              <a:ext uri="{FF2B5EF4-FFF2-40B4-BE49-F238E27FC236}">
                <a16:creationId xmlns:a16="http://schemas.microsoft.com/office/drawing/2014/main" id="{F73F5139-A5C5-497C-AE5C-231EBB7AE61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" b="37"/>
          <a:stretch/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540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&lt;input&gt;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L'élément le plus populaire d'un formulaire est la balise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&lt;input&gt;</a:t>
            </a:r>
            <a:r>
              <a:rPr lang="fr-BE">
                <a:sym typeface="Courier New"/>
              </a:rPr>
              <a:t>.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r>
              <a:rPr lang="fr-BE">
                <a:sym typeface="Calibri"/>
              </a:rPr>
              <a:t>utilisé de nombreuses manières différentes </a:t>
            </a:r>
          </a:p>
          <a:p>
            <a:pPr lvl="1"/>
            <a:r>
              <a:rPr lang="fr-BE">
                <a:sym typeface="Calibri"/>
              </a:rPr>
              <a:t>en fonction de la valeur de son attribut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type</a:t>
            </a:r>
            <a:r>
              <a:rPr lang="fr-BE">
                <a:sym typeface="Courier New"/>
              </a:rPr>
              <a:t>.</a:t>
            </a:r>
          </a:p>
          <a:p>
            <a:endParaRPr lang="fr-BE">
              <a:sym typeface="Courier New"/>
            </a:endParaRPr>
          </a:p>
        </p:txBody>
      </p:sp>
      <p:pic>
        <p:nvPicPr>
          <p:cNvPr id="2" name="Google Shape;85;p15">
            <a:extLst>
              <a:ext uri="{FF2B5EF4-FFF2-40B4-BE49-F238E27FC236}">
                <a16:creationId xmlns:a16="http://schemas.microsoft.com/office/drawing/2014/main" id="{BCC30021-91CF-4250-9BFF-80E4289A7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913" y="5167311"/>
            <a:ext cx="1624211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76;p14">
            <a:extLst>
              <a:ext uri="{FF2B5EF4-FFF2-40B4-BE49-F238E27FC236}">
                <a16:creationId xmlns:a16="http://schemas.microsoft.com/office/drawing/2014/main" id="{F731EA1D-4F65-C8E5-D028-0B737517A8A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218" y="3933827"/>
            <a:ext cx="5225811" cy="6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90;p16">
            <a:extLst>
              <a:ext uri="{FF2B5EF4-FFF2-40B4-BE49-F238E27FC236}">
                <a16:creationId xmlns:a16="http://schemas.microsoft.com/office/drawing/2014/main" id="{6C7FA848-CAE6-D450-D281-9BF7BBF293D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074"/>
          <a:stretch/>
        </p:blipFill>
        <p:spPr>
          <a:xfrm>
            <a:off x="3147837" y="4687395"/>
            <a:ext cx="2088457" cy="1805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314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Autres balises</a:t>
            </a:r>
          </a:p>
        </p:txBody>
      </p:sp>
      <p:sp>
        <p:nvSpPr>
          <p:cNvPr id="104" name="Google Shape;104;p18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&lt;textarea rows="10" cols="30"&gt;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 list="browsers"&gt;</a:t>
            </a:r>
            <a:b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&lt;datalist id="browsers"&gt;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&lt;label for="male"&gt;Male&lt;/label&gt;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&lt;input type="color"&gt;</a:t>
            </a: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b="51013"/>
          <a:stretch/>
        </p:blipFill>
        <p:spPr>
          <a:xfrm>
            <a:off x="-190623" y="5625681"/>
            <a:ext cx="4888830" cy="12323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F3DCBF-FE03-AB66-602E-A79ADF691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321" y="4770304"/>
            <a:ext cx="2521692" cy="2180522"/>
          </a:xfrm>
          <a:prstGeom prst="rect">
            <a:avLst/>
          </a:prstGeom>
        </p:spPr>
      </p:pic>
      <p:pic>
        <p:nvPicPr>
          <p:cNvPr id="3" name="Content Placeholder 8">
            <a:extLst>
              <a:ext uri="{FF2B5EF4-FFF2-40B4-BE49-F238E27FC236}">
                <a16:creationId xmlns:a16="http://schemas.microsoft.com/office/drawing/2014/main" id="{DBF4EEA7-97CC-156E-7BA5-8096A6C8CF1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8213" y="4245602"/>
            <a:ext cx="3633787" cy="261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97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Soumettre un formulaire </a:t>
            </a:r>
          </a:p>
        </p:txBody>
      </p:sp>
      <p:sp>
        <p:nvSpPr>
          <p:cNvPr id="135" name="Google Shape;135;p23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Une fois rempli, le formulaire est "soumis au serveur", càd que les données y sont envoyées.</a:t>
            </a: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submit</a:t>
            </a:r>
            <a:r>
              <a:rPr lang="fr-BE">
                <a:sym typeface="Calibri"/>
              </a:rPr>
              <a:t>” </a:t>
            </a:r>
          </a:p>
          <a:p>
            <a:pPr marL="457189" lvl="1" indent="0">
              <a:buNone/>
            </a:pP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type="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"&gt;S'inscrire&lt;/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&gt;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alibri"/>
            </a:endParaRPr>
          </a:p>
          <a:p>
            <a:pPr lvl="1"/>
            <a:r>
              <a:rPr lang="fr-BE">
                <a:sym typeface="Calibri"/>
              </a:rPr>
              <a:t>remarque : il existe un codage ancien</a:t>
            </a:r>
            <a:br>
              <a:rPr lang="fr-BE">
                <a:sym typeface="Calibri"/>
              </a:rPr>
            </a:b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 type="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 value="S'inscrire"&gt;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button</a:t>
            </a:r>
            <a:r>
              <a:rPr lang="fr-BE">
                <a:sym typeface="Calibri"/>
              </a:rPr>
              <a:t>”</a:t>
            </a:r>
          </a:p>
          <a:p>
            <a:pPr lvl="1"/>
            <a:r>
              <a:rPr lang="fr-BE">
                <a:sym typeface="Calibri"/>
              </a:rPr>
              <a:t>appel d'un code JavaScript = programmation !</a:t>
            </a:r>
          </a:p>
          <a:p>
            <a:pPr lvl="1"/>
            <a:r>
              <a:rPr lang="fr-BE">
                <a:sym typeface="Calibri"/>
              </a:rPr>
              <a:t>formulaire non envoyé automatiquement au serveur</a:t>
            </a:r>
          </a:p>
          <a:p>
            <a:pPr lvl="1"/>
            <a:r>
              <a:rPr lang="fr-BE">
                <a:sym typeface="Calibri"/>
              </a:rPr>
              <a:t>exemple : un tel bouton peut valider les input, envoyer le </a:t>
            </a:r>
            <a:r>
              <a:rPr lang="fr-BE" err="1">
                <a:sym typeface="Calibri"/>
              </a:rPr>
              <a:t>form</a:t>
            </a:r>
            <a:r>
              <a:rPr lang="fr-BE">
                <a:sym typeface="Calibri"/>
              </a:rPr>
              <a:t> au serveur et afficher "veuillez patienter".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3171" y="632668"/>
            <a:ext cx="2196375" cy="9213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338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01 : Sample "Atomic"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2181224"/>
          </a:xfrm>
        </p:spPr>
        <p:txBody>
          <a:bodyPr numCol="1">
            <a:normAutofit lnSpcReduction="10000"/>
          </a:bodyPr>
          <a:lstStyle/>
          <a:p>
            <a:r>
              <a:rPr lang="fr-BE"/>
              <a:t>Télécharger et placer dans le WAMP les deux fichiers </a:t>
            </a:r>
          </a:p>
          <a:p>
            <a:pPr lvl="1">
              <a:lnSpc>
                <a:spcPct val="100000"/>
              </a:lnSpc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exo01_sample_atomic_form.html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exo01_sample_atomic_form.php</a:t>
            </a:r>
          </a:p>
          <a:p>
            <a:r>
              <a:rPr lang="fr-BE"/>
              <a:t>Démo de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F5B0D2-F4F6-4962-92C4-9372257CD4C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3730625"/>
            <a:ext cx="10766425" cy="2747963"/>
          </a:xfrm>
        </p:spPr>
        <p:txBody>
          <a:bodyPr numCol="2">
            <a:normAutofit/>
          </a:bodyPr>
          <a:lstStyle/>
          <a:p>
            <a:pPr lvl="1"/>
            <a:r>
              <a:rPr lang="fr-BE"/>
              <a:t>Input type </a:t>
            </a:r>
            <a:r>
              <a:rPr lang="fr-BE" err="1"/>
              <a:t>text</a:t>
            </a:r>
            <a:endParaRPr lang="fr-BE"/>
          </a:p>
          <a:p>
            <a:pPr lvl="1"/>
            <a:r>
              <a:rPr lang="fr-BE"/>
              <a:t>Input type </a:t>
            </a:r>
            <a:r>
              <a:rPr lang="fr-BE" err="1"/>
              <a:t>password</a:t>
            </a:r>
            <a:endParaRPr lang="fr-BE"/>
          </a:p>
          <a:p>
            <a:pPr lvl="1"/>
            <a:r>
              <a:rPr lang="fr-BE"/>
              <a:t>Input type radio </a:t>
            </a:r>
          </a:p>
          <a:p>
            <a:pPr lvl="1"/>
            <a:r>
              <a:rPr lang="fr-BE"/>
              <a:t>Input type </a:t>
            </a:r>
            <a:r>
              <a:rPr lang="fr-BE" err="1"/>
              <a:t>checkbox</a:t>
            </a:r>
            <a:endParaRPr lang="fr-BE"/>
          </a:p>
          <a:p>
            <a:pPr lvl="1"/>
            <a:r>
              <a:rPr lang="fr-BE"/>
              <a:t>Select option</a:t>
            </a:r>
          </a:p>
          <a:p>
            <a:pPr lvl="1"/>
            <a:r>
              <a:rPr lang="fr-BE"/>
              <a:t>Input + Datalist</a:t>
            </a:r>
          </a:p>
          <a:p>
            <a:pPr lvl="1"/>
            <a:r>
              <a:rPr lang="fr-BE"/>
              <a:t>Input type color</a:t>
            </a:r>
          </a:p>
          <a:p>
            <a:pPr lvl="1"/>
            <a:r>
              <a:rPr lang="fr-BE"/>
              <a:t>Input type range</a:t>
            </a:r>
          </a:p>
          <a:p>
            <a:pPr lvl="1"/>
            <a:r>
              <a:rPr lang="fr-BE"/>
              <a:t>Button type </a:t>
            </a:r>
            <a:r>
              <a:rPr lang="fr-BE" err="1"/>
              <a:t>submit</a:t>
            </a:r>
            <a:endParaRPr lang="fr-BE"/>
          </a:p>
          <a:p>
            <a:pPr lvl="1"/>
            <a:r>
              <a:rPr lang="fr-BE"/>
              <a:t>Button type button</a:t>
            </a:r>
          </a:p>
        </p:txBody>
      </p:sp>
    </p:spTree>
    <p:extLst>
      <p:ext uri="{BB962C8B-B14F-4D97-AF65-F5344CB8AC3E}">
        <p14:creationId xmlns:p14="http://schemas.microsoft.com/office/powerpoint/2010/main" val="1033182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Sample "Molecular"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802186"/>
          </a:xfrm>
        </p:spPr>
        <p:txBody>
          <a:bodyPr numCol="1">
            <a:normAutofit/>
          </a:bodyPr>
          <a:lstStyle/>
          <a:p>
            <a:r>
              <a:rPr lang="fr-BE"/>
              <a:t>Télécharger et placer dans le WAMP les deux fichiers 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exo03_sample_atomic_form.html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exo03_sample_atomic_form.php</a:t>
            </a: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Démo de</a:t>
            </a:r>
          </a:p>
          <a:p>
            <a:pPr lvl="1"/>
            <a:r>
              <a:rPr lang="fr-BE"/>
              <a:t>Image Upload</a:t>
            </a:r>
          </a:p>
          <a:p>
            <a:pPr lvl="1"/>
            <a:r>
              <a:rPr lang="fr-BE"/>
              <a:t>File Upload</a:t>
            </a:r>
          </a:p>
        </p:txBody>
      </p:sp>
    </p:spTree>
    <p:extLst>
      <p:ext uri="{BB962C8B-B14F-4D97-AF65-F5344CB8AC3E}">
        <p14:creationId xmlns:p14="http://schemas.microsoft.com/office/powerpoint/2010/main" val="1419265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05 : Catalogue + </a:t>
            </a:r>
            <a:r>
              <a:rPr lang="fr-BE" err="1"/>
              <a:t>Form</a:t>
            </a:r>
            <a:r>
              <a:rPr lang="fr-BE"/>
              <a:t> Input</a:t>
            </a:r>
          </a:p>
        </p:txBody>
      </p:sp>
      <p:sp>
        <p:nvSpPr>
          <p:cNvPr id="162" name="Google Shape;162;p27"/>
          <p:cNvSpPr txBox="1"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Créer un formulaire qui permet d’ajouter des éléments dans le tableau HTML.</a:t>
            </a:r>
          </a:p>
          <a:p>
            <a:r>
              <a:rPr lang="fr-BE"/>
              <a:t>Ci-contre un exemple de formulaire.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database_catalogue.csv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exo05_reading_csv.php</a:t>
            </a:r>
          </a:p>
        </p:txBody>
      </p:sp>
      <p:pic>
        <p:nvPicPr>
          <p:cNvPr id="9" name="Google Shape;163;p27"/>
          <p:cNvPicPr preferRelativeResize="0">
            <a:picLocks noGrp="1"/>
          </p:cNvPicPr>
          <p:nvPr>
            <p:ph sz="half" idx="2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2863891"/>
            <a:ext cx="5181600" cy="213986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56;p26">
            <a:extLst>
              <a:ext uri="{FF2B5EF4-FFF2-40B4-BE49-F238E27FC236}">
                <a16:creationId xmlns:a16="http://schemas.microsoft.com/office/drawing/2014/main" id="{C6B25BE4-F46D-4286-874D-3AA1AB1ACA8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4">
            <a:alphaModFix/>
          </a:blip>
          <a:srcRect r="18798" b="26254"/>
          <a:stretch/>
        </p:blipFill>
        <p:spPr>
          <a:xfrm>
            <a:off x="7390032" y="1401478"/>
            <a:ext cx="3673983" cy="28864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56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$_GET et $_POST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1F1FFBC-B412-2DC0-CC34-28465DACD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580BD68-B2D7-CD7F-664C-0BDC3E6E39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13189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$_GET et $_POST</a:t>
            </a:r>
          </a:p>
        </p:txBody>
      </p:sp>
      <p:sp>
        <p:nvSpPr>
          <p:cNvPr id="188" name="Google Shape;188;p3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Les variables super globales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</a:t>
            </a:r>
            <a:r>
              <a:rPr lang="fr-BE"/>
              <a:t> et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$_POST</a:t>
            </a:r>
            <a:r>
              <a:rPr lang="fr-BE"/>
              <a:t> permettent de récupérer des données envoyées via l’url ou la requête HTTP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		</a:t>
            </a:r>
            <a:r>
              <a:rPr lang="fr-BE"/>
              <a:t>: 	url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$_POST	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	</a:t>
            </a:r>
            <a:r>
              <a:rPr lang="fr-BE"/>
              <a:t>:	http</a:t>
            </a:r>
          </a:p>
          <a:p>
            <a:endParaRPr lang="fr-BE"/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2075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$_GET et $_POST</a:t>
            </a:r>
          </a:p>
        </p:txBody>
      </p:sp>
      <p:sp>
        <p:nvSpPr>
          <p:cNvPr id="194" name="Google Shape;194;p32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tableaux associatifs : éléments accessibles via une clé</a:t>
            </a:r>
          </a:p>
          <a:p>
            <a:r>
              <a:rPr lang="fr-BE">
                <a:sym typeface="Calibri"/>
              </a:rPr>
              <a:t>URL</a:t>
            </a:r>
          </a:p>
          <a:p>
            <a:pPr marL="914377" lvl="2" indent="0">
              <a:buNone/>
            </a:pPr>
            <a:r>
              <a:rPr lang="fr-BE">
                <a:sym typeface="Courier New"/>
              </a:rPr>
              <a:t>http://localhost/exercice.php?</a:t>
            </a:r>
            <a:r>
              <a:rPr lang="fr-BE" b="1">
                <a:solidFill>
                  <a:schemeClr val="accent2"/>
                </a:solidFill>
                <a:sym typeface="Courier New"/>
              </a:rPr>
              <a:t>name=jean&amp;age=23</a:t>
            </a:r>
          </a:p>
          <a:p>
            <a:r>
              <a:rPr lang="fr-BE">
                <a:sym typeface="Calibri"/>
              </a:rPr>
              <a:t>PHP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2400" b="1" kern="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&lt;?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php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2388DB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echo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$_GET['</a:t>
            </a:r>
            <a:r>
              <a:rPr lang="fr-BE" sz="30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name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']; 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// affiche </a:t>
            </a:r>
            <a:r>
              <a:rPr lang="fr-BE" sz="3000" kern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‘jean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’</a:t>
            </a: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2388DB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echo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$_GET['</a:t>
            </a:r>
            <a:r>
              <a:rPr lang="fr-BE" sz="30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age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'];  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// affiche ‘23’</a:t>
            </a: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00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2268276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06 : lire le </a:t>
            </a:r>
            <a:r>
              <a:rPr lang="fr-BE" err="1"/>
              <a:t>form</a:t>
            </a:r>
            <a:endParaRPr lang="fr-BE"/>
          </a:p>
        </p:txBody>
      </p:sp>
      <p:sp>
        <p:nvSpPr>
          <p:cNvPr id="200" name="Google Shape;200;p33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351339"/>
          </a:xfrm>
        </p:spPr>
        <p:txBody>
          <a:bodyPr>
            <a:noAutofit/>
          </a:bodyPr>
          <a:lstStyle/>
          <a:p>
            <a:pPr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ct val="100000"/>
            </a:pPr>
            <a:r>
              <a:rPr lang="fr-BE"/>
              <a:t>Comment parcourir les données reçues du formulaire ? 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foreach( 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 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as $key =&gt; $val ) 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{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	echo "$key : $val&lt;</a:t>
            </a:r>
            <a:r>
              <a:rPr lang="en-US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br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/&gt;";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}</a:t>
            </a:r>
          </a:p>
          <a:p>
            <a:pPr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ct val="100000"/>
            </a:pPr>
            <a:r>
              <a:rPr lang="en-US" err="1">
                <a:sym typeface="Courier New"/>
              </a:rPr>
              <a:t>ou</a:t>
            </a:r>
            <a:r>
              <a:rPr lang="en-US">
                <a:sym typeface="Courier New"/>
              </a:rPr>
              <a:t> </a:t>
            </a:r>
          </a:p>
          <a:p>
            <a:pPr mar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print_r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($_GET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 ;</a:t>
            </a:r>
          </a:p>
          <a:p>
            <a:pPr mar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var_dump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($_GET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 ;</a:t>
            </a:r>
          </a:p>
        </p:txBody>
      </p:sp>
    </p:spTree>
    <p:extLst>
      <p:ext uri="{BB962C8B-B14F-4D97-AF65-F5344CB8AC3E}">
        <p14:creationId xmlns:p14="http://schemas.microsoft.com/office/powerpoint/2010/main" val="2987480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6BBC3E-496E-4F87-9848-839E97457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07 : login élémentaire et bibliothèque de fonction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38AFD-2AC4-4406-9BF8-39F4BCE877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857240" cy="3029717"/>
          </a:xfrm>
        </p:spPr>
        <p:txBody>
          <a:bodyPr>
            <a:normAutofit fontScale="85000" lnSpcReduction="20000"/>
          </a:bodyPr>
          <a:lstStyle/>
          <a:p>
            <a:r>
              <a:rPr lang="fr-BE"/>
              <a:t>Écrivez un programme qui</a:t>
            </a:r>
          </a:p>
          <a:p>
            <a:pPr lvl="1"/>
            <a:r>
              <a:rPr lang="fr-BE"/>
              <a:t>Lit un login entré par l'utilisateur </a:t>
            </a:r>
          </a:p>
          <a:p>
            <a:pPr lvl="1"/>
            <a:r>
              <a:rPr lang="fr-BE"/>
              <a:t>Évalue si ce login est correct (un seul login hard-codé)</a:t>
            </a:r>
          </a:p>
          <a:p>
            <a:pPr lvl="1"/>
            <a:r>
              <a:rPr lang="fr-BE"/>
              <a:t>Affiche en conséquence un message de bienvenue ou de rejet </a:t>
            </a:r>
          </a:p>
          <a:p>
            <a:pPr lvl="1"/>
            <a:r>
              <a:rPr lang="fr-BE"/>
              <a:t>Organisation du code en fonctions PHP 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06CDB9FE-B339-4E7E-9BA8-828C0C254D9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348806"/>
            <a:ext cx="5181600" cy="1170038"/>
          </a:xfr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9E749FC1-0544-4023-ACA1-1FD588600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880" y="1882539"/>
            <a:ext cx="5247619" cy="13047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5F63018-231D-49C5-BA87-2C64205648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880" y="3315758"/>
            <a:ext cx="5228571" cy="127619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5AF670C-BE8C-D8BC-F53F-2C22E6C3CD70}"/>
              </a:ext>
            </a:extLst>
          </p:cNvPr>
          <p:cNvSpPr txBox="1"/>
          <p:nvPr/>
        </p:nvSpPr>
        <p:spPr>
          <a:xfrm>
            <a:off x="345440" y="4427369"/>
            <a:ext cx="7061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html_head($title="4IPDW")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html_welcome($text)</a:t>
            </a:r>
          </a:p>
          <a:p>
            <a:pPr marL="0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html_login_form($intro="", $value="")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html_welcome_user($people)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html_foot()</a:t>
            </a:r>
          </a:p>
        </p:txBody>
      </p:sp>
    </p:spTree>
    <p:extLst>
      <p:ext uri="{BB962C8B-B14F-4D97-AF65-F5344CB8AC3E}">
        <p14:creationId xmlns:p14="http://schemas.microsoft.com/office/powerpoint/2010/main" val="4269845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11 : Catalogue + Insertion CSV</a:t>
            </a:r>
          </a:p>
        </p:txBody>
      </p:sp>
      <p:sp>
        <p:nvSpPr>
          <p:cNvPr id="162" name="Google Shape;162;p27"/>
          <p:cNvSpPr txBox="1"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A la suite des exercices précédents, écrivez le code PHP correspondant au formulaire. </a:t>
            </a:r>
          </a:p>
          <a:p>
            <a:r>
              <a:rPr lang="fr-BE"/>
              <a:t>Fonction : Le script PHP insère les données dans le fichier CSV, puis réaffiche le tableau.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database_catalogue.csv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exo11_catalogue.php</a:t>
            </a:r>
          </a:p>
          <a:p>
            <a:endParaRPr lang="fr-BE"/>
          </a:p>
        </p:txBody>
      </p:sp>
      <p:pic>
        <p:nvPicPr>
          <p:cNvPr id="6" name="Google Shape;219;p36"/>
          <p:cNvPicPr preferRelativeResize="0">
            <a:picLocks noGrp="1"/>
          </p:cNvPicPr>
          <p:nvPr>
            <p:ph sz="half" idx="2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1690689"/>
            <a:ext cx="5857240" cy="40067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5580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$_SESSION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99C89DA-3AB0-A457-F2E6-99A9BD32A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20A5EE0F-E680-2E4A-E09C-FD198E7171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91910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Définition</a:t>
            </a:r>
          </a:p>
        </p:txBody>
      </p:sp>
      <p:sp>
        <p:nvSpPr>
          <p:cNvPr id="244" name="Google Shape;244;p40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En informatique et en télécommunication, une </a:t>
            </a:r>
            <a:r>
              <a:rPr lang="fr-BE">
                <a:solidFill>
                  <a:schemeClr val="accent2"/>
                </a:solidFill>
              </a:rPr>
              <a:t>session</a:t>
            </a:r>
            <a:r>
              <a:rPr lang="fr-BE"/>
              <a:t> est une période délimitée pendant laquelle un système informatique ou "serveur" est en </a:t>
            </a:r>
            <a:r>
              <a:rPr lang="fr-BE">
                <a:solidFill>
                  <a:schemeClr val="accent2"/>
                </a:solidFill>
              </a:rPr>
              <a:t>communication</a:t>
            </a:r>
            <a:r>
              <a:rPr lang="fr-BE"/>
              <a:t> avec et réalise des </a:t>
            </a:r>
            <a:r>
              <a:rPr lang="fr-BE">
                <a:solidFill>
                  <a:schemeClr val="accent2"/>
                </a:solidFill>
              </a:rPr>
              <a:t>opérations</a:t>
            </a:r>
            <a:r>
              <a:rPr lang="fr-BE"/>
              <a:t> pour un "client" - un usager, un logiciel ou un autre système.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75379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session_start()</a:t>
            </a:r>
          </a:p>
        </p:txBody>
      </p:sp>
      <p:sp>
        <p:nvSpPr>
          <p:cNvPr id="250" name="Google Shape;250;p4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Crée une session ou restaure celle trouvée sur le serveur, via l'identifiant de session passé dans une requête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GET</a:t>
            </a:r>
            <a:r>
              <a:rPr lang="fr-BE"/>
              <a:t>,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POST</a:t>
            </a:r>
            <a:r>
              <a:rPr lang="fr-BE"/>
              <a:t> ou par un cookie.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77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session_unset()</a:t>
            </a:r>
          </a:p>
        </p:txBody>
      </p:sp>
      <p:sp>
        <p:nvSpPr>
          <p:cNvPr id="256" name="Google Shape;256;p4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Détruit toutes les données associées à la session courante.</a:t>
            </a:r>
          </a:p>
          <a:p>
            <a:r>
              <a:rPr lang="fr-BE"/>
              <a:t>Si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session_unset()</a:t>
            </a:r>
            <a:r>
              <a:rPr lang="fr-BE"/>
              <a:t> n’est pas explicitement lancée, alors la session sera détruite automatiquement après un “time-out”.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3962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$_SESSION</a:t>
            </a:r>
          </a:p>
        </p:txBody>
      </p:sp>
      <p:sp>
        <p:nvSpPr>
          <p:cNvPr id="262" name="Google Shape;262;p4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La variable super globale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$_SESSION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/>
              <a:t>permet d’enregistrer des données coté serveur sur un utilisateur pendant une session</a:t>
            </a: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$_SESSION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est </a:t>
            </a:r>
            <a:r>
              <a:rPr lang="fr-BE">
                <a:solidFill>
                  <a:schemeClr val="accent2"/>
                </a:solidFill>
              </a:rPr>
              <a:t>unique</a:t>
            </a:r>
            <a:r>
              <a:rPr lang="fr-BE"/>
              <a:t> pour chaque session</a:t>
            </a:r>
          </a:p>
          <a:p>
            <a:pPr lvl="1"/>
            <a:r>
              <a:rPr lang="fr-BE"/>
              <a:t>ne dure </a:t>
            </a:r>
            <a:r>
              <a:rPr lang="fr-BE">
                <a:solidFill>
                  <a:schemeClr val="accent2"/>
                </a:solidFill>
              </a:rPr>
              <a:t>que le temps </a:t>
            </a:r>
            <a:r>
              <a:rPr lang="fr-BE"/>
              <a:t>de la session</a:t>
            </a:r>
          </a:p>
          <a:p>
            <a:pPr lvl="1"/>
            <a:r>
              <a:rPr lang="fr-BE"/>
              <a:t>s’utilise comme un tableau associatif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41445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isset($var)</a:t>
            </a:r>
          </a:p>
        </p:txBody>
      </p:sp>
      <p:sp>
        <p:nvSpPr>
          <p:cNvPr id="268" name="Google Shape;268;p44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Détermine si la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$var</a:t>
            </a:r>
            <a:r>
              <a:rPr lang="fr-BE"/>
              <a:t> est définie</a:t>
            </a:r>
          </a:p>
          <a:p>
            <a:r>
              <a:rPr lang="fr-BE"/>
              <a:t>return : boolean</a:t>
            </a:r>
          </a:p>
        </p:txBody>
      </p:sp>
    </p:spTree>
    <p:extLst>
      <p:ext uri="{BB962C8B-B14F-4D97-AF65-F5344CB8AC3E}">
        <p14:creationId xmlns:p14="http://schemas.microsoft.com/office/powerpoint/2010/main" val="3775770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21 : </a:t>
            </a:r>
            <a:r>
              <a:rPr lang="fr-BE" err="1"/>
              <a:t>log-in</a:t>
            </a:r>
            <a:r>
              <a:rPr lang="fr-BE"/>
              <a:t>, log-out</a:t>
            </a:r>
          </a:p>
        </p:txBody>
      </p:sp>
      <p:sp>
        <p:nvSpPr>
          <p:cNvPr id="280" name="Google Shape;280;p46"/>
          <p:cNvSpPr txBox="1">
            <a:spLocks noGrp="1"/>
          </p:cNvSpPr>
          <p:nvPr>
            <p:ph sz="half" idx="1"/>
          </p:nvPr>
        </p:nvSpPr>
        <p:spPr/>
        <p:txBody>
          <a:bodyPr numCol="1">
            <a:normAutofit fontScale="92500" lnSpcReduction="20000"/>
          </a:bodyPr>
          <a:lstStyle/>
          <a:p>
            <a:r>
              <a:rPr lang="fr-BE"/>
              <a:t>Ecrivez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logguer</a:t>
            </a:r>
            <a:r>
              <a:rPr lang="fr-BE"/>
              <a:t>, en saisissant son nom dans un input </a:t>
            </a:r>
            <a:r>
              <a:rPr lang="fr-BE" err="1"/>
              <a:t>field</a:t>
            </a:r>
            <a:r>
              <a:rPr lang="fr-BE"/>
              <a:t>.</a:t>
            </a:r>
          </a:p>
          <a:p>
            <a:r>
              <a:rPr lang="fr-BE"/>
              <a:t>Ensuite, écrivez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délogguer</a:t>
            </a:r>
            <a:r>
              <a:rPr lang="fr-BE"/>
              <a:t>.</a:t>
            </a:r>
          </a:p>
          <a:p>
            <a:r>
              <a:rPr lang="fr-BE"/>
              <a:t>Le login de l'utilisateur est enregistré dans une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$_SESSION</a:t>
            </a:r>
            <a:r>
              <a:rPr lang="fr-BE"/>
              <a:t>.</a:t>
            </a:r>
          </a:p>
        </p:txBody>
      </p:sp>
      <p:pic>
        <p:nvPicPr>
          <p:cNvPr id="281" name="Google Shape;28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480" y="2689492"/>
            <a:ext cx="5916057" cy="739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1480" y="4080689"/>
            <a:ext cx="2392575" cy="1279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6226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24 : </a:t>
            </a:r>
            <a:r>
              <a:rPr lang="fr-BE" err="1"/>
              <a:t>log-in</a:t>
            </a:r>
            <a:r>
              <a:rPr lang="fr-BE"/>
              <a:t> et identification</a:t>
            </a:r>
          </a:p>
        </p:txBody>
      </p:sp>
      <p:sp>
        <p:nvSpPr>
          <p:cNvPr id="288" name="Google Shape;288;p47"/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Reprenez le formulaire HTML de l'exercice 06-21 et ajoutez-y un </a:t>
            </a:r>
            <a:r>
              <a:rPr lang="fr-BE">
                <a:solidFill>
                  <a:schemeClr val="accent2"/>
                </a:solidFill>
              </a:rPr>
              <a:t>mot de passe</a:t>
            </a:r>
            <a:r>
              <a:rPr lang="fr-BE"/>
              <a:t>.</a:t>
            </a:r>
          </a:p>
          <a:p>
            <a:r>
              <a:rPr lang="fr-BE"/>
              <a:t>Vérifier si le login et le mot de passe sont corrects et si l’utilisateur peut être </a:t>
            </a:r>
            <a:r>
              <a:rPr lang="fr-BE">
                <a:solidFill>
                  <a:schemeClr val="accent2"/>
                </a:solidFill>
              </a:rPr>
              <a:t>connecté</a:t>
            </a:r>
            <a:r>
              <a:rPr lang="fr-BE"/>
              <a:t>.</a:t>
            </a:r>
          </a:p>
          <a:p>
            <a:r>
              <a:rPr lang="fr-BE"/>
              <a:t>Tous les login et mot de passe sont stockés de manière non cryptée dans un </a:t>
            </a:r>
            <a:r>
              <a:rPr lang="fr-BE">
                <a:solidFill>
                  <a:schemeClr val="accent2"/>
                </a:solidFill>
              </a:rPr>
              <a:t>fichier CSV</a:t>
            </a:r>
            <a:r>
              <a:rPr lang="fr-BE"/>
              <a:t>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database_login.csv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exo24_login_password_session.php</a:t>
            </a:r>
          </a:p>
        </p:txBody>
      </p:sp>
    </p:spTree>
    <p:extLst>
      <p:ext uri="{BB962C8B-B14F-4D97-AF65-F5344CB8AC3E}">
        <p14:creationId xmlns:p14="http://schemas.microsoft.com/office/powerpoint/2010/main" val="3206662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$_COOKIE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9E7B575-B8E8-03A0-E2FC-82A833BDB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0B1065CE-9197-0C66-4E85-55CC793B09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42831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5DA5B29-5402-4F39-8FAE-057E93616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Qu'est-ce qu'un cookie?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A8E05BFB-519C-4DA7-8D8F-058BDAD2D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Un petit fichier que le serveur web place sur l'ordinateur de l'utilisateur. </a:t>
            </a:r>
          </a:p>
          <a:p>
            <a:r>
              <a:rPr lang="fr-BE"/>
              <a:t>Application populaire:</a:t>
            </a:r>
          </a:p>
          <a:p>
            <a:pPr lvl="1"/>
            <a:r>
              <a:rPr lang="fr-BE"/>
              <a:t>Conserver l'identité d'un utilisateur de page en page</a:t>
            </a:r>
          </a:p>
          <a:p>
            <a:r>
              <a:rPr lang="fr-BE"/>
              <a:t>En PHP, vous créez, lisez, modifiez et supprimez vos propres cookies.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21091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B4D1A-1C79-44E3-B12C-F5993958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Créer des cookies avec 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255889-0074-4AF9-88AB-6C763349B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path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   domain, secure, 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httponly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</a:p>
          <a:p>
            <a:pPr lvl="1"/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/>
              <a:t> : nom du cookie</a:t>
            </a:r>
          </a:p>
          <a:p>
            <a:pPr lvl="1"/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/>
              <a:t> : </a:t>
            </a:r>
            <a:r>
              <a:rPr lang="en-US" err="1"/>
              <a:t>valeur</a:t>
            </a:r>
            <a:r>
              <a:rPr lang="en-US"/>
              <a:t> du cookie </a:t>
            </a:r>
          </a:p>
          <a:p>
            <a:pPr lvl="1"/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: date-</a:t>
            </a:r>
            <a:r>
              <a:rPr lang="en-US" err="1"/>
              <a:t>heure</a:t>
            </a:r>
            <a:r>
              <a:rPr lang="en-US"/>
              <a:t> </a:t>
            </a:r>
            <a:r>
              <a:rPr lang="en-US" err="1"/>
              <a:t>d'expiration</a:t>
            </a:r>
            <a:r>
              <a:rPr lang="en-US"/>
              <a:t> du cookie </a:t>
            </a:r>
          </a:p>
          <a:p>
            <a:pPr lvl="2"/>
            <a:r>
              <a:rPr lang="en-US"/>
              <a:t>souvent </a:t>
            </a:r>
            <a:r>
              <a:rPr lang="en-US" err="1"/>
              <a:t>calculé</a:t>
            </a:r>
            <a:r>
              <a:rPr lang="en-US"/>
              <a:t> </a:t>
            </a:r>
            <a:r>
              <a:rPr lang="en-US" err="1"/>
              <a:t>ainsi</a:t>
            </a:r>
            <a:r>
              <a:rPr lang="en-US"/>
              <a:t> : date-</a:t>
            </a:r>
            <a:r>
              <a:rPr lang="en-US" err="1"/>
              <a:t>heure</a:t>
            </a:r>
            <a:r>
              <a:rPr lang="en-US"/>
              <a:t> courante + durée de </a:t>
            </a:r>
            <a:r>
              <a:rPr lang="en-US" err="1"/>
              <a:t>validité</a:t>
            </a:r>
            <a:endParaRPr lang="en-US"/>
          </a:p>
          <a:p>
            <a:pPr lvl="2"/>
            <a:r>
              <a:rPr lang="en-US"/>
              <a:t>si 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</a:t>
            </a:r>
            <a:r>
              <a:rPr lang="en-US" err="1"/>
              <a:t>vaut</a:t>
            </a:r>
            <a:r>
              <a:rPr lang="en-US"/>
              <a:t> </a:t>
            </a:r>
            <a:r>
              <a:rPr lang="en-US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/>
              <a:t>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omis</a:t>
            </a:r>
            <a:r>
              <a:rPr lang="en-US"/>
              <a:t>, </a:t>
            </a:r>
            <a:br>
              <a:rPr lang="en-US"/>
            </a:br>
            <a:r>
              <a:rPr lang="en-US"/>
              <a:t>alors le cookie </a:t>
            </a:r>
            <a:r>
              <a:rPr lang="en-US" err="1"/>
              <a:t>expirera</a:t>
            </a:r>
            <a:r>
              <a:rPr lang="en-US"/>
              <a:t> à la fin de la session.</a:t>
            </a:r>
          </a:p>
          <a:p>
            <a:pPr lvl="1"/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path = "/"</a:t>
            </a:r>
            <a:r>
              <a:rPr lang="en-US"/>
              <a:t> : le répertoire en dessous duquel le cookie est disponible</a:t>
            </a:r>
          </a:p>
          <a:p>
            <a:pPr lvl="2"/>
            <a:r>
              <a:rPr lang="en-US"/>
              <a:t>dans ce cours : à mettre à 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"/"</a:t>
            </a:r>
            <a:r>
              <a:rPr lang="en-US"/>
              <a:t> à des fins de test</a:t>
            </a:r>
          </a:p>
          <a:p>
            <a:r>
              <a:rPr lang="fr-BE"/>
              <a:t>A placer </a:t>
            </a:r>
            <a:r>
              <a:rPr lang="fr-BE" b="1">
                <a:solidFill>
                  <a:schemeClr val="accent2"/>
                </a:solidFill>
              </a:rPr>
              <a:t>AVANT</a:t>
            </a:r>
            <a:r>
              <a:rPr lang="fr-BE"/>
              <a:t> la balise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&lt;html&gt;</a:t>
            </a:r>
          </a:p>
        </p:txBody>
      </p:sp>
    </p:spTree>
    <p:extLst>
      <p:ext uri="{BB962C8B-B14F-4D97-AF65-F5344CB8AC3E}">
        <p14:creationId xmlns:p14="http://schemas.microsoft.com/office/powerpoint/2010/main" val="111211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B4D1A-1C79-44E3-B12C-F5993958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Créer des cookies avec PHP : 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255889-0074-4AF9-88AB-6C763349B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$name = 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b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$value = 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"John Doe";</a:t>
            </a:r>
            <a:br>
              <a:rPr lang="en-US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$expire =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time() + (86400 * 30);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$name, $value, $expire, "/");</a:t>
            </a:r>
          </a:p>
          <a:p>
            <a:r>
              <a:rPr lang="fr-BE"/>
              <a:t>Ce code crée un cookie nommé "user" avec la valeur "John Doe", qui expirera après 30 jours (86400 * 30).</a:t>
            </a:r>
            <a: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b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013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6B8AD4-8C16-4163-8CD2-EAA61E6FC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Lire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D63915-830C-40F4-B5AA-C359620B4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super globale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$_COOKIE</a:t>
            </a:r>
          </a:p>
          <a:p>
            <a:pPr lvl="1"/>
            <a:r>
              <a:rPr lang="fr-BE"/>
              <a:t>Lire la valeur du cookie, par ex. </a:t>
            </a:r>
          </a:p>
          <a:p>
            <a:pPr marL="914377" lvl="2" indent="0">
              <a:buNone/>
            </a:pP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$_COOKIE["user"];</a:t>
            </a:r>
          </a:p>
          <a:p>
            <a:pPr lvl="1"/>
            <a:r>
              <a:rPr lang="fr-BE"/>
              <a:t>Associative </a:t>
            </a:r>
            <a:r>
              <a:rPr lang="fr-BE" err="1"/>
              <a:t>array</a:t>
            </a:r>
            <a:r>
              <a:rPr lang="fr-BE"/>
              <a:t> !</a:t>
            </a:r>
          </a:p>
          <a:p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isset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fr-BE"/>
              <a:t>Savoir si le cookie est défini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3352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7FBD3-2CB1-458C-8CD3-855694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Modifier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09CC87-D438-45CB-B0FA-36426B775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1214"/>
            <a:ext cx="10515600" cy="4348165"/>
          </a:xfrm>
        </p:spPr>
        <p:txBody>
          <a:bodyPr>
            <a:normAutofit/>
          </a:bodyPr>
          <a:lstStyle/>
          <a:p>
            <a:r>
              <a:rPr lang="fr-BE"/>
              <a:t>On définit à nouveau le cookie avec les nouvelles valeurs.</a:t>
            </a:r>
          </a:p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/>
              <a:t> : nom du cookie (inchangé)</a:t>
            </a:r>
          </a:p>
          <a:p>
            <a:pPr lvl="1"/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/>
              <a:t> : nouvelle </a:t>
            </a:r>
            <a:r>
              <a:rPr lang="en-US" err="1"/>
              <a:t>valeur</a:t>
            </a:r>
            <a:r>
              <a:rPr lang="en-US"/>
              <a:t> du cookie </a:t>
            </a:r>
          </a:p>
          <a:p>
            <a:pPr lvl="1"/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: nouvelle date-</a:t>
            </a:r>
            <a:r>
              <a:rPr lang="en-US" err="1"/>
              <a:t>heure</a:t>
            </a:r>
            <a:r>
              <a:rPr lang="en-US"/>
              <a:t> </a:t>
            </a:r>
            <a:r>
              <a:rPr lang="en-US" err="1"/>
              <a:t>d'expiration</a:t>
            </a:r>
            <a:r>
              <a:rPr lang="en-US"/>
              <a:t> du cookie, etc.</a:t>
            </a:r>
          </a:p>
          <a:p>
            <a:r>
              <a:rPr lang="en-US" err="1"/>
              <a:t>Exemple</a:t>
            </a: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189" lvl="1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"Alex Porter"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</a:p>
          <a:p>
            <a:endParaRPr lang="fr-BE" b="1" i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390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7FBD3-2CB1-458C-8CD3-855694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Supprimer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09CC87-D438-45CB-B0FA-36426B775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On définit à nouveau le cookie, mais avec une date d'expiration dans le passé.</a:t>
            </a:r>
            <a:endParaRPr lang="en-US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name, value, </a:t>
            </a:r>
            <a:r>
              <a:rPr lang="en-US" i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fr-BE" i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fr-BE"/>
              <a:t> : valeur </a:t>
            </a:r>
            <a:r>
              <a:rPr lang="fr-BE">
                <a:solidFill>
                  <a:schemeClr val="accent2"/>
                </a:solidFill>
              </a:rPr>
              <a:t>dans le passé</a:t>
            </a:r>
            <a:r>
              <a:rPr lang="fr-BE"/>
              <a:t>, par ex. </a:t>
            </a:r>
            <a:r>
              <a:rPr lang="fr-BE" i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err="1"/>
              <a:t>Exemple</a:t>
            </a:r>
            <a:endParaRPr lang="en-US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189" lvl="1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"John Doe"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 );</a:t>
            </a:r>
          </a:p>
          <a:p>
            <a:endParaRPr lang="fr-BE" i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0102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BFC8E-6EB3-515B-588D-728359F5A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fr-BE"/>
              <a:t>Architecture des cookies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55118A1C-DDC3-C98E-AD9D-332F01179C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378" y="1690688"/>
            <a:ext cx="8841244" cy="4486275"/>
          </a:xfrm>
          <a:noFill/>
        </p:spPr>
      </p:pic>
    </p:spTree>
    <p:extLst>
      <p:ext uri="{BB962C8B-B14F-4D97-AF65-F5344CB8AC3E}">
        <p14:creationId xmlns:p14="http://schemas.microsoft.com/office/powerpoint/2010/main" val="4191489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27 : </a:t>
            </a:r>
            <a:r>
              <a:rPr lang="fr-BE" err="1"/>
              <a:t>log-in</a:t>
            </a:r>
            <a:r>
              <a:rPr lang="fr-BE"/>
              <a:t>, log-out</a:t>
            </a:r>
          </a:p>
        </p:txBody>
      </p:sp>
      <p:sp>
        <p:nvSpPr>
          <p:cNvPr id="280" name="Google Shape;280;p46"/>
          <p:cNvSpPr txBox="1">
            <a:spLocks noGrp="1"/>
          </p:cNvSpPr>
          <p:nvPr>
            <p:ph sz="half" idx="1"/>
          </p:nvPr>
        </p:nvSpPr>
        <p:spPr/>
        <p:txBody>
          <a:bodyPr numCol="1">
            <a:normAutofit fontScale="85000" lnSpcReduction="20000"/>
          </a:bodyPr>
          <a:lstStyle/>
          <a:p>
            <a:r>
              <a:rPr lang="fr-BE"/>
              <a:t>Ecrivez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logguer</a:t>
            </a:r>
            <a:r>
              <a:rPr lang="fr-BE"/>
              <a:t>, en saisissant son nom dans un input </a:t>
            </a:r>
            <a:r>
              <a:rPr lang="fr-BE" err="1"/>
              <a:t>field</a:t>
            </a:r>
            <a:r>
              <a:rPr lang="fr-BE"/>
              <a:t>.</a:t>
            </a:r>
          </a:p>
          <a:p>
            <a:r>
              <a:rPr lang="fr-BE"/>
              <a:t>Ensuite, écrivez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délogguer</a:t>
            </a:r>
            <a:r>
              <a:rPr lang="fr-BE"/>
              <a:t>.</a:t>
            </a:r>
          </a:p>
          <a:p>
            <a:r>
              <a:rPr lang="fr-BE"/>
              <a:t>Le login de l'utilisateur est enregistré dans une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$_COOKIE</a:t>
            </a:r>
            <a:r>
              <a:rPr lang="fr-BE"/>
              <a:t>.</a:t>
            </a:r>
          </a:p>
          <a:p>
            <a:r>
              <a:rPr lang="fr-BE"/>
              <a:t>fichier exo :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exo27_login_cookie.php</a:t>
            </a:r>
          </a:p>
          <a:p>
            <a:pPr lvl="1"/>
            <a:endParaRPr lang="fr-BE"/>
          </a:p>
        </p:txBody>
      </p:sp>
      <p:pic>
        <p:nvPicPr>
          <p:cNvPr id="281" name="Google Shape;28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480" y="2689492"/>
            <a:ext cx="5916057" cy="739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1480" y="4080689"/>
            <a:ext cx="2392575" cy="1279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525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5.potm" id="{9A679E22-159F-4468-BD25-5554C2F5C34C}" vid="{02412E46-CBBA-45C1-A7EE-8401C077A5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burotix2025</Template>
  <TotalTime>9031</TotalTime>
  <Words>1787</Words>
  <Application>Microsoft Office PowerPoint</Application>
  <PresentationFormat>Grand écran</PresentationFormat>
  <Paragraphs>250</Paragraphs>
  <Slides>40</Slides>
  <Notes>26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40</vt:i4>
      </vt:variant>
      <vt:variant>
        <vt:lpstr>Diaporamas personnalisés</vt:lpstr>
      </vt:variant>
      <vt:variant>
        <vt:i4>1</vt:i4>
      </vt:variant>
    </vt:vector>
  </HeadingPairs>
  <TitlesOfParts>
    <vt:vector size="48" baseType="lpstr">
      <vt:lpstr>Arial</vt:lpstr>
      <vt:lpstr>Calibri</vt:lpstr>
      <vt:lpstr>Consolas</vt:lpstr>
      <vt:lpstr>Courier New</vt:lpstr>
      <vt:lpstr>Garamond</vt:lpstr>
      <vt:lpstr>Wingdings</vt:lpstr>
      <vt:lpstr>burotix</vt:lpstr>
      <vt:lpstr>Bachelier en Informatique de Gestion  Web : principes de base Projet de Développement Web</vt:lpstr>
      <vt:lpstr>Table des matières</vt:lpstr>
      <vt:lpstr>22. Traitement du Formulaire</vt:lpstr>
      <vt:lpstr>Transit des données</vt:lpstr>
      <vt:lpstr>Single Page App. vs Multiple Page App.</vt:lpstr>
      <vt:lpstr>MPA vs SPA, use cases</vt:lpstr>
      <vt:lpstr>Objectifs des formulaires</vt:lpstr>
      <vt:lpstr>Comment faire transiter les données?</vt:lpstr>
      <vt:lpstr>Comment traiter les données?</vt:lpstr>
      <vt:lpstr>Exemple de formulaire</vt:lpstr>
      <vt:lpstr>Balises HTML Form</vt:lpstr>
      <vt:lpstr>La balise &lt;input&gt;</vt:lpstr>
      <vt:lpstr>Autres balises</vt:lpstr>
      <vt:lpstr>Soumettre un formulaire </vt:lpstr>
      <vt:lpstr>Exo 01 : Sample "Atomic" Form</vt:lpstr>
      <vt:lpstr>Exo 03 : Sample "Molecular" Form</vt:lpstr>
      <vt:lpstr>Exo 05 : Catalogue + Form Input</vt:lpstr>
      <vt:lpstr>Super Globales : $_GET et $_POST</vt:lpstr>
      <vt:lpstr>$_GET et $_POST</vt:lpstr>
      <vt:lpstr>$_GET et $_POST</vt:lpstr>
      <vt:lpstr>Exo 06 : lire le form</vt:lpstr>
      <vt:lpstr>Exo 07 : login élémentaire et bibliothèque de fonction</vt:lpstr>
      <vt:lpstr>Exo 11 : Catalogue + Insertion CSV</vt:lpstr>
      <vt:lpstr>Super Globales : $_SESSION</vt:lpstr>
      <vt:lpstr>Définition</vt:lpstr>
      <vt:lpstr>session_start()</vt:lpstr>
      <vt:lpstr>session_unset()</vt:lpstr>
      <vt:lpstr>$_SESSION</vt:lpstr>
      <vt:lpstr>isset($var)</vt:lpstr>
      <vt:lpstr>Exo 21 : log-in, log-out</vt:lpstr>
      <vt:lpstr>Exo 24 : log-in et identification</vt:lpstr>
      <vt:lpstr>Super Globales : $_COOKIE</vt:lpstr>
      <vt:lpstr>Qu'est-ce qu'un cookie?</vt:lpstr>
      <vt:lpstr>Créer des cookies avec PHP</vt:lpstr>
      <vt:lpstr>Créer des cookies avec PHP : exemple</vt:lpstr>
      <vt:lpstr>Lire un cookie</vt:lpstr>
      <vt:lpstr>Modifier un cookie</vt:lpstr>
      <vt:lpstr>Supprimer un cookie</vt:lpstr>
      <vt:lpstr>Architecture des cookies</vt:lpstr>
      <vt:lpstr>Exo 27 : log-in, log-out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Bachelier en Informatique de Gestion  Projet de Développement Web</dc:title>
  <dc:creator>Alain Wafflard</dc:creator>
  <cp:lastModifiedBy>Alain Wafflard</cp:lastModifiedBy>
  <cp:revision>131</cp:revision>
  <dcterms:created xsi:type="dcterms:W3CDTF">2020-03-25T16:55:22Z</dcterms:created>
  <dcterms:modified xsi:type="dcterms:W3CDTF">2025-11-24T16:56:33Z</dcterms:modified>
</cp:coreProperties>
</file>