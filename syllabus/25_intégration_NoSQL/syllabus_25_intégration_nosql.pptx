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5" r:id="rId1"/>
  </p:sldMasterIdLst>
  <p:notesMasterIdLst>
    <p:notesMasterId r:id="rId25"/>
  </p:notesMasterIdLst>
  <p:sldIdLst>
    <p:sldId id="416" r:id="rId2"/>
    <p:sldId id="417" r:id="rId3"/>
    <p:sldId id="279" r:id="rId4"/>
    <p:sldId id="638" r:id="rId5"/>
    <p:sldId id="593" r:id="rId6"/>
    <p:sldId id="594" r:id="rId7"/>
    <p:sldId id="597" r:id="rId8"/>
    <p:sldId id="596" r:id="rId9"/>
    <p:sldId id="598" r:id="rId10"/>
    <p:sldId id="599" r:id="rId11"/>
    <p:sldId id="652" r:id="rId12"/>
    <p:sldId id="644" r:id="rId13"/>
    <p:sldId id="645" r:id="rId14"/>
    <p:sldId id="648" r:id="rId15"/>
    <p:sldId id="649" r:id="rId16"/>
    <p:sldId id="650" r:id="rId17"/>
    <p:sldId id="654" r:id="rId18"/>
    <p:sldId id="658" r:id="rId19"/>
    <p:sldId id="661" r:id="rId20"/>
    <p:sldId id="659" r:id="rId21"/>
    <p:sldId id="660" r:id="rId22"/>
    <p:sldId id="662" r:id="rId23"/>
    <p:sldId id="663" r:id="rId24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5. Intégration NoSQL (API)" id="{3AD74A09-3F82-48D4-ABA8-C0F174C3295E}">
          <p14:sldIdLst>
            <p14:sldId id="416"/>
            <p14:sldId id="417"/>
            <p14:sldId id="279"/>
          </p14:sldIdLst>
        </p14:section>
        <p14:section name="XML : intégration" id="{A5D75BC8-FA97-40CB-852F-94441F9EBB4A}">
          <p14:sldIdLst>
            <p14:sldId id="638"/>
            <p14:sldId id="593"/>
            <p14:sldId id="594"/>
            <p14:sldId id="597"/>
            <p14:sldId id="596"/>
            <p14:sldId id="598"/>
            <p14:sldId id="599"/>
          </p14:sldIdLst>
        </p14:section>
        <p14:section name="JSON : intégration" id="{D93AC38F-B798-4414-A18D-1F37DFD119CC}">
          <p14:sldIdLst>
            <p14:sldId id="652"/>
            <p14:sldId id="644"/>
            <p14:sldId id="645"/>
            <p14:sldId id="648"/>
            <p14:sldId id="649"/>
            <p14:sldId id="650"/>
          </p14:sldIdLst>
        </p14:section>
        <p14:section name="JSON : API" id="{E55719C5-25A7-4AC4-B204-15798335C7BD}">
          <p14:sldIdLst>
            <p14:sldId id="654"/>
            <p14:sldId id="658"/>
            <p14:sldId id="661"/>
            <p14:sldId id="659"/>
            <p14:sldId id="660"/>
            <p14:sldId id="662"/>
            <p14:sldId id="6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94" autoAdjust="0"/>
    <p:restoredTop sz="86419" autoAdjust="0"/>
  </p:normalViewPr>
  <p:slideViewPr>
    <p:cSldViewPr snapToGrid="0">
      <p:cViewPr varScale="1">
        <p:scale>
          <a:sx n="50" d="100"/>
          <a:sy n="50" d="100"/>
        </p:scale>
        <p:origin x="1428" y="2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11b0d2e39_0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11b0d2e39_0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543081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12773-0E16-8ED2-9341-A6B9FF3F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5D5B0D8-0063-7DA8-46AE-66A6C305DB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317A8BC-ADD1-572D-D390-9CA630A14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2B47EC4-24E1-FFBF-CD19-206ED1F6F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829345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819A1-169B-8D8A-C305-C7A78D543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1A20571-4F79-5579-74C8-649A0FC14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F192B63-F7EA-190B-B782-E3891FCF9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761B82-3DF3-D1F2-3953-3F55EED0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23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21327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8621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6675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43269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6430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20387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13409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1256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805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61735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4691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3CE7A64B-7854-B60D-5658-EB671AFDFAAE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0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/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>
                <a:solidFill>
                  <a:schemeClr val="accent2"/>
                </a:solidFill>
              </a:rPr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26. Intégration de données NoSQL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666B1C3-8FC2-4E56-98BC-8252E17FFC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/>
              <a:t>intégration XML</a:t>
            </a:r>
          </a:p>
          <a:p>
            <a:r>
              <a:rPr lang="fr-BE"/>
              <a:t>intégration JSON</a:t>
            </a:r>
          </a:p>
          <a:p>
            <a:r>
              <a:rPr lang="fr-BE"/>
              <a:t>API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1408-420B-77E4-24C9-FC0AD783E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D3BD06-FF1B-DD07-90E3-E0AB97FA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XML : intégration en PHP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60104C-4C9A-8F1B-135B-E43C26758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E9FE46C-E8D3-3BB5-15DA-ABC3A6139B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9666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11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>
            <a:normAutofit/>
          </a:bodyPr>
          <a:lstStyle/>
          <a:p>
            <a:r>
              <a:rPr lang="fr-BE"/>
              <a:t>Données XML fournies sous forme de </a:t>
            </a:r>
            <a:r>
              <a:rPr lang="fr-BE">
                <a:solidFill>
                  <a:schemeClr val="accent2"/>
                </a:solidFill>
              </a:rPr>
              <a:t>string </a:t>
            </a:r>
            <a:r>
              <a:rPr lang="fr-BE" err="1">
                <a:solidFill>
                  <a:schemeClr val="accent2"/>
                </a:solidFill>
              </a:rPr>
              <a:t>php</a:t>
            </a:r>
            <a:r>
              <a:rPr lang="fr-BE">
                <a:solidFill>
                  <a:schemeClr val="accent2"/>
                </a:solidFill>
              </a:rPr>
              <a:t>.</a:t>
            </a:r>
          </a:p>
          <a:p>
            <a:r>
              <a:rPr lang="fr-BE"/>
              <a:t>Fonction PHP </a:t>
            </a:r>
            <a:r>
              <a:rPr lang="fr-BE" sz="2400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simplexml_load_string</a:t>
            </a:r>
            <a:r>
              <a:rPr lang="fr-BE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fr-BE"/>
              <a:t>Exemple</a:t>
            </a:r>
          </a:p>
          <a:p>
            <a:pPr lvl="1"/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exo11.php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DCF8D841-D437-4E20-BE4B-E3D94A26E0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19800" y="2185125"/>
            <a:ext cx="5972549" cy="2896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24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simplexml_load_string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Pour convertir un string XML en un </a:t>
            </a:r>
            <a:r>
              <a:rPr lang="fr-BE">
                <a:solidFill>
                  <a:schemeClr val="accent2"/>
                </a:solidFill>
              </a:rPr>
              <a:t>objet</a:t>
            </a:r>
            <a:r>
              <a:rPr lang="fr-BE"/>
              <a:t> PHP </a:t>
            </a:r>
          </a:p>
          <a:p>
            <a:r>
              <a:rPr lang="fr-BE"/>
              <a:t>Référence </a:t>
            </a:r>
          </a:p>
          <a:p>
            <a:pPr lvl="1"/>
            <a:r>
              <a:rPr lang="fr-BE" sz="2400"/>
              <a:t>https://www.php.net/manual/fr/function.simplexml-load-string.php</a:t>
            </a:r>
          </a:p>
        </p:txBody>
      </p:sp>
    </p:spTree>
    <p:extLst>
      <p:ext uri="{BB962C8B-B14F-4D97-AF65-F5344CB8AC3E}">
        <p14:creationId xmlns:p14="http://schemas.microsoft.com/office/powerpoint/2010/main" val="204809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12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0267" y="1690689"/>
            <a:ext cx="6633619" cy="4486276"/>
          </a:xfrm>
        </p:spPr>
        <p:txBody>
          <a:bodyPr>
            <a:normAutofit/>
          </a:bodyPr>
          <a:lstStyle/>
          <a:p>
            <a:r>
              <a:rPr lang="fr-BE"/>
              <a:t>Données XML : </a:t>
            </a:r>
            <a:r>
              <a:rPr lang="fr-BE">
                <a:solidFill>
                  <a:schemeClr val="accent2"/>
                </a:solidFill>
              </a:rPr>
              <a:t>fichier local</a:t>
            </a:r>
          </a:p>
          <a:p>
            <a:r>
              <a:rPr lang="fr-BE"/>
              <a:t>Fonction PHP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</a:t>
            </a:r>
            <a:r>
              <a:rPr lang="fr-BE" sz="2800" b="1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_load_file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fr-BE"/>
              <a:t>Exemple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library+dtd+xsl.xml 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exo12_local.php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BF90CD9F-A3D9-43C7-B0C2-203A1072DD0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73886" y="965200"/>
            <a:ext cx="5118114" cy="467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282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simplexml_load_file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Pour convertir un fichier XML en objet PHP</a:t>
            </a:r>
          </a:p>
          <a:p>
            <a:r>
              <a:rPr lang="fr-BE"/>
              <a:t>Fichier XML étant </a:t>
            </a:r>
          </a:p>
          <a:p>
            <a:pPr lvl="1"/>
            <a:r>
              <a:rPr lang="fr-BE"/>
              <a:t>Soit </a:t>
            </a:r>
            <a:r>
              <a:rPr lang="fr-BE">
                <a:solidFill>
                  <a:schemeClr val="accent2"/>
                </a:solidFill>
              </a:rPr>
              <a:t>local</a:t>
            </a:r>
            <a:r>
              <a:rPr lang="fr-BE"/>
              <a:t>, en donnant le "</a:t>
            </a:r>
            <a:r>
              <a:rPr lang="fr-BE" err="1"/>
              <a:t>path</a:t>
            </a:r>
            <a:r>
              <a:rPr lang="fr-BE"/>
              <a:t>"</a:t>
            </a:r>
          </a:p>
          <a:p>
            <a:pPr lvl="1"/>
            <a:r>
              <a:rPr lang="fr-BE"/>
              <a:t>Soit </a:t>
            </a:r>
            <a:r>
              <a:rPr lang="fr-BE" err="1">
                <a:solidFill>
                  <a:schemeClr val="accent2"/>
                </a:solidFill>
              </a:rPr>
              <a:t>remote</a:t>
            </a:r>
            <a:r>
              <a:rPr lang="fr-BE"/>
              <a:t>, en donnant l' "URL" !</a:t>
            </a:r>
          </a:p>
          <a:p>
            <a:endParaRPr lang="fr-BE"/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3376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13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410200" cy="4486276"/>
          </a:xfrm>
        </p:spPr>
        <p:txBody>
          <a:bodyPr>
            <a:normAutofit/>
          </a:bodyPr>
          <a:lstStyle/>
          <a:p>
            <a:r>
              <a:rPr lang="fr-BE"/>
              <a:t>Données XML : </a:t>
            </a:r>
            <a:r>
              <a:rPr lang="fr-BE">
                <a:solidFill>
                  <a:schemeClr val="accent2"/>
                </a:solidFill>
              </a:rPr>
              <a:t>localisées sur un serveur </a:t>
            </a:r>
          </a:p>
          <a:p>
            <a:r>
              <a:rPr lang="fr-BE"/>
              <a:t>Fonction PHP </a:t>
            </a: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simplexml_load_file()</a:t>
            </a:r>
          </a:p>
          <a:p>
            <a:r>
              <a:rPr lang="fr-BE"/>
              <a:t>Exemple 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exo13_remote.php</a:t>
            </a:r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91C25690-8E27-492A-BA71-5D26EAFED4F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/>
          <a:srcRect r="38186"/>
          <a:stretch/>
        </p:blipFill>
        <p:spPr>
          <a:xfrm>
            <a:off x="6172199" y="1574800"/>
            <a:ext cx="6019801" cy="4124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581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 lang="fr-BE"/>
              <a:t>Exo 18 : PHP et XML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BE"/>
              <a:t>BONUS : La table de conversion des devises offerte par la BCE</a:t>
            </a:r>
          </a:p>
          <a:p>
            <a:pPr lvl="1"/>
            <a:r>
              <a:rPr lang="fr-BE" sz="3600"/>
              <a:t>http://www.ecb.europa.eu/stats/eurofxref/eurofxref-daily.xml</a:t>
            </a:r>
          </a:p>
          <a:p>
            <a:r>
              <a:rPr lang="fr-BE"/>
              <a:t>Exemple : </a:t>
            </a:r>
          </a:p>
          <a:p>
            <a:pPr marL="457189" lvl="1" indent="0">
              <a:buNone/>
            </a:pPr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exo18_currency.php</a:t>
            </a:r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57239C07-3F0C-4FE2-8B0B-4E7AEC9ECAA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60647" y="1690688"/>
            <a:ext cx="4404706" cy="44862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99458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7313-0C3E-D7A0-7CFF-3EBDFC3F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81AA2A-9DCC-779A-DF79-E1DCB51A6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JSON : intégration en PHP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B781A2-52FB-BFF9-B789-480CC433F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5C5EC6EE-7501-9DCC-93DB-143D2E7FFF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E8A9597-9B74-1C48-791F-894E514F6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" b="37"/>
          <a:stretch>
            <a:fillRect/>
          </a:stretch>
        </p:blipFill>
        <p:spPr bwMode="auto">
          <a:xfrm>
            <a:off x="9002810" y="594931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5611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21 : PHP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>
            <a:normAutofit/>
          </a:bodyPr>
          <a:lstStyle/>
          <a:p>
            <a:r>
              <a:rPr lang="fr-BE"/>
              <a:t>Données JSON fournies sous forme de </a:t>
            </a:r>
            <a:r>
              <a:rPr lang="fr-BE">
                <a:solidFill>
                  <a:schemeClr val="accent2"/>
                </a:solidFill>
              </a:rPr>
              <a:t>string php.</a:t>
            </a:r>
          </a:p>
          <a:p>
            <a:r>
              <a:rPr lang="fr-BE"/>
              <a:t>Fonction PHP </a:t>
            </a:r>
            <a:r>
              <a:rPr lang="fr-BE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json_decode()</a:t>
            </a:r>
          </a:p>
          <a:p>
            <a:r>
              <a:rPr lang="fr-BE"/>
              <a:t>Exemple</a:t>
            </a:r>
          </a:p>
          <a:p>
            <a:pPr lvl="1"/>
            <a:r>
              <a:rPr lang="fr-BE" sz="28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exo21.php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E997ED8-0CA0-4475-9CF9-A91573FBB4E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08954" y="1385888"/>
            <a:ext cx="4951505" cy="4593564"/>
          </a:xfrm>
        </p:spPr>
      </p:pic>
    </p:spTree>
    <p:extLst>
      <p:ext uri="{BB962C8B-B14F-4D97-AF65-F5344CB8AC3E}">
        <p14:creationId xmlns:p14="http://schemas.microsoft.com/office/powerpoint/2010/main" val="638416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json_decode()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Pour convertir un string JSON en un </a:t>
            </a:r>
            <a:r>
              <a:rPr lang="fr-BE" dirty="0">
                <a:solidFill>
                  <a:schemeClr val="accent2"/>
                </a:solidFill>
              </a:rPr>
              <a:t>objet</a:t>
            </a:r>
            <a:r>
              <a:rPr lang="fr-BE" dirty="0"/>
              <a:t> ou un </a:t>
            </a:r>
            <a:r>
              <a:rPr lang="fr-BE" dirty="0" err="1">
                <a:solidFill>
                  <a:schemeClr val="accent2"/>
                </a:solidFill>
              </a:rPr>
              <a:t>assoc</a:t>
            </a:r>
            <a:r>
              <a:rPr lang="fr-BE">
                <a:solidFill>
                  <a:schemeClr val="accent2"/>
                </a:solidFill>
              </a:rPr>
              <a:t> array</a:t>
            </a:r>
            <a:r>
              <a:rPr lang="fr-BE"/>
              <a:t> PHP </a:t>
            </a:r>
          </a:p>
          <a:p>
            <a:pPr marL="0" indent="0" algn="ctr">
              <a:buNone/>
            </a:pPr>
            <a:r>
              <a:rPr lang="fr-BE" sz="3200" b="1">
                <a:solidFill>
                  <a:srgbClr val="A87236"/>
                </a:solidFill>
                <a:latin typeface="Courier New" panose="02070309020205020404" pitchFamily="49" charset="0"/>
              </a:rPr>
              <a:t>$array = json_decode($string, $bool);</a:t>
            </a: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r>
              <a:rPr lang="fr-BE"/>
              <a:t>Params</a:t>
            </a:r>
            <a:endParaRPr lang="fr-BE" dirty="0"/>
          </a:p>
          <a:p>
            <a:pPr lvl="1"/>
            <a:r>
              <a:rPr lang="fr-BE" b="1" dirty="0">
                <a:solidFill>
                  <a:srgbClr val="A87236"/>
                </a:solidFill>
                <a:latin typeface="Courier New" panose="02070309020205020404" pitchFamily="49" charset="0"/>
              </a:rPr>
              <a:t>$string</a:t>
            </a:r>
            <a:r>
              <a:rPr lang="fr-BE" dirty="0"/>
              <a:t> : la chaîne sous format JSON </a:t>
            </a:r>
          </a:p>
          <a:p>
            <a:pPr lvl="1"/>
            <a:r>
              <a:rPr lang="fr-BE" b="1" dirty="0">
                <a:solidFill>
                  <a:srgbClr val="A87236"/>
                </a:solidFill>
                <a:latin typeface="Courier New" panose="02070309020205020404" pitchFamily="49" charset="0"/>
              </a:rPr>
              <a:t>$</a:t>
            </a:r>
            <a:r>
              <a:rPr lang="fr-BE" b="1" dirty="0" err="1">
                <a:solidFill>
                  <a:srgbClr val="A87236"/>
                </a:solidFill>
                <a:latin typeface="Courier New" panose="02070309020205020404" pitchFamily="49" charset="0"/>
              </a:rPr>
              <a:t>bool</a:t>
            </a:r>
            <a:r>
              <a:rPr lang="fr-BE"/>
              <a:t>      :	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false</a:t>
            </a:r>
            <a:r>
              <a:rPr lang="fr-BE"/>
              <a:t> =&gt; return object (default)</a:t>
            </a:r>
            <a:br>
              <a:rPr lang="fr-BE"/>
            </a:br>
            <a:r>
              <a:rPr lang="fr-BE"/>
              <a:t>			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true</a:t>
            </a:r>
            <a:r>
              <a:rPr lang="fr-BE"/>
              <a:t>   =&gt; return assoc array </a:t>
            </a:r>
          </a:p>
          <a:p>
            <a:r>
              <a:rPr lang="fr-BE"/>
              <a:t>Référence </a:t>
            </a:r>
          </a:p>
          <a:p>
            <a:pPr lvl="1"/>
            <a:r>
              <a:rPr lang="fr-BE" sz="2400"/>
              <a:t>https://www.php.net/manual/fr/function.json-decode.php</a:t>
            </a:r>
          </a:p>
        </p:txBody>
      </p:sp>
    </p:spTree>
    <p:extLst>
      <p:ext uri="{BB962C8B-B14F-4D97-AF65-F5344CB8AC3E}">
        <p14:creationId xmlns:p14="http://schemas.microsoft.com/office/powerpoint/2010/main" val="663556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Exo 23 : PHP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Données JSON : </a:t>
            </a:r>
            <a:r>
              <a:rPr lang="fr-BE">
                <a:solidFill>
                  <a:schemeClr val="accent2"/>
                </a:solidFill>
              </a:rPr>
              <a:t>localisées sur un serveur </a:t>
            </a:r>
          </a:p>
          <a:p>
            <a:r>
              <a:rPr lang="fr-BE"/>
              <a:t>Fonctions PHP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file_get_contents()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json_decode()</a:t>
            </a:r>
          </a:p>
          <a:p>
            <a:r>
              <a:rPr lang="fr-BE"/>
              <a:t>Exemple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exo23.php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5EE5DD4-5A9A-4CC8-945B-37488BDE02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013"/>
          <a:stretch/>
        </p:blipFill>
        <p:spPr>
          <a:xfrm>
            <a:off x="6666337" y="2991333"/>
            <a:ext cx="5525663" cy="3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76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683B5E-527F-4FAF-A9A8-B99D82D4E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24 : PHP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F0CB6A-D7FC-46AB-98A2-18F7BFC37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Données JSON : </a:t>
            </a:r>
            <a:r>
              <a:rPr lang="fr-BE">
                <a:solidFill>
                  <a:schemeClr val="accent2"/>
                </a:solidFill>
              </a:rPr>
              <a:t>produites par votre serveur</a:t>
            </a:r>
            <a:r>
              <a:rPr lang="fr-BE"/>
              <a:t> (export)</a:t>
            </a:r>
            <a:endParaRPr lang="fr-BE">
              <a:solidFill>
                <a:schemeClr val="accent2"/>
              </a:solidFill>
            </a:endParaRPr>
          </a:p>
          <a:p>
            <a:r>
              <a:rPr lang="fr-BE"/>
              <a:t>Fonctions PHP : 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json_encode()</a:t>
            </a:r>
          </a:p>
          <a:p>
            <a:r>
              <a:rPr lang="fr-BE"/>
              <a:t>Exemple :  </a:t>
            </a:r>
          </a:p>
          <a:p>
            <a:pPr marL="457189" lvl="1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exo24.php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5EE5DD4-5A9A-4CC8-945B-37488BDE02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0013"/>
          <a:stretch/>
        </p:blipFill>
        <p:spPr>
          <a:xfrm>
            <a:off x="6666337" y="2991333"/>
            <a:ext cx="5525663" cy="3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71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57842F-FE9C-4C5C-B71D-94531D967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json_encode()</a:t>
            </a:r>
            <a:endParaRPr lang="fr-BE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6C7F62-CA92-4433-BA15-518470B25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1">
            <a:normAutofit fontScale="85000" lnSpcReduction="10000"/>
          </a:bodyPr>
          <a:lstStyle/>
          <a:p>
            <a:r>
              <a:rPr lang="fr-BE"/>
              <a:t>Pour convertir un </a:t>
            </a:r>
            <a:r>
              <a:rPr lang="fr-BE">
                <a:solidFill>
                  <a:schemeClr val="accent2"/>
                </a:solidFill>
              </a:rPr>
              <a:t>objet</a:t>
            </a:r>
            <a:r>
              <a:rPr lang="fr-BE"/>
              <a:t> ou un </a:t>
            </a:r>
            <a:r>
              <a:rPr lang="fr-BE">
                <a:solidFill>
                  <a:schemeClr val="accent2"/>
                </a:solidFill>
              </a:rPr>
              <a:t>assoc array</a:t>
            </a:r>
            <a:r>
              <a:rPr lang="fr-BE"/>
              <a:t> PHP en un string JSON</a:t>
            </a:r>
          </a:p>
          <a:p>
            <a:pPr marL="0" indent="0" algn="ctr">
              <a:buNone/>
            </a:pPr>
            <a:r>
              <a:rPr lang="fr-BE" sz="3000" b="1">
                <a:solidFill>
                  <a:srgbClr val="A87236"/>
                </a:solidFill>
                <a:latin typeface="Courier New" panose="02070309020205020404" pitchFamily="49" charset="0"/>
              </a:rPr>
              <a:t>$json_str = json_encode( $array, $flags );</a:t>
            </a:r>
          </a:p>
          <a:p>
            <a:r>
              <a:rPr lang="fr-BE"/>
              <a:t>Params</a:t>
            </a:r>
          </a:p>
          <a:p>
            <a:pPr lvl="1"/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$</a:t>
            </a:r>
            <a:r>
              <a:rPr lang="fr-BE" sz="3200" b="1">
                <a:solidFill>
                  <a:srgbClr val="A87236"/>
                </a:solidFill>
                <a:latin typeface="Courier New" panose="02070309020205020404" pitchFamily="49" charset="0"/>
              </a:rPr>
              <a:t>array</a:t>
            </a:r>
            <a:r>
              <a:rPr lang="fr-BE"/>
              <a:t> : les données sous format object ou assoc array ou …</a:t>
            </a:r>
          </a:p>
          <a:p>
            <a:pPr lvl="1"/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$</a:t>
            </a:r>
            <a:r>
              <a:rPr lang="fr-BE" sz="3200" b="1">
                <a:solidFill>
                  <a:srgbClr val="A87236"/>
                </a:solidFill>
                <a:latin typeface="Courier New" panose="02070309020205020404" pitchFamily="49" charset="0"/>
              </a:rPr>
              <a:t>flags</a:t>
            </a:r>
            <a:r>
              <a:rPr lang="fr-BE"/>
              <a:t> : </a:t>
            </a:r>
          </a:p>
          <a:p>
            <a:pPr marL="914377" lvl="2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JSON_HEX_TAG</a:t>
            </a:r>
          </a:p>
          <a:p>
            <a:pPr marL="914377" lvl="2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JSON_PRETTY_PRINT</a:t>
            </a:r>
          </a:p>
          <a:p>
            <a:pPr marL="914377" lvl="2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JSON_FORCE_OBJECT</a:t>
            </a:r>
            <a:r>
              <a:rPr lang="fr-BE"/>
              <a:t> etc.</a:t>
            </a:r>
          </a:p>
          <a:p>
            <a:r>
              <a:rPr lang="fr-BE"/>
              <a:t>Référence </a:t>
            </a:r>
          </a:p>
          <a:p>
            <a:pPr lvl="1"/>
            <a:r>
              <a:rPr lang="fr-BE" sz="2400"/>
              <a:t>https://www.php.net/manual/fr/function.json-encode.php</a:t>
            </a:r>
          </a:p>
          <a:p>
            <a:pPr lvl="1"/>
            <a:r>
              <a:rPr lang="fr-BE" sz="2400"/>
              <a:t>https://www.php.net/manual/fr/json.constants.php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7AD5A3B-DAE2-4AED-80BB-7D7CAB7463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696" b="10423"/>
          <a:stretch/>
        </p:blipFill>
        <p:spPr>
          <a:xfrm>
            <a:off x="7669161" y="3760379"/>
            <a:ext cx="4522839" cy="313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807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61703-2300-702C-2E06-D01B548F2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5344A4-B9D3-65A1-45B9-E790F55D8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(REST)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0FF96B3-3196-B85E-D3EA-8A8B6D27C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8C94FCA-6B43-71AB-9C29-6632D306F6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92087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AB8BAAA0-DFBF-45A2-7D54-50E3F54B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: Principe 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ACD84B2-D47A-047C-6F54-1EAFA84CC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Application Programming Interface</a:t>
            </a:r>
          </a:p>
          <a:p>
            <a:r>
              <a:rPr lang="fr-BE"/>
              <a:t>Ensemble de définitions et de protocoles qui permettent à un logiciel de communiquer avec un autre logiciel</a:t>
            </a:r>
          </a:p>
          <a:p>
            <a:r>
              <a:rPr lang="fr-BE"/>
              <a:t>Architecture client-serveur</a:t>
            </a:r>
          </a:p>
          <a:p>
            <a:r>
              <a:rPr lang="fr-BE"/>
              <a:t>Scénario</a:t>
            </a:r>
          </a:p>
          <a:p>
            <a:pPr lvl="1"/>
            <a:r>
              <a:rPr lang="fr-BE"/>
              <a:t>L'application cliente envoie une demande à l'application serveur via une API. </a:t>
            </a:r>
          </a:p>
          <a:p>
            <a:pPr lvl="1"/>
            <a:r>
              <a:rPr lang="fr-BE"/>
              <a:t>L'application serveur répond ensuite à la demande de l'application cliente en renvoyant les données demandées. </a:t>
            </a:r>
          </a:p>
          <a:p>
            <a:pPr lvl="1"/>
            <a:r>
              <a:rPr lang="fr-BE"/>
              <a:t>format des données : JSON, XML, ou CSV.</a:t>
            </a:r>
          </a:p>
        </p:txBody>
      </p:sp>
    </p:spTree>
    <p:extLst>
      <p:ext uri="{BB962C8B-B14F-4D97-AF65-F5344CB8AC3E}">
        <p14:creationId xmlns:p14="http://schemas.microsoft.com/office/powerpoint/2010/main" val="2483399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BE1F94-3FA2-819C-095D-513BA6F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: Applications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843A32-439D-3DC8-E2A5-12855858E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récupération de données</a:t>
            </a:r>
          </a:p>
          <a:p>
            <a:r>
              <a:rPr lang="fr-BE"/>
              <a:t>envoi de données</a:t>
            </a:r>
          </a:p>
          <a:p>
            <a:r>
              <a:rPr lang="fr-BE"/>
              <a:t>automatisation de tâches</a:t>
            </a:r>
          </a:p>
          <a:p>
            <a:r>
              <a:rPr lang="fr-BE"/>
              <a:t>ajouter des fonctionnalités à une application</a:t>
            </a:r>
          </a:p>
          <a:p>
            <a:r>
              <a:rPr lang="fr-BE"/>
              <a:t>améliorer l'expérience utilisateur</a:t>
            </a:r>
          </a:p>
          <a:p>
            <a:pPr lvl="1"/>
            <a:r>
              <a:rPr lang="fr-BE"/>
              <a:t>Par exemple, une application de planification de voyage peut utiliser l'API Google Maps pour afficher une carte et les directions vers une destination.</a:t>
            </a:r>
          </a:p>
        </p:txBody>
      </p:sp>
    </p:spTree>
    <p:extLst>
      <p:ext uri="{BB962C8B-B14F-4D97-AF65-F5344CB8AC3E}">
        <p14:creationId xmlns:p14="http://schemas.microsoft.com/office/powerpoint/2010/main" val="2923473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AAE69-F023-A16C-AC8E-05B05F086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API : Types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99EF4B-A4B1-3798-F25C-E824AB25C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 spcCol="180000"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API REST</a:t>
            </a:r>
          </a:p>
          <a:p>
            <a:pPr lvl="1"/>
            <a:r>
              <a:rPr lang="fr-BE"/>
              <a:t>protocoles HTTP, HTTPS</a:t>
            </a:r>
          </a:p>
          <a:p>
            <a:pPr lvl="1"/>
            <a:r>
              <a:rPr lang="fr-BE"/>
              <a:t>méthodes GET, POST</a:t>
            </a:r>
          </a:p>
          <a:p>
            <a:r>
              <a:rPr lang="fr-BE"/>
              <a:t>API SOAP</a:t>
            </a:r>
          </a:p>
          <a:p>
            <a:pPr lvl="1"/>
            <a:r>
              <a:rPr lang="fr-BE"/>
              <a:t>via XML</a:t>
            </a:r>
          </a:p>
          <a:p>
            <a:pPr lvl="1"/>
            <a:r>
              <a:rPr lang="fr-BE"/>
              <a:t>plus rigide et plus formel que REST </a:t>
            </a:r>
          </a:p>
          <a:p>
            <a:r>
              <a:rPr lang="fr-BE"/>
              <a:t>API de bibliothèque</a:t>
            </a:r>
          </a:p>
          <a:p>
            <a:pPr lvl="1"/>
            <a:r>
              <a:rPr lang="fr-BE"/>
              <a:t>API internes permettant à un logiciel de communiquer avec les bibliothèques système.</a:t>
            </a:r>
          </a:p>
          <a:p>
            <a:r>
              <a:rPr lang="fr-BE"/>
              <a:t>API modernes:</a:t>
            </a:r>
          </a:p>
          <a:p>
            <a:pPr lvl="1"/>
            <a:r>
              <a:rPr lang="fr-BE"/>
              <a:t>GraphQL (Facebook)</a:t>
            </a:r>
          </a:p>
          <a:p>
            <a:pPr lvl="1"/>
            <a:r>
              <a:rPr lang="fr-BE"/>
              <a:t>gRPC (Google)</a:t>
            </a:r>
          </a:p>
          <a:p>
            <a:pPr lvl="1"/>
            <a:r>
              <a:rPr lang="fr-BE"/>
              <a:t>Websockets</a:t>
            </a:r>
          </a:p>
          <a:p>
            <a:pPr lvl="1"/>
            <a:r>
              <a:rPr lang="fr-BE"/>
              <a:t>Webhooks</a:t>
            </a:r>
          </a:p>
        </p:txBody>
      </p:sp>
    </p:spTree>
    <p:extLst>
      <p:ext uri="{BB962C8B-B14F-4D97-AF65-F5344CB8AC3E}">
        <p14:creationId xmlns:p14="http://schemas.microsoft.com/office/powerpoint/2010/main" val="3677785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61CA42-4BBA-9144-870C-D6AB15BE8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33 : log-in, log-out avec API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615DAA-9256-879B-05B5-96C11DDDE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1186652" cy="4486276"/>
          </a:xfrm>
        </p:spPr>
        <p:txBody>
          <a:bodyPr numCol="2" spcCol="180000">
            <a:normAutofit/>
          </a:bodyPr>
          <a:lstStyle/>
          <a:p>
            <a:r>
              <a:rPr lang="fr-BE"/>
              <a:t>Corollaire à chap. 22, exo 24.</a:t>
            </a:r>
          </a:p>
          <a:p>
            <a:pPr lvl="1"/>
            <a:r>
              <a:rPr lang="fr-BE"/>
              <a:t>mécanisme de log-in</a:t>
            </a:r>
          </a:p>
          <a:p>
            <a:pPr lvl="1"/>
            <a:r>
              <a:rPr lang="fr-BE"/>
              <a:t>nom et mot de passe</a:t>
            </a:r>
          </a:p>
          <a:p>
            <a:pPr lvl="1"/>
            <a:r>
              <a:rPr lang="fr-BE"/>
              <a:t>identification permanente :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$_SESSION</a:t>
            </a:r>
          </a:p>
          <a:p>
            <a:r>
              <a:rPr lang="fr-BE"/>
              <a:t>Mais </a:t>
            </a:r>
          </a:p>
          <a:p>
            <a:pPr lvl="1"/>
            <a:r>
              <a:rPr lang="fr-BE"/>
              <a:t>Validation sur un serveur extérieur</a:t>
            </a:r>
          </a:p>
          <a:p>
            <a:r>
              <a:rPr lang="fr-BE"/>
              <a:t>Envoi des données</a:t>
            </a:r>
          </a:p>
          <a:p>
            <a:pPr lvl="1"/>
            <a:r>
              <a:rPr lang="fr-BE"/>
              <a:t>GET : simple</a:t>
            </a:r>
          </a:p>
          <a:p>
            <a:pPr lvl="1"/>
            <a:r>
              <a:rPr lang="fr-BE"/>
              <a:t>POST : sécurisé</a:t>
            </a:r>
          </a:p>
          <a:p>
            <a:r>
              <a:rPr lang="fr-BE"/>
              <a:t>Retour : format JSON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{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"identified": true,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"name": "Luke Skywalker",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"role": "user"</a:t>
            </a:r>
          </a:p>
          <a:p>
            <a:pPr marL="457189" lvl="1" indent="0">
              <a:buNone/>
            </a:pPr>
            <a:r>
              <a:rPr lang="en-US" sz="24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4058950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ABA0-D1F2-46AC-FF70-344606AAB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995020-009C-EE96-650C-E420BCD70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Exo 33 : log-in, log-out avec API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AEE1D2-3EF7-2C2F-4040-00F5D692B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 numCol="1" spcCol="180000">
            <a:normAutofit/>
          </a:bodyPr>
          <a:lstStyle/>
          <a:p>
            <a:r>
              <a:rPr lang="fr-BE"/>
              <a:t>Envoi des données GET 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validate_get()</a:t>
            </a:r>
          </a:p>
          <a:p>
            <a:pPr lvl="1"/>
            <a:r>
              <a:rPr lang="fr-BE"/>
              <a:t>construire un URL tel que </a:t>
            </a:r>
            <a:br>
              <a:rPr lang="fr-BE"/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http://….php?login=user&amp;passwd=user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/>
              <a:t>avec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http_build_query()</a:t>
            </a:r>
          </a:p>
          <a:p>
            <a:pPr lvl="1"/>
            <a:r>
              <a:rPr lang="fr-BE"/>
              <a:t>appeler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file_get_contents($uri)</a:t>
            </a:r>
          </a:p>
          <a:p>
            <a:pPr lvl="1"/>
            <a:r>
              <a:rPr lang="fr-BE"/>
              <a:t>traiter le retour</a:t>
            </a:r>
          </a:p>
        </p:txBody>
      </p:sp>
    </p:spTree>
    <p:extLst>
      <p:ext uri="{BB962C8B-B14F-4D97-AF65-F5344CB8AC3E}">
        <p14:creationId xmlns:p14="http://schemas.microsoft.com/office/powerpoint/2010/main" val="36506561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98FFF-1C03-9752-D476-01B008C48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6CEEA9-E54E-19BE-AB3F-33C7BA300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BE"/>
              <a:t>Exo 33 : log-in, log-out avec API et JSON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05E6DB-763C-4148-8F8E-43B7E3DE3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 numCol="1" spcCol="180000">
            <a:normAutofit lnSpcReduction="10000"/>
          </a:bodyPr>
          <a:lstStyle/>
          <a:p>
            <a:r>
              <a:rPr lang="fr-BE"/>
              <a:t>Envoi des données POST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validate_post()</a:t>
            </a:r>
            <a:endParaRPr lang="fr-BE"/>
          </a:p>
          <a:p>
            <a:pPr lvl="1"/>
            <a:r>
              <a:rPr lang="fr-BE"/>
              <a:t>URL tel que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https://….php</a:t>
            </a:r>
            <a:r>
              <a:rPr lang="fr-BE"/>
              <a:t> (sans param)</a:t>
            </a:r>
          </a:p>
          <a:p>
            <a:pPr lvl="1"/>
            <a:r>
              <a:rPr lang="fr-BE"/>
              <a:t>URL param : idem GET </a:t>
            </a:r>
          </a:p>
          <a:p>
            <a:pPr lvl="1"/>
            <a:r>
              <a:rPr lang="fr-BE"/>
              <a:t>créer un "contexte" tel que 	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	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</a:t>
            </a: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"http" =&gt; [</a:t>
            </a:r>
            <a:b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       "method"  =&gt; "POST",</a:t>
            </a:r>
            <a:b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       "header"  =&gt; "Content-Type: …" .</a:t>
            </a:r>
            <a:b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       "content" =&gt; $uri_param_s,</a:t>
            </a:r>
            <a:b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996633"/>
                </a:solidFill>
                <a:latin typeface="Consolas" panose="020B0609020204030204" pitchFamily="49" charset="0"/>
              </a:rPr>
              <a:t>   ]</a:t>
            </a:r>
          </a:p>
          <a:p>
            <a:pPr lvl="1"/>
            <a:r>
              <a:rPr lang="fr-BE"/>
              <a:t>appeler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file_get_contents($uri, false, $context)</a:t>
            </a:r>
          </a:p>
          <a:p>
            <a:pPr lvl="1"/>
            <a:r>
              <a:rPr lang="fr-BE"/>
              <a:t>traiter le retour</a:t>
            </a:r>
          </a:p>
          <a:p>
            <a:pPr lvl="1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415174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1_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burotix2020</Template>
  <TotalTime>13098</TotalTime>
  <Words>1018</Words>
  <Application>Microsoft Office PowerPoint</Application>
  <PresentationFormat>Grand écran</PresentationFormat>
  <Paragraphs>164</Paragraphs>
  <Slides>23</Slides>
  <Notes>6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  <vt:variant>
        <vt:lpstr>Diaporamas personnalisés</vt:lpstr>
      </vt:variant>
      <vt:variant>
        <vt:i4>1</vt:i4>
      </vt:variant>
    </vt:vector>
  </HeadingPairs>
  <TitlesOfParts>
    <vt:vector size="31" baseType="lpstr">
      <vt:lpstr>Arial</vt:lpstr>
      <vt:lpstr>Calibri</vt:lpstr>
      <vt:lpstr>Consolas</vt:lpstr>
      <vt:lpstr>Courier New</vt:lpstr>
      <vt:lpstr>Garamond</vt:lpstr>
      <vt:lpstr>Wingdings</vt:lpstr>
      <vt:lpstr>1_burotix</vt:lpstr>
      <vt:lpstr>Bachelier en Informatique de Gestion  Web : principes de base Projet de Développement Web</vt:lpstr>
      <vt:lpstr>Table des matières</vt:lpstr>
      <vt:lpstr>26. Intégration de données NoSQL</vt:lpstr>
      <vt:lpstr>XML : intégration en PHP</vt:lpstr>
      <vt:lpstr>Exo 11 : PHP et XML</vt:lpstr>
      <vt:lpstr>simplexml_load_string()</vt:lpstr>
      <vt:lpstr>Exo 12 : PHP et XML</vt:lpstr>
      <vt:lpstr>simplexml_load_file()</vt:lpstr>
      <vt:lpstr>Exo 13 : PHP et XML</vt:lpstr>
      <vt:lpstr>Exo 18 : PHP et XML</vt:lpstr>
      <vt:lpstr>JSON : intégration en PHP</vt:lpstr>
      <vt:lpstr>Exo 21 : PHP et JSON</vt:lpstr>
      <vt:lpstr>json_decode()</vt:lpstr>
      <vt:lpstr>Exo 23 : PHP et JSON</vt:lpstr>
      <vt:lpstr>Exo 24 : PHP et JSON</vt:lpstr>
      <vt:lpstr>json_encode()</vt:lpstr>
      <vt:lpstr>API (REST)</vt:lpstr>
      <vt:lpstr>API : Principe </vt:lpstr>
      <vt:lpstr>API : Applications</vt:lpstr>
      <vt:lpstr>API : Types</vt:lpstr>
      <vt:lpstr>Exo 33 : log-in, log-out avec API et JSON</vt:lpstr>
      <vt:lpstr>Exo 33 : log-in, log-out avec API et JSON</vt:lpstr>
      <vt:lpstr>Exo 33 : log-in, log-out avec API et JSON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Alain Wafflard</dc:creator>
  <cp:lastModifiedBy>Alain Wafflard</cp:lastModifiedBy>
  <cp:revision>152</cp:revision>
  <dcterms:created xsi:type="dcterms:W3CDTF">2020-03-25T16:55:22Z</dcterms:created>
  <dcterms:modified xsi:type="dcterms:W3CDTF">2026-02-24T12:12:17Z</dcterms:modified>
</cp:coreProperties>
</file>